
<file path=[Content_Types].xml><?xml version="1.0" encoding="utf-8"?>
<Types xmlns="http://schemas.openxmlformats.org/package/2006/content-types">
  <Default Extension="fntdata" ContentType="application/x-fontdata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12192000" cy="6858000"/>
  <p:notesSz cx="6858000" cy="12192000"/>
  <p:embeddedFontLst>
    <p:embeddedFont>
      <p:font typeface="Pretendard" panose="02000503000000020004" pitchFamily="34" charset="0"/>
      <p:regular r:id="rIdFont1"/>
      <p:bold r:id="rIdFont2"/>
    </p:embeddedFont>
    <p:embeddedFont>
      <p:font typeface="Pretendard SemiBold" panose="02000703000000020004" pitchFamily="34" charset="0"/>
      <p:regular r:id="rIdFont3"/>
    </p:embeddedFont>
  </p:embeddedFontLst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Relationship Id="rIdFont1" Type="http://schemas.openxmlformats.org/officeDocument/2006/relationships/font" Target="fonts/font1.fntdata"/><Relationship Id="rIdFont2" Type="http://schemas.openxmlformats.org/officeDocument/2006/relationships/font" Target="fonts/font2.fntdata"/><Relationship Id="rIdFont3" Type="http://schemas.openxmlformats.org/officeDocument/2006/relationships/font" Target="fonts/font3.fntdata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표지. 제목은 두 줄까지. 우측 점 필드는 마스터 고정(노이즈 → 형태).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2-1.png"/><Relationship Id="rId2" Type="http://schemas.openxmlformats.org/officeDocument/2006/relationships/image" Target="../media/image-1002-2.png"/><Relationship Id="rId3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3-1.png"/><Relationship Id="rId2" Type="http://schemas.openxmlformats.org/officeDocument/2006/relationships/image" Target="../media/image-1003-2.png"/><Relationship Id="rId3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4-1.png"/><Relationship Id="rId2" Type="http://schemas.openxmlformats.org/officeDocument/2006/relationships/image" Target="../media/image-1004-2.png"/><Relationship Id="rId3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5-1.png"/><Relationship Id="rId2" Type="http://schemas.openxmlformats.org/officeDocument/2006/relationships/image" Target="../media/image-1005-2.png"/><Relationship Id="rId3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6-1.png"/><Relationship Id="rId2" Type="http://schemas.openxmlformats.org/officeDocument/2006/relationships/image" Target="../media/image-1006-1.png"/><Relationship Id="rId3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7-1.png"/><Relationship Id="rId2" Type="http://schemas.openxmlformats.org/officeDocument/2006/relationships/image" Target="../media/image-1007-2.png"/><Relationship Id="rId3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8-1.png"/><Relationship Id="rId2" Type="http://schemas.openxmlformats.org/officeDocument/2006/relationships/image" Target="../media/image-1008-2.png"/><Relationship Id="rId3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9-1.png"/><Relationship Id="rId2" Type="http://schemas.openxmlformats.org/officeDocument/2006/relationships/image" Target="../media/image-1009-2.png"/><Relationship Id="rId3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10-1.png"/><Relationship Id="rId2" Type="http://schemas.openxmlformats.org/officeDocument/2006/relationships/image" Target="../media/image-1010-2.png"/><Relationship Id="rId3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11-1.png"/><Relationship Id="rId2" Type="http://schemas.openxmlformats.org/officeDocument/2006/relationships/image" Target="../media/image-1011-2.png"/><Relationship Id="rId3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12-1.png"/><Relationship Id="rId2" Type="http://schemas.openxmlformats.org/officeDocument/2006/relationships/image" Target="../media/image-1012-2.png"/><Relationship Id="rId3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VER">
    <p:bg>
      <p:bgPr>
        <a:solidFill>
          <a:srgbClr val="11111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runner/work/sglab-brand/sglab-brand/dist/png/cover-field-d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794500" y="952500"/>
            <a:ext cx="5588000" cy="5588000"/>
          </a:xfrm>
          <a:prstGeom prst="rect">
            <a:avLst/>
          </a:prstGeom>
        </p:spPr>
      </p:pic>
      <p:pic>
        <p:nvPicPr>
          <p:cNvPr id="3" name="Image 1" descr="/home/runner/work/sglab-brand/sglab-brand/dist/png/sgl-mark-dark-512@2x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2000" y="609600"/>
            <a:ext cx="457200" cy="457200"/>
          </a:xfrm>
          <a:prstGeom prst="rect">
            <a:avLst/>
          </a:prstGeom>
        </p:spPr>
      </p:pic>
      <p:sp>
        <p:nvSpPr>
          <p:cNvPr id="4" name="Text 0"/>
          <p:cNvSpPr txBox="1"/>
          <p:nvPr/>
        </p:nvSpPr>
        <p:spPr>
          <a:xfrm>
            <a:off x="1358900" y="736600"/>
            <a:ext cx="44450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ko-KR" altLang="en-US" sz="1200" spc="120" kern="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SMART GENERATION LAB</a:t>
            </a:r>
            <a:endParaRPr lang="ko-KR" sz="1200" dirty="0"/>
          </a:p>
        </p:txBody>
      </p:sp>
      <p:sp>
        <p:nvSpPr>
          <p:cNvPr id="5" name="Text 1"/>
          <p:cNvSpPr/>
          <p:nvPr>
            <p:ph idx="103" type="body" hasCustomPrompt="1"/>
          </p:nvPr>
        </p:nvSpPr>
        <p:spPr>
          <a:xfrm>
            <a:off x="7975600" y="736600"/>
            <a:ext cx="3454400" cy="2032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r" indent="0" marL="0">
              <a:buNone/>
              <a:defRPr lang="ko-KR" altLang="en-US" sz="1200" spc="72" kern="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r" indent="0" marL="0">
              <a:buNone/>
            </a:pPr>
            <a:r>
              <a:rPr lang="ko-KR" altLang="en-US" sz="1200" spc="72" kern="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2026 · 09</a:t>
            </a:r>
            <a:endParaRPr lang="ko-KR" sz="1200" dirty="0"/>
          </a:p>
        </p:txBody>
      </p:sp>
      <p:sp>
        <p:nvSpPr>
          <p:cNvPr id="6" name="Shape 1"/>
          <p:cNvSpPr/>
          <p:nvPr/>
        </p:nvSpPr>
        <p:spPr>
          <a:xfrm>
            <a:off x="762000" y="1295400"/>
            <a:ext cx="10668000" cy="0"/>
          </a:xfrm>
          <a:prstGeom prst="line">
            <a:avLst/>
          </a:prstGeom>
          <a:noFill/>
          <a:ln w="9525">
            <a:solidFill>
              <a:srgbClr val="2E2E33"/>
            </a:solidFill>
            <a:prstDash val="solid"/>
          </a:ln>
        </p:spPr>
      </p:sp>
      <p:sp>
        <p:nvSpPr>
          <p:cNvPr id="7" name="Text 2"/>
          <p:cNvSpPr/>
          <p:nvPr>
            <p:ph idx="105" type="body" hasCustomPrompt="1"/>
          </p:nvPr>
        </p:nvSpPr>
        <p:spPr>
          <a:xfrm>
            <a:off x="762000" y="2950210"/>
            <a:ext cx="3810000" cy="20955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ko-KR" altLang="en-US" sz="1100" spc="110" kern="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buNone/>
            </a:pPr>
            <a:r>
              <a:rPr lang="ko-KR" altLang="en-US" sz="1100" spc="110" kern="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00  TITLE</a:t>
            </a:r>
            <a:endParaRPr lang="ko-KR" sz="1100" dirty="0"/>
          </a:p>
        </p:txBody>
      </p:sp>
      <p:sp>
        <p:nvSpPr>
          <p:cNvPr id="8" name="Text 2"/>
          <p:cNvSpPr/>
          <p:nvPr>
            <p:ph idx="106" type="title" hasCustomPrompt="1"/>
          </p:nvPr>
        </p:nvSpPr>
        <p:spPr>
          <a:xfrm>
            <a:off x="762000" y="3439160"/>
            <a:ext cx="6858000" cy="12852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10000"/>
              </a:lnSpc>
              <a:buNone/>
              <a:defRPr lang="ko-KR" altLang="en-US" sz="4600" spc="-161" kern="0" dirty="0">
                <a:solidFill>
                  <a:srgbClr val="F4F3F0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defRPr>
            </a:lvl1pPr>
          </a:lstStyle>
          <a:p>
            <a:pPr algn="l" indent="0" marL="0">
              <a:lnSpc>
                <a:spcPct val="110000"/>
              </a:lnSpc>
              <a:buNone/>
            </a:pPr>
            <a:r>
              <a:rPr lang="ko-KR" altLang="en-US" sz="4600" spc="-161" kern="0" dirty="0">
                <a:solidFill>
                  <a:srgbClr val="F4F3F0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발표 제목 자리:</a:t>
            </a:r>
            <a:endParaRPr lang="ko-KR" sz="4600" dirty="0"/>
          </a:p>
          <a:p>
            <a:pPr algn="l" indent="0" marL="0">
              <a:lnSpc>
                <a:spcPct val="110000"/>
              </a:lnSpc>
              <a:buNone/>
            </a:pPr>
            <a:r>
              <a:rPr lang="ko-KR" altLang="en-US" sz="4600" spc="-161" kern="0" dirty="0">
                <a:solidFill>
                  <a:srgbClr val="F4F3F0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보는 것에서 만드는 것으로</a:t>
            </a:r>
            <a:endParaRPr lang="ko-KR" sz="4600" dirty="0"/>
          </a:p>
        </p:txBody>
      </p:sp>
      <p:sp>
        <p:nvSpPr>
          <p:cNvPr id="9" name="Text 2"/>
          <p:cNvSpPr/>
          <p:nvPr>
            <p:ph idx="107" type="body" hasCustomPrompt="1"/>
          </p:nvPr>
        </p:nvSpPr>
        <p:spPr>
          <a:xfrm>
            <a:off x="762000" y="5003800"/>
            <a:ext cx="6858000" cy="304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50000"/>
              </a:lnSpc>
              <a:buNone/>
              <a:defRPr lang="ko-KR" altLang="en-US" sz="16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50000"/>
              </a:lnSpc>
              <a:buNone/>
            </a:pPr>
            <a:r>
              <a:rPr lang="ko-KR" altLang="en-US" sz="16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부제 또는 발표 맥락 한 줄 — 산학 미팅, 학생 세미나, 학회 발표</a:t>
            </a:r>
            <a:endParaRPr lang="ko-KR" sz="1600" dirty="0"/>
          </a:p>
        </p:txBody>
      </p:sp>
      <p:sp>
        <p:nvSpPr>
          <p:cNvPr id="10" name="Shape 2"/>
          <p:cNvSpPr/>
          <p:nvPr/>
        </p:nvSpPr>
        <p:spPr>
          <a:xfrm>
            <a:off x="762000" y="5638800"/>
            <a:ext cx="6858000" cy="0"/>
          </a:xfrm>
          <a:prstGeom prst="line">
            <a:avLst/>
          </a:prstGeom>
          <a:noFill/>
          <a:ln w="9525">
            <a:solidFill>
              <a:srgbClr val="2E2E33"/>
            </a:solidFill>
            <a:prstDash val="solid"/>
          </a:ln>
        </p:spPr>
      </p:sp>
      <p:sp>
        <p:nvSpPr>
          <p:cNvPr id="11" name="Text 3"/>
          <p:cNvSpPr/>
          <p:nvPr>
            <p:ph idx="109" type="body" hasCustomPrompt="1"/>
          </p:nvPr>
        </p:nvSpPr>
        <p:spPr>
          <a:xfrm>
            <a:off x="762000" y="5867400"/>
            <a:ext cx="6858000" cy="2286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40000"/>
              </a:lnSpc>
              <a:buNone/>
              <a:defRPr lang="ko-KR" altLang="en-US" sz="1300" dirty="0">
                <a:solidFill>
                  <a:srgbClr val="F4F3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40000"/>
              </a:lnSpc>
              <a:buNone/>
            </a:pPr>
            <a:r>
              <a:rPr lang="ko-KR" altLang="en-US" sz="1300" dirty="0">
                <a:solidFill>
                  <a:srgbClr val="F4F3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발표자 이름   동서대학교 컴퓨터공학부(소프트웨어전공)</a:t>
            </a:r>
            <a:endParaRPr lang="ko-KR" sz="13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BODY">
    <p:bg>
      <p:bgPr>
        <a:solidFill>
          <a:srgbClr val="11111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runner/work/sglab-brand/sglab-brand/dist/png/sgl-mark-dark-512@2x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2000" y="355600"/>
            <a:ext cx="254000" cy="254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1130300" y="393700"/>
            <a:ext cx="3810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ko-KR" altLang="en-US" sz="1000" spc="100" kern="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SMART GENERATION LAB</a:t>
            </a:r>
            <a:endParaRPr lang="ko-KR" sz="1000" dirty="0"/>
          </a:p>
        </p:txBody>
      </p:sp>
      <p:sp>
        <p:nvSpPr>
          <p:cNvPr id="4" name="Text 1"/>
          <p:cNvSpPr/>
          <p:nvPr>
            <p:ph idx="102" type="body" hasCustomPrompt="1"/>
          </p:nvPr>
        </p:nvSpPr>
        <p:spPr>
          <a:xfrm>
            <a:off x="7975600" y="393700"/>
            <a:ext cx="3454400" cy="177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r" indent="0" marL="0">
              <a:buNone/>
              <a:defRPr lang="ko-KR" altLang="en-US" sz="1000" spc="100" kern="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r" indent="0" marL="0">
              <a:buNone/>
            </a:pPr>
            <a:r>
              <a:rPr lang="ko-KR" altLang="en-US" sz="1000" spc="100" kern="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  RESEARCH</a:t>
            </a:r>
            <a:endParaRPr lang="ko-KR" sz="1000" dirty="0"/>
          </a:p>
        </p:txBody>
      </p:sp>
      <p:sp>
        <p:nvSpPr>
          <p:cNvPr id="5" name="Shape 1"/>
          <p:cNvSpPr/>
          <p:nvPr/>
        </p:nvSpPr>
        <p:spPr>
          <a:xfrm>
            <a:off x="762000" y="787400"/>
            <a:ext cx="10668000" cy="0"/>
          </a:xfrm>
          <a:prstGeom prst="line">
            <a:avLst/>
          </a:prstGeom>
          <a:noFill/>
          <a:ln w="9525">
            <a:solidFill>
              <a:srgbClr val="2E2E33"/>
            </a:solidFill>
            <a:prstDash val="solid"/>
          </a:ln>
        </p:spPr>
      </p:sp>
      <p:sp>
        <p:nvSpPr>
          <p:cNvPr id="6" name="Text 2"/>
          <p:cNvSpPr/>
          <p:nvPr>
            <p:ph idx="104" type="title" hasCustomPrompt="1"/>
          </p:nvPr>
        </p:nvSpPr>
        <p:spPr>
          <a:xfrm>
            <a:off x="762000" y="1193800"/>
            <a:ext cx="7061200" cy="43815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15000"/>
              </a:lnSpc>
              <a:buNone/>
              <a:defRPr lang="ko-KR" altLang="en-US" sz="3000" spc="-90" kern="0" dirty="0">
                <a:solidFill>
                  <a:srgbClr val="F4F3F0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defRPr>
            </a:lvl1pPr>
          </a:lstStyle>
          <a:p>
            <a:pPr algn="l" indent="0" marL="0">
              <a:lnSpc>
                <a:spcPct val="115000"/>
              </a:lnSpc>
              <a:buNone/>
            </a:pPr>
            <a:r>
              <a:rPr lang="ko-KR" altLang="en-US" sz="3000" spc="-90" kern="0" dirty="0">
                <a:solidFill>
                  <a:srgbClr val="F4F3F0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확산 모델의 역과정을 수업으로 옮기기</a:t>
            </a:r>
            <a:endParaRPr lang="ko-KR" sz="3000" dirty="0"/>
          </a:p>
        </p:txBody>
      </p:sp>
      <p:sp>
        <p:nvSpPr>
          <p:cNvPr id="7" name="Text 2"/>
          <p:cNvSpPr/>
          <p:nvPr>
            <p:ph idx="105" type="body" hasCustomPrompt="1"/>
          </p:nvPr>
        </p:nvSpPr>
        <p:spPr>
          <a:xfrm>
            <a:off x="7975600" y="939800"/>
            <a:ext cx="3454400" cy="65405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50000"/>
              </a:lnSpc>
              <a:buNone/>
              <a:defRPr lang="ko-KR" altLang="en-US" sz="13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50000"/>
              </a:lnSpc>
              <a:buNone/>
            </a:pPr>
            <a:r>
              <a:rPr lang="ko-KR" altLang="en-US" sz="13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본문 기본형 — 좌 텍스트 6칼럼, 우 이미지 6칼럼</a:t>
            </a:r>
            <a:endParaRPr lang="ko-KR" sz="1300" dirty="0"/>
          </a:p>
        </p:txBody>
      </p:sp>
      <p:sp>
        <p:nvSpPr>
          <p:cNvPr id="8" name="Shape 2"/>
          <p:cNvSpPr/>
          <p:nvPr/>
        </p:nvSpPr>
        <p:spPr>
          <a:xfrm>
            <a:off x="762000" y="2038350"/>
            <a:ext cx="5257800" cy="0"/>
          </a:xfrm>
          <a:prstGeom prst="line">
            <a:avLst/>
          </a:prstGeom>
          <a:noFill/>
          <a:ln w="9525">
            <a:solidFill>
              <a:srgbClr val="2E2E33"/>
            </a:solidFill>
            <a:prstDash val="solid"/>
          </a:ln>
        </p:spPr>
      </p:sp>
      <p:sp>
        <p:nvSpPr>
          <p:cNvPr id="9" name="Text 3"/>
          <p:cNvSpPr txBox="1"/>
          <p:nvPr/>
        </p:nvSpPr>
        <p:spPr>
          <a:xfrm>
            <a:off x="762000" y="2266950"/>
            <a:ext cx="4064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1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</a:t>
            </a:r>
            <a:endParaRPr lang="ko-KR" sz="1100" dirty="0"/>
          </a:p>
        </p:txBody>
      </p:sp>
      <p:sp>
        <p:nvSpPr>
          <p:cNvPr id="10" name="Text 4"/>
          <p:cNvSpPr/>
          <p:nvPr>
            <p:ph idx="108" type="body" hasCustomPrompt="1"/>
          </p:nvPr>
        </p:nvSpPr>
        <p:spPr>
          <a:xfrm>
            <a:off x="1295400" y="2216150"/>
            <a:ext cx="4724400" cy="5715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50000"/>
              </a:lnSpc>
              <a:buNone/>
              <a:defRPr lang="ko-KR" altLang="en-US" sz="1500" dirty="0">
                <a:solidFill>
                  <a:srgbClr val="F4F3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50000"/>
              </a:lnSpc>
              <a:buNone/>
            </a:pPr>
            <a:r>
              <a:rPr lang="ko-KR" altLang="en-US" sz="1500" dirty="0">
                <a:solidFill>
                  <a:srgbClr val="F4F3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문제 정의 — 한 줄 설명 자리. 30px, 최대 두 줄.</a:t>
            </a:r>
            <a:endParaRPr lang="ko-KR" sz="1500" dirty="0"/>
          </a:p>
        </p:txBody>
      </p:sp>
      <p:sp>
        <p:nvSpPr>
          <p:cNvPr id="11" name="Shape 4"/>
          <p:cNvSpPr/>
          <p:nvPr/>
        </p:nvSpPr>
        <p:spPr>
          <a:xfrm>
            <a:off x="762000" y="2679700"/>
            <a:ext cx="5257800" cy="0"/>
          </a:xfrm>
          <a:prstGeom prst="line">
            <a:avLst/>
          </a:prstGeom>
          <a:noFill/>
          <a:ln w="9525">
            <a:solidFill>
              <a:srgbClr val="2E2E33"/>
            </a:solidFill>
            <a:prstDash val="solid"/>
          </a:ln>
        </p:spPr>
      </p:sp>
      <p:sp>
        <p:nvSpPr>
          <p:cNvPr id="12" name="Text 5"/>
          <p:cNvSpPr txBox="1"/>
          <p:nvPr/>
        </p:nvSpPr>
        <p:spPr>
          <a:xfrm>
            <a:off x="762000" y="2908300"/>
            <a:ext cx="4064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1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</a:t>
            </a:r>
            <a:endParaRPr lang="ko-KR" sz="1100" dirty="0"/>
          </a:p>
        </p:txBody>
      </p:sp>
      <p:sp>
        <p:nvSpPr>
          <p:cNvPr id="13" name="Text 6"/>
          <p:cNvSpPr/>
          <p:nvPr>
            <p:ph idx="111" type="body" hasCustomPrompt="1"/>
          </p:nvPr>
        </p:nvSpPr>
        <p:spPr>
          <a:xfrm>
            <a:off x="1295400" y="2857500"/>
            <a:ext cx="4724400" cy="5715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50000"/>
              </a:lnSpc>
              <a:buNone/>
              <a:defRPr lang="ko-KR" altLang="en-US" sz="1500" dirty="0">
                <a:solidFill>
                  <a:srgbClr val="F4F3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50000"/>
              </a:lnSpc>
              <a:buNone/>
            </a:pPr>
            <a:r>
              <a:rPr lang="ko-KR" altLang="en-US" sz="1500" dirty="0">
                <a:solidFill>
                  <a:srgbClr val="F4F3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접근 방법 — 모델 구조와 학습 설정을 한 줄로.</a:t>
            </a:r>
            <a:endParaRPr lang="ko-KR" sz="1500" dirty="0"/>
          </a:p>
        </p:txBody>
      </p:sp>
      <p:sp>
        <p:nvSpPr>
          <p:cNvPr id="14" name="Shape 6"/>
          <p:cNvSpPr/>
          <p:nvPr/>
        </p:nvSpPr>
        <p:spPr>
          <a:xfrm>
            <a:off x="762000" y="3321050"/>
            <a:ext cx="5257800" cy="0"/>
          </a:xfrm>
          <a:prstGeom prst="line">
            <a:avLst/>
          </a:prstGeom>
          <a:noFill/>
          <a:ln w="9525">
            <a:solidFill>
              <a:srgbClr val="2E2E33"/>
            </a:solidFill>
            <a:prstDash val="solid"/>
          </a:ln>
        </p:spPr>
      </p:sp>
      <p:sp>
        <p:nvSpPr>
          <p:cNvPr id="15" name="Text 7"/>
          <p:cNvSpPr txBox="1"/>
          <p:nvPr/>
        </p:nvSpPr>
        <p:spPr>
          <a:xfrm>
            <a:off x="762000" y="3549650"/>
            <a:ext cx="4064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1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</a:t>
            </a:r>
            <a:endParaRPr lang="ko-KR" sz="1100" dirty="0"/>
          </a:p>
        </p:txBody>
      </p:sp>
      <p:sp>
        <p:nvSpPr>
          <p:cNvPr id="16" name="Text 8"/>
          <p:cNvSpPr/>
          <p:nvPr>
            <p:ph idx="114" type="body" hasCustomPrompt="1"/>
          </p:nvPr>
        </p:nvSpPr>
        <p:spPr>
          <a:xfrm>
            <a:off x="1295400" y="3498850"/>
            <a:ext cx="4724400" cy="5715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50000"/>
              </a:lnSpc>
              <a:buNone/>
              <a:defRPr lang="ko-KR" altLang="en-US" sz="1500" dirty="0">
                <a:solidFill>
                  <a:srgbClr val="F4F3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50000"/>
              </a:lnSpc>
              <a:buNone/>
            </a:pPr>
            <a:r>
              <a:rPr lang="ko-KR" altLang="en-US" sz="1500" dirty="0">
                <a:solidFill>
                  <a:srgbClr val="F4F3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결과 — 핵심 수치 하나, 비교 대상 하나.</a:t>
            </a:r>
            <a:endParaRPr lang="ko-KR" sz="1500" dirty="0"/>
          </a:p>
        </p:txBody>
      </p:sp>
      <p:sp>
        <p:nvSpPr>
          <p:cNvPr id="17" name="Shape 8"/>
          <p:cNvSpPr/>
          <p:nvPr/>
        </p:nvSpPr>
        <p:spPr>
          <a:xfrm>
            <a:off x="762000" y="3962400"/>
            <a:ext cx="5257800" cy="0"/>
          </a:xfrm>
          <a:prstGeom prst="line">
            <a:avLst/>
          </a:prstGeom>
          <a:noFill/>
          <a:ln w="9525">
            <a:solidFill>
              <a:srgbClr val="2E2E33"/>
            </a:solidFill>
            <a:prstDash val="solid"/>
          </a:ln>
        </p:spPr>
      </p:sp>
      <p:sp>
        <p:nvSpPr>
          <p:cNvPr id="18" name="Shape 9"/>
          <p:cNvSpPr/>
          <p:nvPr/>
        </p:nvSpPr>
        <p:spPr>
          <a:xfrm>
            <a:off x="6172200" y="2038350"/>
            <a:ext cx="5257800" cy="2667000"/>
          </a:xfrm>
          <a:prstGeom prst="rect">
            <a:avLst/>
          </a:prstGeom>
          <a:solidFill>
            <a:srgbClr val="1C1C1F"/>
          </a:solidFill>
          <a:ln w="12700">
            <a:solidFill>
              <a:srgbClr val="1C1C1F"/>
            </a:solidFill>
            <a:prstDash val="solid"/>
          </a:ln>
        </p:spPr>
      </p:sp>
      <p:sp>
        <p:nvSpPr>
          <p:cNvPr id="19" name="Text 10"/>
          <p:cNvSpPr txBox="1"/>
          <p:nvPr/>
        </p:nvSpPr>
        <p:spPr>
          <a:xfrm>
            <a:off x="6172200" y="3276600"/>
            <a:ext cx="52578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생성 결과 이미지 · 도표 자리 (16:10)</a:t>
            </a:r>
            <a:endParaRPr lang="ko-KR" sz="1000" dirty="0"/>
          </a:p>
        </p:txBody>
      </p:sp>
      <p:sp>
        <p:nvSpPr>
          <p:cNvPr id="20" name="Text 11"/>
          <p:cNvSpPr/>
          <p:nvPr>
            <p:ph idx="118" hasCustomPrompt="1"/>
          </p:nvPr>
        </p:nvSpPr>
        <p:spPr>
          <a:xfrm>
            <a:off x="6172200" y="2038350"/>
            <a:ext cx="5257800" cy="266700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dirty="0"/>
            </a:lvl1pPr>
          </a:lstStyle>
          <a:p>
            <a:pPr indent="0" marL="0">
              <a:buNone/>
            </a:pPr>
            <a:endParaRPr lang="en-US" dirty="0"/>
          </a:p>
        </p:txBody>
      </p:sp>
      <p:sp>
        <p:nvSpPr>
          <p:cNvPr id="21" name="Shape 11"/>
          <p:cNvSpPr/>
          <p:nvPr/>
        </p:nvSpPr>
        <p:spPr>
          <a:xfrm>
            <a:off x="762000" y="6197600"/>
            <a:ext cx="10668000" cy="0"/>
          </a:xfrm>
          <a:prstGeom prst="line">
            <a:avLst/>
          </a:prstGeom>
          <a:noFill/>
          <a:ln w="9525">
            <a:solidFill>
              <a:srgbClr val="2E2E33"/>
            </a:solidFill>
            <a:prstDash val="solid"/>
          </a:ln>
        </p:spPr>
      </p:sp>
      <p:sp>
        <p:nvSpPr>
          <p:cNvPr id="22" name="Text 12"/>
          <p:cNvSpPr txBox="1"/>
          <p:nvPr/>
        </p:nvSpPr>
        <p:spPr>
          <a:xfrm>
            <a:off x="762000" y="6350000"/>
            <a:ext cx="5080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동서대학교 컴퓨터공학부 · Smart Generation Lab</a:t>
            </a:r>
            <a:endParaRPr lang="ko-KR" sz="1000" dirty="0"/>
          </a:p>
        </p:txBody>
      </p:sp>
      <p:pic>
        <p:nvPicPr>
          <p:cNvPr id="23" name="Image 1" descr="/home/runner/work/sglab-brand/sglab-brand/dist/png/dot-dark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09300" y="6413500"/>
            <a:ext cx="50800" cy="5080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49000" y="6350000"/>
            <a:ext cx="381000" cy="1778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A3A3AD"/>
                </a:solidFill>
                <a:latin typeface="Pretendard"/>
                <a:ea typeface="Pretendard"/>
                <a:cs typeface="Pretendard"/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CTION">
    <p:bg>
      <p:bgPr>
        <a:solidFill>
          <a:srgbClr val="11111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runner/work/sglab-brand/sglab-brand/dist/png/sgl-mark-dark-512@2x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2000" y="355600"/>
            <a:ext cx="254000" cy="254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1130300" y="393700"/>
            <a:ext cx="3810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ko-KR" altLang="en-US" sz="1000" spc="100" kern="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SMART GENERATION LAB</a:t>
            </a:r>
            <a:endParaRPr lang="ko-KR" sz="1000" dirty="0"/>
          </a:p>
        </p:txBody>
      </p:sp>
      <p:sp>
        <p:nvSpPr>
          <p:cNvPr id="4" name="Text 1"/>
          <p:cNvSpPr/>
          <p:nvPr>
            <p:ph idx="102" type="body" hasCustomPrompt="1"/>
          </p:nvPr>
        </p:nvSpPr>
        <p:spPr>
          <a:xfrm>
            <a:off x="7975600" y="393700"/>
            <a:ext cx="3454400" cy="177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r" indent="0" marL="0">
              <a:buNone/>
              <a:defRPr lang="ko-KR" altLang="en-US" sz="1000" spc="100" kern="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r" indent="0" marL="0">
              <a:buNone/>
            </a:pPr>
            <a:r>
              <a:rPr lang="ko-KR" altLang="en-US" sz="1000" spc="100" kern="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  SECTION</a:t>
            </a:r>
            <a:endParaRPr lang="ko-KR" sz="1000" dirty="0"/>
          </a:p>
        </p:txBody>
      </p:sp>
      <p:sp>
        <p:nvSpPr>
          <p:cNvPr id="5" name="Shape 1"/>
          <p:cNvSpPr/>
          <p:nvPr/>
        </p:nvSpPr>
        <p:spPr>
          <a:xfrm>
            <a:off x="762000" y="787400"/>
            <a:ext cx="10668000" cy="0"/>
          </a:xfrm>
          <a:prstGeom prst="line">
            <a:avLst/>
          </a:prstGeom>
          <a:noFill/>
          <a:ln w="9525">
            <a:solidFill>
              <a:srgbClr val="2E2E33"/>
            </a:solidFill>
            <a:prstDash val="solid"/>
          </a:ln>
        </p:spPr>
      </p:sp>
      <p:sp>
        <p:nvSpPr>
          <p:cNvPr id="6" name="Text 2"/>
          <p:cNvSpPr/>
          <p:nvPr>
            <p:ph idx="104" type="body" hasCustomPrompt="1"/>
          </p:nvPr>
        </p:nvSpPr>
        <p:spPr>
          <a:xfrm>
            <a:off x="762000" y="1905000"/>
            <a:ext cx="2552700" cy="11430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90000"/>
              </a:lnSpc>
              <a:buNone/>
              <a:defRPr lang="ko-KR" altLang="en-US" sz="10000" spc="-500" kern="0" dirty="0">
                <a:solidFill>
                  <a:srgbClr val="F4F3F0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defRPr>
            </a:lvl1pPr>
          </a:lstStyle>
          <a:p>
            <a:pPr algn="l" indent="0" marL="0">
              <a:lnSpc>
                <a:spcPct val="90000"/>
              </a:lnSpc>
              <a:buNone/>
            </a:pPr>
            <a:r>
              <a:rPr lang="ko-KR" altLang="en-US" sz="10000" spc="-500" kern="0" dirty="0">
                <a:solidFill>
                  <a:srgbClr val="F4F3F0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02</a:t>
            </a:r>
            <a:endParaRPr lang="ko-KR" sz="10000" dirty="0"/>
          </a:p>
        </p:txBody>
      </p:sp>
      <p:sp>
        <p:nvSpPr>
          <p:cNvPr id="7" name="Text 2"/>
          <p:cNvSpPr/>
          <p:nvPr>
            <p:ph idx="105" type="title" hasCustomPrompt="1"/>
          </p:nvPr>
        </p:nvSpPr>
        <p:spPr>
          <a:xfrm>
            <a:off x="4368800" y="2057400"/>
            <a:ext cx="7061200" cy="5715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12000"/>
              </a:lnSpc>
              <a:buNone/>
              <a:defRPr lang="ko-KR" altLang="en-US" sz="4000" spc="-140" kern="0" dirty="0">
                <a:solidFill>
                  <a:srgbClr val="F4F3F0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defRPr>
            </a:lvl1pPr>
          </a:lstStyle>
          <a:p>
            <a:pPr algn="l" indent="0" marL="0">
              <a:lnSpc>
                <a:spcPct val="112000"/>
              </a:lnSpc>
              <a:buNone/>
            </a:pPr>
            <a:r>
              <a:rPr lang="ko-KR" altLang="en-US" sz="4000" spc="-140" kern="0" dirty="0">
                <a:solidFill>
                  <a:srgbClr val="F4F3F0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섹션 제목 — 프로젝트 데모</a:t>
            </a:r>
            <a:endParaRPr lang="ko-KR" sz="4000" dirty="0"/>
          </a:p>
        </p:txBody>
      </p:sp>
      <p:sp>
        <p:nvSpPr>
          <p:cNvPr id="8" name="Text 2"/>
          <p:cNvSpPr/>
          <p:nvPr>
            <p:ph idx="106" type="body" hasCustomPrompt="1"/>
          </p:nvPr>
        </p:nvSpPr>
        <p:spPr>
          <a:xfrm>
            <a:off x="4368800" y="2857500"/>
            <a:ext cx="5715000" cy="304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50000"/>
              </a:lnSpc>
              <a:buNone/>
              <a:defRPr lang="ko-KR" altLang="en-US" sz="16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50000"/>
              </a:lnSpc>
              <a:buNone/>
            </a:pPr>
            <a:r>
              <a:rPr lang="ko-KR" altLang="en-US" sz="16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섹션 요약 한 줄 — 이 섹션이 답하는 질문 하나</a:t>
            </a:r>
            <a:endParaRPr lang="ko-KR" sz="1600" dirty="0"/>
          </a:p>
        </p:txBody>
      </p:sp>
      <p:sp>
        <p:nvSpPr>
          <p:cNvPr id="9" name="Shape 2"/>
          <p:cNvSpPr/>
          <p:nvPr/>
        </p:nvSpPr>
        <p:spPr>
          <a:xfrm>
            <a:off x="4368800" y="3517900"/>
            <a:ext cx="3403600" cy="0"/>
          </a:xfrm>
          <a:prstGeom prst="line">
            <a:avLst/>
          </a:prstGeom>
          <a:noFill/>
          <a:ln w="9525">
            <a:solidFill>
              <a:srgbClr val="2E2E33"/>
            </a:solidFill>
            <a:prstDash val="solid"/>
          </a:ln>
        </p:spPr>
      </p:sp>
      <p:sp>
        <p:nvSpPr>
          <p:cNvPr id="10" name="Text 3"/>
          <p:cNvSpPr/>
          <p:nvPr>
            <p:ph idx="108" type="body" hasCustomPrompt="1"/>
          </p:nvPr>
        </p:nvSpPr>
        <p:spPr>
          <a:xfrm>
            <a:off x="4368800" y="3657600"/>
            <a:ext cx="3403600" cy="24765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50000"/>
              </a:lnSpc>
              <a:buNone/>
              <a:defRPr lang="ko-KR" altLang="en-US" sz="1300" dirty="0">
                <a:solidFill>
                  <a:srgbClr val="F4F3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50000"/>
              </a:lnSpc>
              <a:buNone/>
            </a:pPr>
            <a:r>
              <a:rPr lang="ko-KR" altLang="en-US" sz="1300" dirty="0">
                <a:solidFill>
                  <a:srgbClr val="F4F3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2.1   하위 항목 1</a:t>
            </a:r>
            <a:endParaRPr lang="ko-KR" sz="1300" dirty="0"/>
          </a:p>
        </p:txBody>
      </p:sp>
      <p:sp>
        <p:nvSpPr>
          <p:cNvPr id="11" name="Shape 3"/>
          <p:cNvSpPr/>
          <p:nvPr/>
        </p:nvSpPr>
        <p:spPr>
          <a:xfrm>
            <a:off x="8026400" y="3517900"/>
            <a:ext cx="3403600" cy="0"/>
          </a:xfrm>
          <a:prstGeom prst="line">
            <a:avLst/>
          </a:prstGeom>
          <a:noFill/>
          <a:ln w="9525">
            <a:solidFill>
              <a:srgbClr val="2E2E33"/>
            </a:solidFill>
            <a:prstDash val="solid"/>
          </a:ln>
        </p:spPr>
      </p:sp>
      <p:sp>
        <p:nvSpPr>
          <p:cNvPr id="12" name="Text 4"/>
          <p:cNvSpPr/>
          <p:nvPr>
            <p:ph idx="110" type="body" hasCustomPrompt="1"/>
          </p:nvPr>
        </p:nvSpPr>
        <p:spPr>
          <a:xfrm>
            <a:off x="8026400" y="3657600"/>
            <a:ext cx="3403600" cy="24765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50000"/>
              </a:lnSpc>
              <a:buNone/>
              <a:defRPr lang="ko-KR" altLang="en-US" sz="1300" dirty="0">
                <a:solidFill>
                  <a:srgbClr val="F4F3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50000"/>
              </a:lnSpc>
              <a:buNone/>
            </a:pPr>
            <a:r>
              <a:rPr lang="ko-KR" altLang="en-US" sz="1300" dirty="0">
                <a:solidFill>
                  <a:srgbClr val="F4F3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2.2   하위 항목 2</a:t>
            </a:r>
            <a:endParaRPr lang="ko-KR" sz="1300" dirty="0"/>
          </a:p>
        </p:txBody>
      </p:sp>
      <p:sp>
        <p:nvSpPr>
          <p:cNvPr id="13" name="Shape 4"/>
          <p:cNvSpPr/>
          <p:nvPr/>
        </p:nvSpPr>
        <p:spPr>
          <a:xfrm>
            <a:off x="4368800" y="4044950"/>
            <a:ext cx="3403600" cy="0"/>
          </a:xfrm>
          <a:prstGeom prst="line">
            <a:avLst/>
          </a:prstGeom>
          <a:noFill/>
          <a:ln w="9525">
            <a:solidFill>
              <a:srgbClr val="2E2E33"/>
            </a:solidFill>
            <a:prstDash val="solid"/>
          </a:ln>
        </p:spPr>
      </p:sp>
      <p:sp>
        <p:nvSpPr>
          <p:cNvPr id="14" name="Text 5"/>
          <p:cNvSpPr/>
          <p:nvPr>
            <p:ph idx="112" type="body" hasCustomPrompt="1"/>
          </p:nvPr>
        </p:nvSpPr>
        <p:spPr>
          <a:xfrm>
            <a:off x="4368800" y="4184650"/>
            <a:ext cx="3403600" cy="24765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50000"/>
              </a:lnSpc>
              <a:buNone/>
              <a:defRPr lang="ko-KR" altLang="en-US" sz="1300" dirty="0">
                <a:solidFill>
                  <a:srgbClr val="F4F3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50000"/>
              </a:lnSpc>
              <a:buNone/>
            </a:pPr>
            <a:r>
              <a:rPr lang="ko-KR" altLang="en-US" sz="1300" dirty="0">
                <a:solidFill>
                  <a:srgbClr val="F4F3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2.3   하위 항목 3</a:t>
            </a:r>
            <a:endParaRPr lang="ko-KR" sz="1300" dirty="0"/>
          </a:p>
        </p:txBody>
      </p:sp>
      <p:sp>
        <p:nvSpPr>
          <p:cNvPr id="15" name="Shape 5"/>
          <p:cNvSpPr/>
          <p:nvPr/>
        </p:nvSpPr>
        <p:spPr>
          <a:xfrm>
            <a:off x="4368800" y="4572000"/>
            <a:ext cx="3403600" cy="0"/>
          </a:xfrm>
          <a:prstGeom prst="line">
            <a:avLst/>
          </a:prstGeom>
          <a:noFill/>
          <a:ln w="9525">
            <a:solidFill>
              <a:srgbClr val="2E2E33"/>
            </a:solidFill>
            <a:prstDash val="solid"/>
          </a:ln>
        </p:spPr>
      </p:sp>
      <p:sp>
        <p:nvSpPr>
          <p:cNvPr id="16" name="Shape 6"/>
          <p:cNvSpPr/>
          <p:nvPr/>
        </p:nvSpPr>
        <p:spPr>
          <a:xfrm>
            <a:off x="8026400" y="4044950"/>
            <a:ext cx="3403600" cy="0"/>
          </a:xfrm>
          <a:prstGeom prst="line">
            <a:avLst/>
          </a:prstGeom>
          <a:noFill/>
          <a:ln w="9525">
            <a:solidFill>
              <a:srgbClr val="2E2E33"/>
            </a:solidFill>
            <a:prstDash val="solid"/>
          </a:ln>
        </p:spPr>
      </p:sp>
      <p:sp>
        <p:nvSpPr>
          <p:cNvPr id="17" name="Text 7"/>
          <p:cNvSpPr/>
          <p:nvPr>
            <p:ph idx="115" type="body" hasCustomPrompt="1"/>
          </p:nvPr>
        </p:nvSpPr>
        <p:spPr>
          <a:xfrm>
            <a:off x="8026400" y="4184650"/>
            <a:ext cx="3403600" cy="24765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50000"/>
              </a:lnSpc>
              <a:buNone/>
              <a:defRPr lang="ko-KR" altLang="en-US" sz="1300" dirty="0">
                <a:solidFill>
                  <a:srgbClr val="F4F3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50000"/>
              </a:lnSpc>
              <a:buNone/>
            </a:pPr>
            <a:r>
              <a:rPr lang="ko-KR" altLang="en-US" sz="1300" dirty="0">
                <a:solidFill>
                  <a:srgbClr val="F4F3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2.4   하위 항목 4</a:t>
            </a:r>
            <a:endParaRPr lang="ko-KR" sz="1300" dirty="0"/>
          </a:p>
        </p:txBody>
      </p:sp>
      <p:sp>
        <p:nvSpPr>
          <p:cNvPr id="18" name="Shape 7"/>
          <p:cNvSpPr/>
          <p:nvPr/>
        </p:nvSpPr>
        <p:spPr>
          <a:xfrm>
            <a:off x="8026400" y="4572000"/>
            <a:ext cx="3403600" cy="0"/>
          </a:xfrm>
          <a:prstGeom prst="line">
            <a:avLst/>
          </a:prstGeom>
          <a:noFill/>
          <a:ln w="9525">
            <a:solidFill>
              <a:srgbClr val="2E2E33"/>
            </a:solidFill>
            <a:prstDash val="solid"/>
          </a:ln>
        </p:spPr>
      </p:sp>
      <p:sp>
        <p:nvSpPr>
          <p:cNvPr id="19" name="Shape 8"/>
          <p:cNvSpPr/>
          <p:nvPr/>
        </p:nvSpPr>
        <p:spPr>
          <a:xfrm>
            <a:off x="762000" y="6197600"/>
            <a:ext cx="10668000" cy="0"/>
          </a:xfrm>
          <a:prstGeom prst="line">
            <a:avLst/>
          </a:prstGeom>
          <a:noFill/>
          <a:ln w="9525">
            <a:solidFill>
              <a:srgbClr val="2E2E33"/>
            </a:solidFill>
            <a:prstDash val="solid"/>
          </a:ln>
        </p:spPr>
      </p:sp>
      <p:sp>
        <p:nvSpPr>
          <p:cNvPr id="20" name="Text 9"/>
          <p:cNvSpPr txBox="1"/>
          <p:nvPr/>
        </p:nvSpPr>
        <p:spPr>
          <a:xfrm>
            <a:off x="762000" y="6350000"/>
            <a:ext cx="5080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동서대학교 컴퓨터공학부 · Smart Generation Lab</a:t>
            </a:r>
            <a:endParaRPr lang="ko-KR" sz="1000" dirty="0"/>
          </a:p>
        </p:txBody>
      </p:sp>
      <p:pic>
        <p:nvPicPr>
          <p:cNvPr id="21" name="Image 1" descr="/home/runner/work/sglab-brand/sglab-brand/dist/png/dot-dark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09300" y="6413500"/>
            <a:ext cx="50800" cy="5080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49000" y="6350000"/>
            <a:ext cx="381000" cy="1778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A3A3AD"/>
                </a:solidFill>
                <a:latin typeface="Pretendard"/>
                <a:ea typeface="Pretendard"/>
                <a:cs typeface="Pretendard"/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MO">
    <p:bg>
      <p:bgPr>
        <a:solidFill>
          <a:srgbClr val="11111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runner/work/sglab-brand/sglab-brand/dist/png/sgl-mark-dark-512@2x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2000" y="355600"/>
            <a:ext cx="254000" cy="254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1130300" y="393700"/>
            <a:ext cx="3810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ko-KR" altLang="en-US" sz="1000" spc="100" kern="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SMART GENERATION LAB</a:t>
            </a:r>
            <a:endParaRPr lang="ko-KR" sz="1000" dirty="0"/>
          </a:p>
        </p:txBody>
      </p:sp>
      <p:sp>
        <p:nvSpPr>
          <p:cNvPr id="4" name="Text 1"/>
          <p:cNvSpPr/>
          <p:nvPr>
            <p:ph idx="102" type="body" hasCustomPrompt="1"/>
          </p:nvPr>
        </p:nvSpPr>
        <p:spPr>
          <a:xfrm>
            <a:off x="7975600" y="393700"/>
            <a:ext cx="3454400" cy="177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r" indent="0" marL="0">
              <a:buNone/>
              <a:defRPr lang="ko-KR" altLang="en-US" sz="1000" spc="100" kern="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r" indent="0" marL="0">
              <a:buNone/>
            </a:pPr>
            <a:r>
              <a:rPr lang="ko-KR" altLang="en-US" sz="1000" spc="100" kern="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  PROJECTS</a:t>
            </a:r>
            <a:endParaRPr lang="ko-KR" sz="1000" dirty="0"/>
          </a:p>
        </p:txBody>
      </p:sp>
      <p:sp>
        <p:nvSpPr>
          <p:cNvPr id="5" name="Shape 1"/>
          <p:cNvSpPr/>
          <p:nvPr/>
        </p:nvSpPr>
        <p:spPr>
          <a:xfrm>
            <a:off x="762000" y="787400"/>
            <a:ext cx="10668000" cy="0"/>
          </a:xfrm>
          <a:prstGeom prst="line">
            <a:avLst/>
          </a:prstGeom>
          <a:noFill/>
          <a:ln w="9525">
            <a:solidFill>
              <a:srgbClr val="2E2E33"/>
            </a:solidFill>
            <a:prstDash val="solid"/>
          </a:ln>
        </p:spPr>
      </p:sp>
      <p:sp>
        <p:nvSpPr>
          <p:cNvPr id="6" name="Text 2"/>
          <p:cNvSpPr/>
          <p:nvPr>
            <p:ph idx="104" type="title" hasCustomPrompt="1"/>
          </p:nvPr>
        </p:nvSpPr>
        <p:spPr>
          <a:xfrm>
            <a:off x="762000" y="1143000"/>
            <a:ext cx="6159500" cy="4089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15000"/>
              </a:lnSpc>
              <a:buNone/>
              <a:defRPr lang="ko-KR" altLang="en-US" sz="2800" spc="-84" kern="0" dirty="0">
                <a:solidFill>
                  <a:srgbClr val="F4F3F0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defRPr>
            </a:lvl1pPr>
          </a:lstStyle>
          <a:p>
            <a:pPr algn="l" indent="0" marL="0">
              <a:lnSpc>
                <a:spcPct val="115000"/>
              </a:lnSpc>
              <a:buNone/>
            </a:pPr>
            <a:r>
              <a:rPr lang="ko-KR" altLang="en-US" sz="2800" spc="-84" kern="0" dirty="0">
                <a:solidFill>
                  <a:srgbClr val="F4F3F0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텍스트→영상 확산 모델 · 생성 결과</a:t>
            </a:r>
            <a:endParaRPr lang="ko-KR" sz="2800" dirty="0"/>
          </a:p>
        </p:txBody>
      </p:sp>
      <p:sp>
        <p:nvSpPr>
          <p:cNvPr id="7" name="Text 2"/>
          <p:cNvSpPr/>
          <p:nvPr>
            <p:ph idx="105" type="body" hasCustomPrompt="1"/>
          </p:nvPr>
        </p:nvSpPr>
        <p:spPr>
          <a:xfrm>
            <a:off x="7073900" y="1143000"/>
            <a:ext cx="4356100" cy="3708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50000"/>
              </a:lnSpc>
              <a:buNone/>
              <a:defRPr lang="ko-KR" altLang="en-US" sz="12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50000"/>
              </a:lnSpc>
              <a:buNone/>
            </a:pPr>
            <a:r>
              <a:rPr lang="ko-KR" altLang="en-US" sz="12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프롬프트 4종, 각 16프레임 · 동일 시드 비교</a:t>
            </a:r>
            <a:endParaRPr lang="ko-KR" sz="1200" dirty="0"/>
          </a:p>
        </p:txBody>
      </p:sp>
      <p:sp>
        <p:nvSpPr>
          <p:cNvPr id="8" name="Shape 2"/>
          <p:cNvSpPr/>
          <p:nvPr/>
        </p:nvSpPr>
        <p:spPr>
          <a:xfrm>
            <a:off x="762000" y="1856740"/>
            <a:ext cx="2552700" cy="1811655"/>
          </a:xfrm>
          <a:prstGeom prst="rect">
            <a:avLst/>
          </a:prstGeom>
          <a:solidFill>
            <a:srgbClr val="1C1C1F"/>
          </a:solidFill>
          <a:ln w="12700">
            <a:solidFill>
              <a:srgbClr val="1C1C1F"/>
            </a:solidFill>
            <a:prstDash val="solid"/>
          </a:ln>
        </p:spPr>
      </p:sp>
      <p:sp>
        <p:nvSpPr>
          <p:cNvPr id="9" name="Text 3"/>
          <p:cNvSpPr txBox="1"/>
          <p:nvPr/>
        </p:nvSpPr>
        <p:spPr>
          <a:xfrm>
            <a:off x="889000" y="3363595"/>
            <a:ext cx="22987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결과 01 · 16:10</a:t>
            </a:r>
            <a:endParaRPr lang="ko-KR" sz="900" dirty="0"/>
          </a:p>
        </p:txBody>
      </p:sp>
      <p:sp>
        <p:nvSpPr>
          <p:cNvPr id="10" name="Text 4"/>
          <p:cNvSpPr/>
          <p:nvPr>
            <p:ph idx="108" hasCustomPrompt="1"/>
          </p:nvPr>
        </p:nvSpPr>
        <p:spPr>
          <a:xfrm>
            <a:off x="762000" y="1856740"/>
            <a:ext cx="2552700" cy="1811655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dirty="0"/>
            </a:lvl1pPr>
          </a:lstStyle>
          <a:p>
            <a:pPr indent="0" marL="0">
              <a:buNone/>
            </a:pPr>
            <a:endParaRPr lang="en-US" dirty="0"/>
          </a:p>
        </p:txBody>
      </p:sp>
      <p:sp>
        <p:nvSpPr>
          <p:cNvPr id="11" name="Shape 4"/>
          <p:cNvSpPr/>
          <p:nvPr/>
        </p:nvSpPr>
        <p:spPr>
          <a:xfrm>
            <a:off x="3467100" y="1856740"/>
            <a:ext cx="2552700" cy="1811655"/>
          </a:xfrm>
          <a:prstGeom prst="rect">
            <a:avLst/>
          </a:prstGeom>
          <a:solidFill>
            <a:srgbClr val="1C1C1F"/>
          </a:solidFill>
          <a:ln w="12700">
            <a:solidFill>
              <a:srgbClr val="1C1C1F"/>
            </a:solidFill>
            <a:prstDash val="solid"/>
          </a:ln>
        </p:spPr>
      </p:sp>
      <p:sp>
        <p:nvSpPr>
          <p:cNvPr id="12" name="Text 5"/>
          <p:cNvSpPr txBox="1"/>
          <p:nvPr/>
        </p:nvSpPr>
        <p:spPr>
          <a:xfrm>
            <a:off x="3594100" y="3363595"/>
            <a:ext cx="22987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결과 02</a:t>
            </a:r>
            <a:endParaRPr lang="ko-KR" sz="900" dirty="0"/>
          </a:p>
        </p:txBody>
      </p:sp>
      <p:sp>
        <p:nvSpPr>
          <p:cNvPr id="13" name="Text 6"/>
          <p:cNvSpPr/>
          <p:nvPr>
            <p:ph idx="111" hasCustomPrompt="1"/>
          </p:nvPr>
        </p:nvSpPr>
        <p:spPr>
          <a:xfrm>
            <a:off x="3467100" y="1856740"/>
            <a:ext cx="2552700" cy="1811655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dirty="0"/>
            </a:lvl1pPr>
          </a:lstStyle>
          <a:p>
            <a:pPr indent="0" marL="0">
              <a:buNone/>
            </a:pPr>
            <a:endParaRPr lang="en-US" dirty="0"/>
          </a:p>
        </p:txBody>
      </p:sp>
      <p:sp>
        <p:nvSpPr>
          <p:cNvPr id="14" name="Shape 6"/>
          <p:cNvSpPr/>
          <p:nvPr/>
        </p:nvSpPr>
        <p:spPr>
          <a:xfrm>
            <a:off x="6172200" y="1856740"/>
            <a:ext cx="2552700" cy="1811655"/>
          </a:xfrm>
          <a:prstGeom prst="rect">
            <a:avLst/>
          </a:prstGeom>
          <a:solidFill>
            <a:srgbClr val="1C1C1F"/>
          </a:solidFill>
          <a:ln w="12700">
            <a:solidFill>
              <a:srgbClr val="1C1C1F"/>
            </a:solidFill>
            <a:prstDash val="solid"/>
          </a:ln>
        </p:spPr>
      </p:sp>
      <p:sp>
        <p:nvSpPr>
          <p:cNvPr id="15" name="Text 7"/>
          <p:cNvSpPr txBox="1"/>
          <p:nvPr/>
        </p:nvSpPr>
        <p:spPr>
          <a:xfrm>
            <a:off x="6299200" y="3363595"/>
            <a:ext cx="22987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결과 03</a:t>
            </a:r>
            <a:endParaRPr lang="ko-KR" sz="900" dirty="0"/>
          </a:p>
        </p:txBody>
      </p:sp>
      <p:sp>
        <p:nvSpPr>
          <p:cNvPr id="16" name="Text 8"/>
          <p:cNvSpPr/>
          <p:nvPr>
            <p:ph idx="114" hasCustomPrompt="1"/>
          </p:nvPr>
        </p:nvSpPr>
        <p:spPr>
          <a:xfrm>
            <a:off x="6172200" y="1856740"/>
            <a:ext cx="2552700" cy="1811655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dirty="0"/>
            </a:lvl1pPr>
          </a:lstStyle>
          <a:p>
            <a:pPr indent="0" marL="0">
              <a:buNone/>
            </a:pPr>
            <a:endParaRPr lang="en-US" dirty="0"/>
          </a:p>
        </p:txBody>
      </p:sp>
      <p:sp>
        <p:nvSpPr>
          <p:cNvPr id="17" name="Shape 8"/>
          <p:cNvSpPr/>
          <p:nvPr/>
        </p:nvSpPr>
        <p:spPr>
          <a:xfrm>
            <a:off x="8877300" y="1856740"/>
            <a:ext cx="2552700" cy="1811655"/>
          </a:xfrm>
          <a:prstGeom prst="rect">
            <a:avLst/>
          </a:prstGeom>
          <a:solidFill>
            <a:srgbClr val="1C1C1F"/>
          </a:solidFill>
          <a:ln w="12700">
            <a:solidFill>
              <a:srgbClr val="1C1C1F"/>
            </a:solidFill>
            <a:prstDash val="solid"/>
          </a:ln>
        </p:spPr>
      </p:sp>
      <p:sp>
        <p:nvSpPr>
          <p:cNvPr id="18" name="Text 9"/>
          <p:cNvSpPr txBox="1"/>
          <p:nvPr/>
        </p:nvSpPr>
        <p:spPr>
          <a:xfrm>
            <a:off x="9004300" y="3363595"/>
            <a:ext cx="22987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결과 04</a:t>
            </a:r>
            <a:endParaRPr lang="ko-KR" sz="900" dirty="0"/>
          </a:p>
        </p:txBody>
      </p:sp>
      <p:sp>
        <p:nvSpPr>
          <p:cNvPr id="19" name="Text 10"/>
          <p:cNvSpPr/>
          <p:nvPr>
            <p:ph idx="117" hasCustomPrompt="1"/>
          </p:nvPr>
        </p:nvSpPr>
        <p:spPr>
          <a:xfrm>
            <a:off x="8877300" y="1856740"/>
            <a:ext cx="2552700" cy="1811655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dirty="0"/>
            </a:lvl1pPr>
          </a:lstStyle>
          <a:p>
            <a:pPr indent="0" marL="0">
              <a:buNone/>
            </a:pPr>
            <a:endParaRPr lang="en-US" dirty="0"/>
          </a:p>
        </p:txBody>
      </p:sp>
      <p:sp>
        <p:nvSpPr>
          <p:cNvPr id="20" name="Shape 10"/>
          <p:cNvSpPr/>
          <p:nvPr/>
        </p:nvSpPr>
        <p:spPr>
          <a:xfrm>
            <a:off x="762000" y="3820795"/>
            <a:ext cx="2552700" cy="1811655"/>
          </a:xfrm>
          <a:prstGeom prst="rect">
            <a:avLst/>
          </a:prstGeom>
          <a:solidFill>
            <a:srgbClr val="1C1C1F"/>
          </a:solidFill>
          <a:ln w="12700">
            <a:solidFill>
              <a:srgbClr val="1C1C1F"/>
            </a:solidFill>
            <a:prstDash val="solid"/>
          </a:ln>
        </p:spPr>
      </p:sp>
      <p:sp>
        <p:nvSpPr>
          <p:cNvPr id="21" name="Text 11"/>
          <p:cNvSpPr txBox="1"/>
          <p:nvPr/>
        </p:nvSpPr>
        <p:spPr>
          <a:xfrm>
            <a:off x="889000" y="5327650"/>
            <a:ext cx="22987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결과 05</a:t>
            </a:r>
            <a:endParaRPr lang="ko-KR" sz="900" dirty="0"/>
          </a:p>
        </p:txBody>
      </p:sp>
      <p:sp>
        <p:nvSpPr>
          <p:cNvPr id="22" name="Text 12"/>
          <p:cNvSpPr/>
          <p:nvPr>
            <p:ph idx="120" hasCustomPrompt="1"/>
          </p:nvPr>
        </p:nvSpPr>
        <p:spPr>
          <a:xfrm>
            <a:off x="762000" y="3820795"/>
            <a:ext cx="2552700" cy="1811655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dirty="0"/>
            </a:lvl1pPr>
          </a:lstStyle>
          <a:p>
            <a:pPr indent="0" marL="0">
              <a:buNone/>
            </a:pPr>
            <a:endParaRPr lang="en-US" dirty="0"/>
          </a:p>
        </p:txBody>
      </p:sp>
      <p:sp>
        <p:nvSpPr>
          <p:cNvPr id="23" name="Shape 12"/>
          <p:cNvSpPr/>
          <p:nvPr/>
        </p:nvSpPr>
        <p:spPr>
          <a:xfrm>
            <a:off x="3467100" y="3820795"/>
            <a:ext cx="2552700" cy="1811655"/>
          </a:xfrm>
          <a:prstGeom prst="rect">
            <a:avLst/>
          </a:prstGeom>
          <a:solidFill>
            <a:srgbClr val="1C1C1F"/>
          </a:solidFill>
          <a:ln w="12700">
            <a:solidFill>
              <a:srgbClr val="1C1C1F"/>
            </a:solidFill>
            <a:prstDash val="solid"/>
          </a:ln>
        </p:spPr>
      </p:sp>
      <p:sp>
        <p:nvSpPr>
          <p:cNvPr id="24" name="Text 13"/>
          <p:cNvSpPr txBox="1"/>
          <p:nvPr/>
        </p:nvSpPr>
        <p:spPr>
          <a:xfrm>
            <a:off x="3594100" y="5327650"/>
            <a:ext cx="22987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결과 06</a:t>
            </a:r>
            <a:endParaRPr lang="ko-KR" sz="900" dirty="0"/>
          </a:p>
        </p:txBody>
      </p:sp>
      <p:sp>
        <p:nvSpPr>
          <p:cNvPr id="25" name="Text 14"/>
          <p:cNvSpPr/>
          <p:nvPr>
            <p:ph idx="123" hasCustomPrompt="1"/>
          </p:nvPr>
        </p:nvSpPr>
        <p:spPr>
          <a:xfrm>
            <a:off x="3467100" y="3820795"/>
            <a:ext cx="2552700" cy="1811655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dirty="0"/>
            </a:lvl1pPr>
          </a:lstStyle>
          <a:p>
            <a:pPr indent="0" marL="0">
              <a:buNone/>
            </a:pPr>
            <a:endParaRPr lang="en-US" dirty="0"/>
          </a:p>
        </p:txBody>
      </p:sp>
      <p:sp>
        <p:nvSpPr>
          <p:cNvPr id="26" name="Shape 14"/>
          <p:cNvSpPr/>
          <p:nvPr/>
        </p:nvSpPr>
        <p:spPr>
          <a:xfrm>
            <a:off x="6172200" y="3820795"/>
            <a:ext cx="2552700" cy="1811655"/>
          </a:xfrm>
          <a:prstGeom prst="rect">
            <a:avLst/>
          </a:prstGeom>
          <a:solidFill>
            <a:srgbClr val="1C1C1F"/>
          </a:solidFill>
          <a:ln w="12700">
            <a:solidFill>
              <a:srgbClr val="1C1C1F"/>
            </a:solidFill>
            <a:prstDash val="solid"/>
          </a:ln>
        </p:spPr>
      </p:sp>
      <p:sp>
        <p:nvSpPr>
          <p:cNvPr id="27" name="Text 15"/>
          <p:cNvSpPr txBox="1"/>
          <p:nvPr/>
        </p:nvSpPr>
        <p:spPr>
          <a:xfrm>
            <a:off x="6299200" y="5327650"/>
            <a:ext cx="22987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결과 07</a:t>
            </a:r>
            <a:endParaRPr lang="ko-KR" sz="900" dirty="0"/>
          </a:p>
        </p:txBody>
      </p:sp>
      <p:sp>
        <p:nvSpPr>
          <p:cNvPr id="28" name="Text 16"/>
          <p:cNvSpPr/>
          <p:nvPr>
            <p:ph idx="126" hasCustomPrompt="1"/>
          </p:nvPr>
        </p:nvSpPr>
        <p:spPr>
          <a:xfrm>
            <a:off x="6172200" y="3820795"/>
            <a:ext cx="2552700" cy="1811655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dirty="0"/>
            </a:lvl1pPr>
          </a:lstStyle>
          <a:p>
            <a:pPr indent="0" marL="0">
              <a:buNone/>
            </a:pPr>
            <a:endParaRPr lang="en-US" dirty="0"/>
          </a:p>
        </p:txBody>
      </p:sp>
      <p:sp>
        <p:nvSpPr>
          <p:cNvPr id="29" name="Shape 16"/>
          <p:cNvSpPr/>
          <p:nvPr/>
        </p:nvSpPr>
        <p:spPr>
          <a:xfrm>
            <a:off x="8877300" y="3820795"/>
            <a:ext cx="2552700" cy="1811655"/>
          </a:xfrm>
          <a:prstGeom prst="rect">
            <a:avLst/>
          </a:prstGeom>
          <a:solidFill>
            <a:srgbClr val="1C1C1F"/>
          </a:solidFill>
          <a:ln w="12700">
            <a:solidFill>
              <a:srgbClr val="1C1C1F"/>
            </a:solidFill>
            <a:prstDash val="solid"/>
          </a:ln>
        </p:spPr>
      </p:sp>
      <p:sp>
        <p:nvSpPr>
          <p:cNvPr id="30" name="Text 17"/>
          <p:cNvSpPr txBox="1"/>
          <p:nvPr/>
        </p:nvSpPr>
        <p:spPr>
          <a:xfrm>
            <a:off x="9004300" y="5327650"/>
            <a:ext cx="22987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결과 08</a:t>
            </a:r>
            <a:endParaRPr lang="ko-KR" sz="900" dirty="0"/>
          </a:p>
        </p:txBody>
      </p:sp>
      <p:sp>
        <p:nvSpPr>
          <p:cNvPr id="31" name="Text 18"/>
          <p:cNvSpPr/>
          <p:nvPr>
            <p:ph idx="129" hasCustomPrompt="1"/>
          </p:nvPr>
        </p:nvSpPr>
        <p:spPr>
          <a:xfrm>
            <a:off x="8877300" y="3820795"/>
            <a:ext cx="2552700" cy="1811655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dirty="0"/>
            </a:lvl1pPr>
          </a:lstStyle>
          <a:p>
            <a:pPr indent="0" marL="0">
              <a:buNone/>
            </a:pPr>
            <a:endParaRPr lang="en-US" dirty="0"/>
          </a:p>
        </p:txBody>
      </p:sp>
      <p:sp>
        <p:nvSpPr>
          <p:cNvPr id="32" name="Text 18"/>
          <p:cNvSpPr/>
          <p:nvPr>
            <p:ph idx="130" type="body" hasCustomPrompt="1"/>
          </p:nvPr>
        </p:nvSpPr>
        <p:spPr>
          <a:xfrm>
            <a:off x="762000" y="5784850"/>
            <a:ext cx="10668000" cy="20955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50000"/>
              </a:lnSpc>
              <a:buNone/>
              <a:defRPr lang="ko-KR" altLang="en-US" sz="11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50000"/>
              </a:lnSpc>
              <a:buNone/>
            </a:pPr>
            <a:r>
              <a:rPr lang="ko-KR" altLang="en-US" sz="11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캡션 한 줄 — 모델, 해상도, 스텝 수, 비교 기준.</a:t>
            </a:r>
            <a:endParaRPr lang="ko-KR" sz="1100" dirty="0"/>
          </a:p>
        </p:txBody>
      </p:sp>
      <p:sp>
        <p:nvSpPr>
          <p:cNvPr id="33" name="Shape 18"/>
          <p:cNvSpPr/>
          <p:nvPr/>
        </p:nvSpPr>
        <p:spPr>
          <a:xfrm>
            <a:off x="762000" y="6197600"/>
            <a:ext cx="10668000" cy="0"/>
          </a:xfrm>
          <a:prstGeom prst="line">
            <a:avLst/>
          </a:prstGeom>
          <a:noFill/>
          <a:ln w="9525">
            <a:solidFill>
              <a:srgbClr val="2E2E33"/>
            </a:solidFill>
            <a:prstDash val="solid"/>
          </a:ln>
        </p:spPr>
      </p:sp>
      <p:sp>
        <p:nvSpPr>
          <p:cNvPr id="34" name="Text 19"/>
          <p:cNvSpPr txBox="1"/>
          <p:nvPr/>
        </p:nvSpPr>
        <p:spPr>
          <a:xfrm>
            <a:off x="762000" y="6350000"/>
            <a:ext cx="5080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동서대학교 컴퓨터공학부 · Smart Generation Lab</a:t>
            </a:r>
            <a:endParaRPr lang="ko-KR" sz="1000" dirty="0"/>
          </a:p>
        </p:txBody>
      </p:sp>
      <p:pic>
        <p:nvPicPr>
          <p:cNvPr id="35" name="Image 1" descr="/home/runner/work/sglab-brand/sglab-brand/dist/png/dot-dark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09300" y="6413500"/>
            <a:ext cx="50800" cy="5080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49000" y="6350000"/>
            <a:ext cx="381000" cy="1778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A3A3AD"/>
                </a:solidFill>
                <a:latin typeface="Pretendard"/>
                <a:ea typeface="Pretendard"/>
                <a:cs typeface="Pretendard"/>
              </a:defRPr>
            </a:lvl1pPr>
          </a:lstStyle>
          <a:p>
            <a:pPr algn="r"/>
            <a:fld id="{F7021451-1387-4CA6-816F-3879F97B5CBC}" type="slidenum">
              <a:rPr b="0" lang="en-US"/>
              <a:t>1005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ACT">
    <p:bg>
      <p:bgPr>
        <a:solidFill>
          <a:srgbClr val="11111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runner/work/sglab-brand/sglab-brand/dist/png/sgl-mark-dark-512@2x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2000" y="355600"/>
            <a:ext cx="254000" cy="254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1130300" y="393700"/>
            <a:ext cx="3810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ko-KR" altLang="en-US" sz="1000" spc="100" kern="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SMART GENERATION LAB</a:t>
            </a:r>
            <a:endParaRPr lang="ko-KR" sz="1000" dirty="0"/>
          </a:p>
        </p:txBody>
      </p:sp>
      <p:sp>
        <p:nvSpPr>
          <p:cNvPr id="4" name="Text 1"/>
          <p:cNvSpPr/>
          <p:nvPr>
            <p:ph idx="102" type="body" hasCustomPrompt="1"/>
          </p:nvPr>
        </p:nvSpPr>
        <p:spPr>
          <a:xfrm>
            <a:off x="7975600" y="393700"/>
            <a:ext cx="3454400" cy="177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r" indent="0" marL="0">
              <a:buNone/>
              <a:defRPr lang="ko-KR" altLang="en-US" sz="1000" spc="100" kern="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r" indent="0" marL="0">
              <a:buNone/>
            </a:pPr>
            <a:r>
              <a:rPr lang="ko-KR" altLang="en-US" sz="1000" spc="100" kern="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CONTACT</a:t>
            </a:r>
            <a:endParaRPr lang="ko-KR" sz="1000" dirty="0"/>
          </a:p>
        </p:txBody>
      </p:sp>
      <p:sp>
        <p:nvSpPr>
          <p:cNvPr id="5" name="Shape 1"/>
          <p:cNvSpPr/>
          <p:nvPr/>
        </p:nvSpPr>
        <p:spPr>
          <a:xfrm>
            <a:off x="762000" y="787400"/>
            <a:ext cx="10668000" cy="0"/>
          </a:xfrm>
          <a:prstGeom prst="line">
            <a:avLst/>
          </a:prstGeom>
          <a:noFill/>
          <a:ln w="9525">
            <a:solidFill>
              <a:srgbClr val="2E2E33"/>
            </a:solidFill>
            <a:prstDash val="solid"/>
          </a:ln>
        </p:spPr>
      </p:sp>
      <p:pic>
        <p:nvPicPr>
          <p:cNvPr id="6" name="Image 1" descr="/home/runner/work/sglab-brand/sglab-brand/dist/png/sgl-mark-dark-512@2x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2000" y="1778000"/>
            <a:ext cx="1016000" cy="1016000"/>
          </a:xfrm>
          <a:prstGeom prst="rect">
            <a:avLst/>
          </a:prstGeom>
        </p:spPr>
      </p:pic>
      <p:sp>
        <p:nvSpPr>
          <p:cNvPr id="7" name="Text 2"/>
          <p:cNvSpPr/>
          <p:nvPr>
            <p:ph idx="105" type="title" hasCustomPrompt="1"/>
          </p:nvPr>
        </p:nvSpPr>
        <p:spPr>
          <a:xfrm>
            <a:off x="762000" y="4470400"/>
            <a:ext cx="6159500" cy="113665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12000"/>
              </a:lnSpc>
              <a:buNone/>
              <a:defRPr lang="ko-KR" altLang="en-US" sz="4000" spc="-140" kern="0" dirty="0">
                <a:solidFill>
                  <a:srgbClr val="F4F3F0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defRPr>
            </a:lvl1pPr>
          </a:lstStyle>
          <a:p>
            <a:pPr algn="l" indent="0" marL="0">
              <a:lnSpc>
                <a:spcPct val="112000"/>
              </a:lnSpc>
              <a:buNone/>
            </a:pPr>
            <a:r>
              <a:rPr lang="ko-KR" altLang="en-US" sz="4000" spc="-140" kern="0" dirty="0">
                <a:solidFill>
                  <a:srgbClr val="F4F3F0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함께 만들 사람과</a:t>
            </a:r>
            <a:endParaRPr lang="ko-KR" sz="4000" dirty="0"/>
          </a:p>
          <a:p>
            <a:pPr algn="l" indent="0" marL="0">
              <a:lnSpc>
                <a:spcPct val="112000"/>
              </a:lnSpc>
              <a:buNone/>
            </a:pPr>
            <a:r>
              <a:rPr lang="ko-KR" altLang="en-US" sz="4000" spc="-140" kern="0" dirty="0">
                <a:solidFill>
                  <a:srgbClr val="F4F3F0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함께 풀 문제를 찾습니다.</a:t>
            </a:r>
            <a:endParaRPr lang="ko-KR" sz="4000" dirty="0"/>
          </a:p>
        </p:txBody>
      </p:sp>
      <p:sp>
        <p:nvSpPr>
          <p:cNvPr id="8" name="Text 2"/>
          <p:cNvSpPr/>
          <p:nvPr>
            <p:ph idx="106" type="body" hasCustomPrompt="1"/>
          </p:nvPr>
        </p:nvSpPr>
        <p:spPr>
          <a:xfrm>
            <a:off x="762000" y="5810250"/>
            <a:ext cx="6159500" cy="28575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50000"/>
              </a:lnSpc>
              <a:buNone/>
              <a:defRPr lang="ko-KR" altLang="en-US" sz="15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50000"/>
              </a:lnSpc>
              <a:buNone/>
            </a:pPr>
            <a:r>
              <a:rPr lang="ko-KR" altLang="en-US" sz="15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대학원·학부연구생 지원, 산학 협력, 공동 연구 제안</a:t>
            </a:r>
            <a:endParaRPr lang="ko-KR" sz="1500" dirty="0"/>
          </a:p>
        </p:txBody>
      </p:sp>
      <p:sp>
        <p:nvSpPr>
          <p:cNvPr id="9" name="Shape 2"/>
          <p:cNvSpPr/>
          <p:nvPr/>
        </p:nvSpPr>
        <p:spPr>
          <a:xfrm>
            <a:off x="7975600" y="4978400"/>
            <a:ext cx="3454400" cy="0"/>
          </a:xfrm>
          <a:prstGeom prst="line">
            <a:avLst/>
          </a:prstGeom>
          <a:noFill/>
          <a:ln w="9525">
            <a:solidFill>
              <a:srgbClr val="2E2E33"/>
            </a:solidFill>
            <a:prstDash val="solid"/>
          </a:ln>
        </p:spPr>
      </p:sp>
      <p:sp>
        <p:nvSpPr>
          <p:cNvPr id="10" name="Text 3"/>
          <p:cNvSpPr txBox="1"/>
          <p:nvPr/>
        </p:nvSpPr>
        <p:spPr>
          <a:xfrm>
            <a:off x="7975600" y="5156200"/>
            <a:ext cx="76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40000"/>
              </a:lnSpc>
              <a:buNone/>
            </a:pPr>
            <a:r>
              <a:rPr lang="ko-KR" altLang="en-US" sz="13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이메일</a:t>
            </a:r>
            <a:endParaRPr lang="ko-KR" sz="1300" dirty="0"/>
          </a:p>
        </p:txBody>
      </p:sp>
      <p:sp>
        <p:nvSpPr>
          <p:cNvPr id="11" name="Text 4"/>
          <p:cNvSpPr/>
          <p:nvPr>
            <p:ph idx="109" type="body" hasCustomPrompt="1"/>
          </p:nvPr>
        </p:nvSpPr>
        <p:spPr>
          <a:xfrm>
            <a:off x="8864600" y="5156200"/>
            <a:ext cx="2565400" cy="2286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40000"/>
              </a:lnSpc>
              <a:buNone/>
              <a:defRPr lang="ko-KR" altLang="en-US" sz="1300" dirty="0">
                <a:solidFill>
                  <a:srgbClr val="C9A96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40000"/>
              </a:lnSpc>
              <a:buNone/>
            </a:pPr>
            <a:r>
              <a:rPr lang="ko-KR" altLang="en-US" sz="1300" dirty="0">
                <a:solidFill>
                  <a:srgbClr val="C9A96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이메일 주소 자리</a:t>
            </a:r>
            <a:endParaRPr lang="ko-KR" sz="1300" dirty="0"/>
          </a:p>
        </p:txBody>
      </p:sp>
      <p:sp>
        <p:nvSpPr>
          <p:cNvPr id="12" name="Text 4"/>
          <p:cNvSpPr txBox="1"/>
          <p:nvPr/>
        </p:nvSpPr>
        <p:spPr>
          <a:xfrm>
            <a:off x="7975600" y="5511800"/>
            <a:ext cx="76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40000"/>
              </a:lnSpc>
              <a:buNone/>
            </a:pPr>
            <a:r>
              <a:rPr lang="ko-KR" altLang="en-US" sz="13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웹</a:t>
            </a:r>
            <a:endParaRPr lang="ko-KR" sz="1300" dirty="0"/>
          </a:p>
        </p:txBody>
      </p:sp>
      <p:sp>
        <p:nvSpPr>
          <p:cNvPr id="13" name="Text 5"/>
          <p:cNvSpPr/>
          <p:nvPr>
            <p:ph idx="111" type="body" hasCustomPrompt="1"/>
          </p:nvPr>
        </p:nvSpPr>
        <p:spPr>
          <a:xfrm>
            <a:off x="8864600" y="5511800"/>
            <a:ext cx="2565400" cy="2286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40000"/>
              </a:lnSpc>
              <a:buNone/>
              <a:defRPr lang="ko-KR" altLang="en-US" sz="1300" dirty="0">
                <a:solidFill>
                  <a:srgbClr val="F4F3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40000"/>
              </a:lnSpc>
              <a:buNone/>
            </a:pPr>
            <a:r>
              <a:rPr lang="ko-KR" altLang="en-US" sz="1300" dirty="0">
                <a:solidFill>
                  <a:srgbClr val="F4F3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홈페이지 주소 자리</a:t>
            </a:r>
            <a:endParaRPr lang="ko-KR" sz="1300" dirty="0"/>
          </a:p>
        </p:txBody>
      </p:sp>
      <p:sp>
        <p:nvSpPr>
          <p:cNvPr id="14" name="Text 5"/>
          <p:cNvSpPr txBox="1"/>
          <p:nvPr/>
        </p:nvSpPr>
        <p:spPr>
          <a:xfrm>
            <a:off x="7975600" y="5867400"/>
            <a:ext cx="76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40000"/>
              </a:lnSpc>
              <a:buNone/>
            </a:pPr>
            <a:r>
              <a:rPr lang="ko-KR" altLang="en-US" sz="13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연구실</a:t>
            </a:r>
            <a:endParaRPr lang="ko-KR" sz="1300" dirty="0"/>
          </a:p>
        </p:txBody>
      </p:sp>
      <p:sp>
        <p:nvSpPr>
          <p:cNvPr id="15" name="Text 6"/>
          <p:cNvSpPr/>
          <p:nvPr>
            <p:ph idx="113" type="body" hasCustomPrompt="1"/>
          </p:nvPr>
        </p:nvSpPr>
        <p:spPr>
          <a:xfrm>
            <a:off x="8864600" y="5867400"/>
            <a:ext cx="2565400" cy="2286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40000"/>
              </a:lnSpc>
              <a:buNone/>
              <a:defRPr lang="ko-KR" altLang="en-US" sz="1300" dirty="0">
                <a:solidFill>
                  <a:srgbClr val="F4F3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40000"/>
              </a:lnSpc>
              <a:buNone/>
            </a:pPr>
            <a:r>
              <a:rPr lang="ko-KR" altLang="en-US" sz="1300" dirty="0">
                <a:solidFill>
                  <a:srgbClr val="F4F3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동서대학교 · 건물·호수 자리</a:t>
            </a:r>
            <a:endParaRPr lang="ko-KR" sz="1300" dirty="0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AGENDA">
    <p:bg>
      <p:bgPr>
        <a:solidFill>
          <a:srgbClr val="11111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runner/work/sglab-brand/sglab-brand/dist/png/sgl-mark-dark-512@2x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2000" y="355600"/>
            <a:ext cx="254000" cy="254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1130300" y="393700"/>
            <a:ext cx="3810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ko-KR" altLang="en-US" sz="1000" spc="100" kern="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SMART GENERATION LAB</a:t>
            </a:r>
            <a:endParaRPr lang="ko-KR" sz="1000" dirty="0"/>
          </a:p>
        </p:txBody>
      </p:sp>
      <p:sp>
        <p:nvSpPr>
          <p:cNvPr id="4" name="Text 1"/>
          <p:cNvSpPr/>
          <p:nvPr>
            <p:ph idx="102" type="body" hasCustomPrompt="1"/>
          </p:nvPr>
        </p:nvSpPr>
        <p:spPr>
          <a:xfrm>
            <a:off x="7975600" y="393700"/>
            <a:ext cx="3454400" cy="177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r" indent="0" marL="0">
              <a:buNone/>
              <a:defRPr lang="ko-KR" altLang="en-US" sz="1000" spc="100" kern="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r" indent="0" marL="0">
              <a:buNone/>
            </a:pPr>
            <a:r>
              <a:rPr lang="ko-KR" altLang="en-US" sz="1000" spc="100" kern="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00  AGENDA</a:t>
            </a:r>
            <a:endParaRPr lang="ko-KR" sz="1000" dirty="0"/>
          </a:p>
        </p:txBody>
      </p:sp>
      <p:sp>
        <p:nvSpPr>
          <p:cNvPr id="5" name="Shape 1"/>
          <p:cNvSpPr/>
          <p:nvPr/>
        </p:nvSpPr>
        <p:spPr>
          <a:xfrm>
            <a:off x="762000" y="787400"/>
            <a:ext cx="10668000" cy="0"/>
          </a:xfrm>
          <a:prstGeom prst="line">
            <a:avLst/>
          </a:prstGeom>
          <a:noFill/>
          <a:ln w="9525">
            <a:solidFill>
              <a:srgbClr val="2E2E33"/>
            </a:solidFill>
            <a:prstDash val="solid"/>
          </a:ln>
        </p:spPr>
      </p:sp>
      <p:sp>
        <p:nvSpPr>
          <p:cNvPr id="6" name="Text 2"/>
          <p:cNvSpPr/>
          <p:nvPr>
            <p:ph idx="104" type="title" hasCustomPrompt="1"/>
          </p:nvPr>
        </p:nvSpPr>
        <p:spPr>
          <a:xfrm>
            <a:off x="762000" y="1193800"/>
            <a:ext cx="7061200" cy="43815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15000"/>
              </a:lnSpc>
              <a:buNone/>
              <a:defRPr lang="ko-KR" altLang="en-US" sz="3000" spc="-90" kern="0" dirty="0">
                <a:solidFill>
                  <a:srgbClr val="F4F3F0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defRPr>
            </a:lvl1pPr>
          </a:lstStyle>
          <a:p>
            <a:pPr algn="l" indent="0" marL="0">
              <a:lnSpc>
                <a:spcPct val="115000"/>
              </a:lnSpc>
              <a:buNone/>
            </a:pPr>
            <a:r>
              <a:rPr lang="ko-KR" altLang="en-US" sz="3000" spc="-90" kern="0" dirty="0">
                <a:solidFill>
                  <a:srgbClr val="F4F3F0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목차</a:t>
            </a:r>
            <a:endParaRPr lang="ko-KR" sz="3000" dirty="0"/>
          </a:p>
        </p:txBody>
      </p:sp>
      <p:sp>
        <p:nvSpPr>
          <p:cNvPr id="7" name="Text 2"/>
          <p:cNvSpPr/>
          <p:nvPr>
            <p:ph idx="105" type="body" hasCustomPrompt="1"/>
          </p:nvPr>
        </p:nvSpPr>
        <p:spPr>
          <a:xfrm>
            <a:off x="7975600" y="939800"/>
            <a:ext cx="3454400" cy="65405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50000"/>
              </a:lnSpc>
              <a:buNone/>
              <a:defRPr lang="ko-KR" altLang="en-US" sz="13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50000"/>
              </a:lnSpc>
              <a:buNone/>
            </a:pPr>
            <a:r>
              <a:rPr lang="ko-KR" altLang="en-US" sz="13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오늘 다룰 다섯 가지</a:t>
            </a:r>
            <a:endParaRPr lang="ko-KR" sz="1300" dirty="0"/>
          </a:p>
        </p:txBody>
      </p:sp>
      <p:sp>
        <p:nvSpPr>
          <p:cNvPr id="8" name="Shape 2"/>
          <p:cNvSpPr/>
          <p:nvPr/>
        </p:nvSpPr>
        <p:spPr>
          <a:xfrm>
            <a:off x="762000" y="2038350"/>
            <a:ext cx="6159500" cy="0"/>
          </a:xfrm>
          <a:prstGeom prst="line">
            <a:avLst/>
          </a:prstGeom>
          <a:noFill/>
          <a:ln w="9525">
            <a:solidFill>
              <a:srgbClr val="2E2E33"/>
            </a:solidFill>
            <a:prstDash val="solid"/>
          </a:ln>
        </p:spPr>
      </p:sp>
      <p:sp>
        <p:nvSpPr>
          <p:cNvPr id="9" name="Text 3"/>
          <p:cNvSpPr txBox="1"/>
          <p:nvPr/>
        </p:nvSpPr>
        <p:spPr>
          <a:xfrm>
            <a:off x="762000" y="2216150"/>
            <a:ext cx="4064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1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</a:t>
            </a:r>
            <a:endParaRPr lang="ko-KR" sz="1100" dirty="0"/>
          </a:p>
        </p:txBody>
      </p:sp>
      <p:sp>
        <p:nvSpPr>
          <p:cNvPr id="10" name="Text 4"/>
          <p:cNvSpPr/>
          <p:nvPr>
            <p:ph idx="108" type="body" hasCustomPrompt="1"/>
          </p:nvPr>
        </p:nvSpPr>
        <p:spPr>
          <a:xfrm>
            <a:off x="1295400" y="2178050"/>
            <a:ext cx="5626100" cy="24765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30000"/>
              </a:lnSpc>
              <a:buNone/>
              <a:defRPr lang="ko-KR" altLang="en-US" sz="1500" dirty="0">
                <a:solidFill>
                  <a:srgbClr val="F4F3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30000"/>
              </a:lnSpc>
              <a:buNone/>
            </a:pPr>
            <a:r>
              <a:rPr lang="ko-KR" altLang="en-US" sz="1500" dirty="0">
                <a:solidFill>
                  <a:srgbClr val="F4F3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항목 1 제목 자리</a:t>
            </a:r>
            <a:endParaRPr lang="ko-KR" sz="1500" dirty="0"/>
          </a:p>
        </p:txBody>
      </p:sp>
      <p:sp>
        <p:nvSpPr>
          <p:cNvPr id="11" name="Shape 4"/>
          <p:cNvSpPr/>
          <p:nvPr/>
        </p:nvSpPr>
        <p:spPr>
          <a:xfrm>
            <a:off x="762000" y="2565400"/>
            <a:ext cx="6159500" cy="0"/>
          </a:xfrm>
          <a:prstGeom prst="line">
            <a:avLst/>
          </a:prstGeom>
          <a:noFill/>
          <a:ln w="9525">
            <a:solidFill>
              <a:srgbClr val="2E2E33"/>
            </a:solidFill>
            <a:prstDash val="solid"/>
          </a:ln>
        </p:spPr>
      </p:sp>
      <p:sp>
        <p:nvSpPr>
          <p:cNvPr id="12" name="Text 5"/>
          <p:cNvSpPr txBox="1"/>
          <p:nvPr/>
        </p:nvSpPr>
        <p:spPr>
          <a:xfrm>
            <a:off x="762000" y="2743200"/>
            <a:ext cx="4064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1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</a:t>
            </a:r>
            <a:endParaRPr lang="ko-KR" sz="1100" dirty="0"/>
          </a:p>
        </p:txBody>
      </p:sp>
      <p:sp>
        <p:nvSpPr>
          <p:cNvPr id="13" name="Text 6"/>
          <p:cNvSpPr/>
          <p:nvPr>
            <p:ph idx="111" type="body" hasCustomPrompt="1"/>
          </p:nvPr>
        </p:nvSpPr>
        <p:spPr>
          <a:xfrm>
            <a:off x="1295400" y="2705100"/>
            <a:ext cx="5626100" cy="24765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30000"/>
              </a:lnSpc>
              <a:buNone/>
              <a:defRPr lang="ko-KR" altLang="en-US" sz="1500" dirty="0">
                <a:solidFill>
                  <a:srgbClr val="F4F3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30000"/>
              </a:lnSpc>
              <a:buNone/>
            </a:pPr>
            <a:r>
              <a:rPr lang="ko-KR" altLang="en-US" sz="1500" dirty="0">
                <a:solidFill>
                  <a:srgbClr val="F4F3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항목 2 제목 자리</a:t>
            </a:r>
            <a:endParaRPr lang="ko-KR" sz="1500" dirty="0"/>
          </a:p>
        </p:txBody>
      </p:sp>
      <p:sp>
        <p:nvSpPr>
          <p:cNvPr id="14" name="Shape 6"/>
          <p:cNvSpPr/>
          <p:nvPr/>
        </p:nvSpPr>
        <p:spPr>
          <a:xfrm>
            <a:off x="762000" y="3092450"/>
            <a:ext cx="6159500" cy="0"/>
          </a:xfrm>
          <a:prstGeom prst="line">
            <a:avLst/>
          </a:prstGeom>
          <a:noFill/>
          <a:ln w="9525">
            <a:solidFill>
              <a:srgbClr val="2E2E33"/>
            </a:solidFill>
            <a:prstDash val="solid"/>
          </a:ln>
        </p:spPr>
      </p:sp>
      <p:sp>
        <p:nvSpPr>
          <p:cNvPr id="15" name="Text 7"/>
          <p:cNvSpPr txBox="1"/>
          <p:nvPr/>
        </p:nvSpPr>
        <p:spPr>
          <a:xfrm>
            <a:off x="762000" y="3270250"/>
            <a:ext cx="4064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1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</a:t>
            </a:r>
            <a:endParaRPr lang="ko-KR" sz="1100" dirty="0"/>
          </a:p>
        </p:txBody>
      </p:sp>
      <p:sp>
        <p:nvSpPr>
          <p:cNvPr id="16" name="Text 8"/>
          <p:cNvSpPr/>
          <p:nvPr>
            <p:ph idx="114" type="body" hasCustomPrompt="1"/>
          </p:nvPr>
        </p:nvSpPr>
        <p:spPr>
          <a:xfrm>
            <a:off x="1295400" y="3232150"/>
            <a:ext cx="5626100" cy="24765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30000"/>
              </a:lnSpc>
              <a:buNone/>
              <a:defRPr lang="ko-KR" altLang="en-US" sz="1500" dirty="0">
                <a:solidFill>
                  <a:srgbClr val="F4F3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30000"/>
              </a:lnSpc>
              <a:buNone/>
            </a:pPr>
            <a:r>
              <a:rPr lang="ko-KR" altLang="en-US" sz="1500" dirty="0">
                <a:solidFill>
                  <a:srgbClr val="F4F3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항목 3 제목 자리</a:t>
            </a:r>
            <a:endParaRPr lang="ko-KR" sz="1500" dirty="0"/>
          </a:p>
        </p:txBody>
      </p:sp>
      <p:sp>
        <p:nvSpPr>
          <p:cNvPr id="17" name="Shape 8"/>
          <p:cNvSpPr/>
          <p:nvPr/>
        </p:nvSpPr>
        <p:spPr>
          <a:xfrm>
            <a:off x="762000" y="3619500"/>
            <a:ext cx="6159500" cy="0"/>
          </a:xfrm>
          <a:prstGeom prst="line">
            <a:avLst/>
          </a:prstGeom>
          <a:noFill/>
          <a:ln w="9525">
            <a:solidFill>
              <a:srgbClr val="2E2E33"/>
            </a:solidFill>
            <a:prstDash val="solid"/>
          </a:ln>
        </p:spPr>
      </p:sp>
      <p:sp>
        <p:nvSpPr>
          <p:cNvPr id="18" name="Text 9"/>
          <p:cNvSpPr txBox="1"/>
          <p:nvPr/>
        </p:nvSpPr>
        <p:spPr>
          <a:xfrm>
            <a:off x="762000" y="3797300"/>
            <a:ext cx="4064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1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04</a:t>
            </a:r>
            <a:endParaRPr lang="ko-KR" sz="1100" dirty="0"/>
          </a:p>
        </p:txBody>
      </p:sp>
      <p:sp>
        <p:nvSpPr>
          <p:cNvPr id="19" name="Text 10"/>
          <p:cNvSpPr/>
          <p:nvPr>
            <p:ph idx="117" type="body" hasCustomPrompt="1"/>
          </p:nvPr>
        </p:nvSpPr>
        <p:spPr>
          <a:xfrm>
            <a:off x="1295400" y="3759200"/>
            <a:ext cx="5626100" cy="24765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30000"/>
              </a:lnSpc>
              <a:buNone/>
              <a:defRPr lang="ko-KR" altLang="en-US" sz="1500" dirty="0">
                <a:solidFill>
                  <a:srgbClr val="F4F3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30000"/>
              </a:lnSpc>
              <a:buNone/>
            </a:pPr>
            <a:r>
              <a:rPr lang="ko-KR" altLang="en-US" sz="1500" dirty="0">
                <a:solidFill>
                  <a:srgbClr val="F4F3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항목 4 제목 자리</a:t>
            </a:r>
            <a:endParaRPr lang="ko-KR" sz="1500" dirty="0"/>
          </a:p>
        </p:txBody>
      </p:sp>
      <p:sp>
        <p:nvSpPr>
          <p:cNvPr id="20" name="Shape 10"/>
          <p:cNvSpPr/>
          <p:nvPr/>
        </p:nvSpPr>
        <p:spPr>
          <a:xfrm>
            <a:off x="762000" y="4146550"/>
            <a:ext cx="6159500" cy="0"/>
          </a:xfrm>
          <a:prstGeom prst="line">
            <a:avLst/>
          </a:prstGeom>
          <a:noFill/>
          <a:ln w="9525">
            <a:solidFill>
              <a:srgbClr val="2E2E33"/>
            </a:solidFill>
            <a:prstDash val="solid"/>
          </a:ln>
        </p:spPr>
      </p:sp>
      <p:sp>
        <p:nvSpPr>
          <p:cNvPr id="21" name="Text 11"/>
          <p:cNvSpPr txBox="1"/>
          <p:nvPr/>
        </p:nvSpPr>
        <p:spPr>
          <a:xfrm>
            <a:off x="762000" y="4324350"/>
            <a:ext cx="4064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1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05</a:t>
            </a:r>
            <a:endParaRPr lang="ko-KR" sz="1100" dirty="0"/>
          </a:p>
        </p:txBody>
      </p:sp>
      <p:sp>
        <p:nvSpPr>
          <p:cNvPr id="22" name="Text 12"/>
          <p:cNvSpPr/>
          <p:nvPr>
            <p:ph idx="120" type="body" hasCustomPrompt="1"/>
          </p:nvPr>
        </p:nvSpPr>
        <p:spPr>
          <a:xfrm>
            <a:off x="1295400" y="4286250"/>
            <a:ext cx="5626100" cy="24765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30000"/>
              </a:lnSpc>
              <a:buNone/>
              <a:defRPr lang="ko-KR" altLang="en-US" sz="1500" dirty="0">
                <a:solidFill>
                  <a:srgbClr val="F4F3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30000"/>
              </a:lnSpc>
              <a:buNone/>
            </a:pPr>
            <a:r>
              <a:rPr lang="ko-KR" altLang="en-US" sz="1500" dirty="0">
                <a:solidFill>
                  <a:srgbClr val="F4F3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항목 5 제목 자리</a:t>
            </a:r>
            <a:endParaRPr lang="ko-KR" sz="1500" dirty="0"/>
          </a:p>
        </p:txBody>
      </p:sp>
      <p:sp>
        <p:nvSpPr>
          <p:cNvPr id="23" name="Shape 12"/>
          <p:cNvSpPr/>
          <p:nvPr/>
        </p:nvSpPr>
        <p:spPr>
          <a:xfrm>
            <a:off x="762000" y="4673600"/>
            <a:ext cx="6159500" cy="0"/>
          </a:xfrm>
          <a:prstGeom prst="line">
            <a:avLst/>
          </a:prstGeom>
          <a:noFill/>
          <a:ln w="9525">
            <a:solidFill>
              <a:srgbClr val="2E2E33"/>
            </a:solidFill>
            <a:prstDash val="solid"/>
          </a:ln>
        </p:spPr>
      </p:sp>
      <p:sp>
        <p:nvSpPr>
          <p:cNvPr id="24" name="Text 13"/>
          <p:cNvSpPr/>
          <p:nvPr>
            <p:ph idx="122" type="body" hasCustomPrompt="1"/>
          </p:nvPr>
        </p:nvSpPr>
        <p:spPr>
          <a:xfrm>
            <a:off x="7975600" y="2178050"/>
            <a:ext cx="3454400" cy="19050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50000"/>
              </a:lnSpc>
              <a:buNone/>
              <a:defRPr lang="ko-KR" altLang="en-US" sz="12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50000"/>
              </a:lnSpc>
              <a:buNone/>
            </a:pPr>
            <a:r>
              <a:rPr lang="ko-KR" altLang="en-US" sz="12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오른쪽 메모 자리 — 발표 맥락, 소요 시간, 자료 링크</a:t>
            </a:r>
            <a:endParaRPr lang="ko-KR" sz="1200" dirty="0"/>
          </a:p>
        </p:txBody>
      </p:sp>
      <p:sp>
        <p:nvSpPr>
          <p:cNvPr id="25" name="Shape 13"/>
          <p:cNvSpPr/>
          <p:nvPr/>
        </p:nvSpPr>
        <p:spPr>
          <a:xfrm>
            <a:off x="762000" y="6197600"/>
            <a:ext cx="10668000" cy="0"/>
          </a:xfrm>
          <a:prstGeom prst="line">
            <a:avLst/>
          </a:prstGeom>
          <a:noFill/>
          <a:ln w="9525">
            <a:solidFill>
              <a:srgbClr val="2E2E33"/>
            </a:solidFill>
            <a:prstDash val="solid"/>
          </a:ln>
        </p:spPr>
      </p:sp>
      <p:sp>
        <p:nvSpPr>
          <p:cNvPr id="26" name="Text 14"/>
          <p:cNvSpPr txBox="1"/>
          <p:nvPr/>
        </p:nvSpPr>
        <p:spPr>
          <a:xfrm>
            <a:off x="762000" y="6350000"/>
            <a:ext cx="5080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동서대학교 컴퓨터공학부 · Smart Generation Lab</a:t>
            </a:r>
            <a:endParaRPr lang="ko-KR" sz="1000" dirty="0"/>
          </a:p>
        </p:txBody>
      </p:sp>
      <p:pic>
        <p:nvPicPr>
          <p:cNvPr id="27" name="Image 1" descr="/home/runner/work/sglab-brand/sglab-brand/dist/png/dot-dark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09300" y="6413500"/>
            <a:ext cx="50800" cy="5080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49000" y="6350000"/>
            <a:ext cx="381000" cy="1778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A3A3AD"/>
                </a:solidFill>
                <a:latin typeface="Pretendard"/>
                <a:ea typeface="Pretendard"/>
                <a:cs typeface="Pretendard"/>
              </a:defRPr>
            </a:lvl1pPr>
          </a:lstStyle>
          <a:p>
            <a:pPr algn="r"/>
            <a:fld id="{F7021451-1387-4CA6-816F-3879F97B5CBC}" type="slidenum">
              <a:rPr b="0" lang="en-US"/>
              <a:t>1007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FULLBLEED">
    <p:bg>
      <p:bgPr>
        <a:solidFill>
          <a:srgbClr val="11111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C1C1F"/>
          </a:solidFill>
          <a:ln w="12700">
            <a:solidFill>
              <a:srgbClr val="1C1C1F"/>
            </a:solidFill>
            <a:prstDash val="solid"/>
          </a:ln>
        </p:spPr>
      </p:sp>
      <p:sp>
        <p:nvSpPr>
          <p:cNvPr id="3" name="Text 1"/>
          <p:cNvSpPr/>
          <p:nvPr>
            <p:ph idx="101" hasCustomPrompt="1"/>
          </p:nvPr>
        </p:nvSpPr>
        <p:spPr>
          <a:xfrm>
            <a:off x="0" y="0"/>
            <a:ext cx="12192000" cy="685800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dirty="0"/>
            </a:lvl1pPr>
          </a:lstStyle>
          <a:p>
            <a:pPr indent="0" marL="0">
              <a:buNone/>
            </a:pPr>
            <a:endParaRPr lang="en-US" dirty="0"/>
          </a:p>
        </p:txBody>
      </p:sp>
      <p:pic>
        <p:nvPicPr>
          <p:cNvPr id="4" name="Image 0" descr="/home/runner/work/sglab-brand/sglab-brand/dist/png/sgl-mark-dark-512@2x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2000" y="355600"/>
            <a:ext cx="254000" cy="254000"/>
          </a:xfrm>
          <a:prstGeom prst="rect">
            <a:avLst/>
          </a:prstGeom>
        </p:spPr>
      </p:pic>
      <p:sp>
        <p:nvSpPr>
          <p:cNvPr id="5" name="Text 1"/>
          <p:cNvSpPr/>
          <p:nvPr>
            <p:ph idx="103" type="title" hasCustomPrompt="1"/>
          </p:nvPr>
        </p:nvSpPr>
        <p:spPr>
          <a:xfrm>
            <a:off x="762000" y="5257800"/>
            <a:ext cx="7620000" cy="3302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15000"/>
              </a:lnSpc>
              <a:buNone/>
              <a:defRPr lang="ko-KR" altLang="en-US" sz="2200" spc="-66" kern="0" dirty="0">
                <a:solidFill>
                  <a:srgbClr val="F4F3F0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defRPr>
            </a:lvl1pPr>
          </a:lstStyle>
          <a:p>
            <a:pPr algn="l" indent="0" marL="0">
              <a:lnSpc>
                <a:spcPct val="115000"/>
              </a:lnSpc>
              <a:buNone/>
            </a:pPr>
            <a:r>
              <a:rPr lang="ko-KR" altLang="en-US" sz="2200" spc="-66" kern="0" dirty="0">
                <a:solidFill>
                  <a:srgbClr val="F4F3F0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전면 이미지 제목 자리</a:t>
            </a:r>
            <a:endParaRPr lang="ko-KR" sz="2200" dirty="0"/>
          </a:p>
        </p:txBody>
      </p:sp>
      <p:sp>
        <p:nvSpPr>
          <p:cNvPr id="6" name="Text 1"/>
          <p:cNvSpPr/>
          <p:nvPr>
            <p:ph idx="104" type="body" hasCustomPrompt="1"/>
          </p:nvPr>
        </p:nvSpPr>
        <p:spPr>
          <a:xfrm>
            <a:off x="762000" y="5765800"/>
            <a:ext cx="7620000" cy="2286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50000"/>
              </a:lnSpc>
              <a:buNone/>
              <a:defRPr lang="ko-KR" altLang="en-US" sz="12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50000"/>
              </a:lnSpc>
              <a:buNone/>
            </a:pPr>
            <a:r>
              <a:rPr lang="ko-KR" altLang="en-US" sz="12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캡션 — 모델, 해상도, 출처</a:t>
            </a:r>
            <a:endParaRPr lang="ko-KR" sz="1200" dirty="0"/>
          </a:p>
        </p:txBody>
      </p:sp>
      <p:sp>
        <p:nvSpPr>
          <p:cNvPr id="7" name="Shape 1"/>
          <p:cNvSpPr/>
          <p:nvPr/>
        </p:nvSpPr>
        <p:spPr>
          <a:xfrm>
            <a:off x="762000" y="6197600"/>
            <a:ext cx="10668000" cy="0"/>
          </a:xfrm>
          <a:prstGeom prst="line">
            <a:avLst/>
          </a:prstGeom>
          <a:noFill/>
          <a:ln w="9525">
            <a:solidFill>
              <a:srgbClr val="2E2E33"/>
            </a:solidFill>
            <a:prstDash val="solid"/>
          </a:ln>
        </p:spPr>
      </p:sp>
      <p:sp>
        <p:nvSpPr>
          <p:cNvPr id="8" name="Text 2"/>
          <p:cNvSpPr txBox="1"/>
          <p:nvPr/>
        </p:nvSpPr>
        <p:spPr>
          <a:xfrm>
            <a:off x="762000" y="6350000"/>
            <a:ext cx="5080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동서대학교 컴퓨터공학부 · Smart Generation Lab</a:t>
            </a:r>
            <a:endParaRPr lang="ko-KR" sz="1000" dirty="0"/>
          </a:p>
        </p:txBody>
      </p:sp>
      <p:pic>
        <p:nvPicPr>
          <p:cNvPr id="9" name="Image 1" descr="/home/runner/work/sglab-brand/sglab-brand/dist/png/dot-dark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09300" y="6413500"/>
            <a:ext cx="50800" cy="5080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49000" y="6350000"/>
            <a:ext cx="381000" cy="1778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A3A3AD"/>
                </a:solidFill>
                <a:latin typeface="Pretendard"/>
                <a:ea typeface="Pretendard"/>
                <a:cs typeface="Pretendard"/>
              </a:defRPr>
            </a:lvl1pPr>
          </a:lstStyle>
          <a:p>
            <a:pPr algn="r"/>
            <a:fld id="{F7021451-1387-4CA6-816F-3879F97B5CBC}" type="slidenum">
              <a:rPr b="0" lang="en-US"/>
              <a:t>1008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MPARE">
    <p:bg>
      <p:bgPr>
        <a:solidFill>
          <a:srgbClr val="11111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runner/work/sglab-brand/sglab-brand/dist/png/sgl-mark-dark-512@2x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2000" y="355600"/>
            <a:ext cx="254000" cy="254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1130300" y="393700"/>
            <a:ext cx="3810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ko-KR" altLang="en-US" sz="1000" spc="100" kern="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SMART GENERATION LAB</a:t>
            </a:r>
            <a:endParaRPr lang="ko-KR" sz="1000" dirty="0"/>
          </a:p>
        </p:txBody>
      </p:sp>
      <p:sp>
        <p:nvSpPr>
          <p:cNvPr id="4" name="Text 1"/>
          <p:cNvSpPr/>
          <p:nvPr>
            <p:ph idx="102" type="body" hasCustomPrompt="1"/>
          </p:nvPr>
        </p:nvSpPr>
        <p:spPr>
          <a:xfrm>
            <a:off x="7975600" y="393700"/>
            <a:ext cx="3454400" cy="177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r" indent="0" marL="0">
              <a:buNone/>
              <a:defRPr lang="ko-KR" altLang="en-US" sz="1000" spc="100" kern="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r" indent="0" marL="0">
              <a:buNone/>
            </a:pPr>
            <a:r>
              <a:rPr lang="ko-KR" altLang="en-US" sz="1000" spc="100" kern="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  PROJECTS</a:t>
            </a:r>
            <a:endParaRPr lang="ko-KR" sz="1000" dirty="0"/>
          </a:p>
        </p:txBody>
      </p:sp>
      <p:sp>
        <p:nvSpPr>
          <p:cNvPr id="5" name="Shape 1"/>
          <p:cNvSpPr/>
          <p:nvPr/>
        </p:nvSpPr>
        <p:spPr>
          <a:xfrm>
            <a:off x="762000" y="787400"/>
            <a:ext cx="10668000" cy="0"/>
          </a:xfrm>
          <a:prstGeom prst="line">
            <a:avLst/>
          </a:prstGeom>
          <a:noFill/>
          <a:ln w="9525">
            <a:solidFill>
              <a:srgbClr val="2E2E33"/>
            </a:solidFill>
            <a:prstDash val="solid"/>
          </a:ln>
        </p:spPr>
      </p:sp>
      <p:sp>
        <p:nvSpPr>
          <p:cNvPr id="6" name="Text 2"/>
          <p:cNvSpPr/>
          <p:nvPr>
            <p:ph idx="104" type="title" hasCustomPrompt="1"/>
          </p:nvPr>
        </p:nvSpPr>
        <p:spPr>
          <a:xfrm>
            <a:off x="762000" y="1193800"/>
            <a:ext cx="7061200" cy="43815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15000"/>
              </a:lnSpc>
              <a:buNone/>
              <a:defRPr lang="ko-KR" altLang="en-US" sz="3000" spc="-90" kern="0" dirty="0">
                <a:solidFill>
                  <a:srgbClr val="F4F3F0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defRPr>
            </a:lvl1pPr>
          </a:lstStyle>
          <a:p>
            <a:pPr algn="l" indent="0" marL="0">
              <a:lnSpc>
                <a:spcPct val="115000"/>
              </a:lnSpc>
              <a:buNone/>
            </a:pPr>
            <a:r>
              <a:rPr lang="ko-KR" altLang="en-US" sz="3000" spc="-90" kern="0" dirty="0">
                <a:solidFill>
                  <a:srgbClr val="F4F3F0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영상 합성 · 시간 일관성 비교</a:t>
            </a:r>
            <a:endParaRPr lang="ko-KR" sz="3000" dirty="0"/>
          </a:p>
        </p:txBody>
      </p:sp>
      <p:sp>
        <p:nvSpPr>
          <p:cNvPr id="7" name="Text 2"/>
          <p:cNvSpPr/>
          <p:nvPr>
            <p:ph idx="105" type="body" hasCustomPrompt="1"/>
          </p:nvPr>
        </p:nvSpPr>
        <p:spPr>
          <a:xfrm>
            <a:off x="7975600" y="939800"/>
            <a:ext cx="3454400" cy="65405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50000"/>
              </a:lnSpc>
              <a:buNone/>
              <a:defRPr lang="ko-KR" altLang="en-US" sz="13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50000"/>
              </a:lnSpc>
              <a:buNone/>
            </a:pPr>
            <a:r>
              <a:rPr lang="ko-KR" altLang="en-US" sz="13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동일 프롬프트·시드, 제안 방법 적용 전후</a:t>
            </a:r>
            <a:endParaRPr lang="ko-KR" sz="1300" dirty="0"/>
          </a:p>
        </p:txBody>
      </p:sp>
      <p:sp>
        <p:nvSpPr>
          <p:cNvPr id="8" name="Text 2"/>
          <p:cNvSpPr/>
          <p:nvPr>
            <p:ph idx="106" type="body" hasCustomPrompt="1"/>
          </p:nvPr>
        </p:nvSpPr>
        <p:spPr>
          <a:xfrm>
            <a:off x="762000" y="2038350"/>
            <a:ext cx="5257800" cy="177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ko-KR" altLang="en-US" sz="1000" spc="100" kern="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buNone/>
            </a:pPr>
            <a:r>
              <a:rPr lang="ko-KR" altLang="en-US" sz="1000" spc="100" kern="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BEFORE</a:t>
            </a:r>
            <a:endParaRPr lang="ko-KR" sz="1000" dirty="0"/>
          </a:p>
        </p:txBody>
      </p:sp>
      <p:sp>
        <p:nvSpPr>
          <p:cNvPr id="9" name="Shape 2"/>
          <p:cNvSpPr/>
          <p:nvPr/>
        </p:nvSpPr>
        <p:spPr>
          <a:xfrm>
            <a:off x="762000" y="2292350"/>
            <a:ext cx="5257800" cy="3286125"/>
          </a:xfrm>
          <a:prstGeom prst="rect">
            <a:avLst/>
          </a:prstGeom>
          <a:solidFill>
            <a:srgbClr val="1C1C1F"/>
          </a:solidFill>
          <a:ln w="12700">
            <a:solidFill>
              <a:srgbClr val="1C1C1F"/>
            </a:solidFill>
            <a:prstDash val="solid"/>
          </a:ln>
        </p:spPr>
      </p:sp>
      <p:sp>
        <p:nvSpPr>
          <p:cNvPr id="10" name="Text 3"/>
          <p:cNvSpPr txBox="1"/>
          <p:nvPr/>
        </p:nvSpPr>
        <p:spPr>
          <a:xfrm>
            <a:off x="889000" y="5273675"/>
            <a:ext cx="50038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이전 결과 (16:10)</a:t>
            </a:r>
            <a:endParaRPr lang="ko-KR" sz="900" dirty="0"/>
          </a:p>
        </p:txBody>
      </p:sp>
      <p:sp>
        <p:nvSpPr>
          <p:cNvPr id="11" name="Text 4"/>
          <p:cNvSpPr/>
          <p:nvPr>
            <p:ph idx="109" hasCustomPrompt="1"/>
          </p:nvPr>
        </p:nvSpPr>
        <p:spPr>
          <a:xfrm>
            <a:off x="762000" y="2292350"/>
            <a:ext cx="5257800" cy="3286125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dirty="0"/>
            </a:lvl1pPr>
          </a:lstStyle>
          <a:p>
            <a:pPr indent="0" marL="0">
              <a:buNone/>
            </a:pPr>
            <a:endParaRPr lang="en-US" dirty="0"/>
          </a:p>
        </p:txBody>
      </p:sp>
      <p:sp>
        <p:nvSpPr>
          <p:cNvPr id="12" name="Text 4"/>
          <p:cNvSpPr/>
          <p:nvPr>
            <p:ph idx="110" type="body" hasCustomPrompt="1"/>
          </p:nvPr>
        </p:nvSpPr>
        <p:spPr>
          <a:xfrm>
            <a:off x="762000" y="5705475"/>
            <a:ext cx="5257800" cy="2286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50000"/>
              </a:lnSpc>
              <a:buNone/>
              <a:defRPr lang="ko-KR" altLang="en-US" sz="12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50000"/>
              </a:lnSpc>
              <a:buNone/>
            </a:pPr>
            <a:r>
              <a:rPr lang="ko-KR" altLang="en-US" sz="12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캡션 한 줄</a:t>
            </a:r>
            <a:endParaRPr lang="ko-KR" sz="1200" dirty="0"/>
          </a:p>
        </p:txBody>
      </p:sp>
      <p:sp>
        <p:nvSpPr>
          <p:cNvPr id="13" name="Text 4"/>
          <p:cNvSpPr/>
          <p:nvPr>
            <p:ph idx="111" type="body" hasCustomPrompt="1"/>
          </p:nvPr>
        </p:nvSpPr>
        <p:spPr>
          <a:xfrm>
            <a:off x="6172200" y="2038350"/>
            <a:ext cx="5257800" cy="177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ko-KR" altLang="en-US" sz="1000" spc="100" kern="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buNone/>
            </a:pPr>
            <a:r>
              <a:rPr lang="ko-KR" altLang="en-US" sz="1000" spc="100" kern="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AFTER</a:t>
            </a:r>
            <a:endParaRPr lang="ko-KR" sz="1000" dirty="0"/>
          </a:p>
        </p:txBody>
      </p:sp>
      <p:sp>
        <p:nvSpPr>
          <p:cNvPr id="14" name="Shape 4"/>
          <p:cNvSpPr/>
          <p:nvPr/>
        </p:nvSpPr>
        <p:spPr>
          <a:xfrm>
            <a:off x="6172200" y="2292350"/>
            <a:ext cx="5257800" cy="3286125"/>
          </a:xfrm>
          <a:prstGeom prst="rect">
            <a:avLst/>
          </a:prstGeom>
          <a:solidFill>
            <a:srgbClr val="1C1C1F"/>
          </a:solidFill>
          <a:ln w="12700">
            <a:solidFill>
              <a:srgbClr val="1C1C1F"/>
            </a:solidFill>
            <a:prstDash val="solid"/>
          </a:ln>
        </p:spPr>
      </p:sp>
      <p:sp>
        <p:nvSpPr>
          <p:cNvPr id="15" name="Text 5"/>
          <p:cNvSpPr txBox="1"/>
          <p:nvPr/>
        </p:nvSpPr>
        <p:spPr>
          <a:xfrm>
            <a:off x="6299200" y="5273675"/>
            <a:ext cx="50038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이후 결과 (16:10)</a:t>
            </a:r>
            <a:endParaRPr lang="ko-KR" sz="900" dirty="0"/>
          </a:p>
        </p:txBody>
      </p:sp>
      <p:sp>
        <p:nvSpPr>
          <p:cNvPr id="16" name="Text 6"/>
          <p:cNvSpPr/>
          <p:nvPr>
            <p:ph idx="114" hasCustomPrompt="1"/>
          </p:nvPr>
        </p:nvSpPr>
        <p:spPr>
          <a:xfrm>
            <a:off x="6172200" y="2292350"/>
            <a:ext cx="5257800" cy="3286125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dirty="0"/>
            </a:lvl1pPr>
          </a:lstStyle>
          <a:p>
            <a:pPr indent="0" marL="0">
              <a:buNone/>
            </a:pPr>
            <a:endParaRPr lang="en-US" dirty="0"/>
          </a:p>
        </p:txBody>
      </p:sp>
      <p:sp>
        <p:nvSpPr>
          <p:cNvPr id="17" name="Text 6"/>
          <p:cNvSpPr/>
          <p:nvPr>
            <p:ph idx="115" type="body" hasCustomPrompt="1"/>
          </p:nvPr>
        </p:nvSpPr>
        <p:spPr>
          <a:xfrm>
            <a:off x="6172200" y="5705475"/>
            <a:ext cx="5257800" cy="2286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50000"/>
              </a:lnSpc>
              <a:buNone/>
              <a:defRPr lang="ko-KR" altLang="en-US" sz="12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50000"/>
              </a:lnSpc>
              <a:buNone/>
            </a:pPr>
            <a:r>
              <a:rPr lang="ko-KR" altLang="en-US" sz="12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캡션 한 줄</a:t>
            </a:r>
            <a:endParaRPr lang="ko-KR" sz="1200" dirty="0"/>
          </a:p>
        </p:txBody>
      </p:sp>
      <p:sp>
        <p:nvSpPr>
          <p:cNvPr id="18" name="Shape 6"/>
          <p:cNvSpPr/>
          <p:nvPr/>
        </p:nvSpPr>
        <p:spPr>
          <a:xfrm>
            <a:off x="762000" y="6197600"/>
            <a:ext cx="10668000" cy="0"/>
          </a:xfrm>
          <a:prstGeom prst="line">
            <a:avLst/>
          </a:prstGeom>
          <a:noFill/>
          <a:ln w="9525">
            <a:solidFill>
              <a:srgbClr val="2E2E33"/>
            </a:solidFill>
            <a:prstDash val="solid"/>
          </a:ln>
        </p:spPr>
      </p:sp>
      <p:sp>
        <p:nvSpPr>
          <p:cNvPr id="19" name="Text 7"/>
          <p:cNvSpPr txBox="1"/>
          <p:nvPr/>
        </p:nvSpPr>
        <p:spPr>
          <a:xfrm>
            <a:off x="762000" y="6350000"/>
            <a:ext cx="5080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동서대학교 컴퓨터공학부 · Smart Generation Lab</a:t>
            </a:r>
            <a:endParaRPr lang="ko-KR" sz="1000" dirty="0"/>
          </a:p>
        </p:txBody>
      </p:sp>
      <p:pic>
        <p:nvPicPr>
          <p:cNvPr id="20" name="Image 1" descr="/home/runner/work/sglab-brand/sglab-brand/dist/png/dot-dark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09300" y="6413500"/>
            <a:ext cx="50800" cy="5080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49000" y="6350000"/>
            <a:ext cx="381000" cy="1778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A3A3AD"/>
                </a:solidFill>
                <a:latin typeface="Pretendard"/>
                <a:ea typeface="Pretendard"/>
                <a:cs typeface="Pretendard"/>
              </a:defRPr>
            </a:lvl1pPr>
          </a:lstStyle>
          <a:p>
            <a:pPr algn="r"/>
            <a:fld id="{F7021451-1387-4CA6-816F-3879F97B5CBC}" type="slidenum">
              <a:rPr b="0" lang="en-US"/>
              <a:t>1009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TATS">
    <p:bg>
      <p:bgPr>
        <a:solidFill>
          <a:srgbClr val="11111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runner/work/sglab-brand/sglab-brand/dist/png/sgl-mark-dark-512@2x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2000" y="355600"/>
            <a:ext cx="254000" cy="254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1130300" y="393700"/>
            <a:ext cx="3810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ko-KR" altLang="en-US" sz="1000" spc="100" kern="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SMART GENERATION LAB</a:t>
            </a:r>
            <a:endParaRPr lang="ko-KR" sz="1000" dirty="0"/>
          </a:p>
        </p:txBody>
      </p:sp>
      <p:sp>
        <p:nvSpPr>
          <p:cNvPr id="4" name="Text 1"/>
          <p:cNvSpPr/>
          <p:nvPr>
            <p:ph idx="102" type="body" hasCustomPrompt="1"/>
          </p:nvPr>
        </p:nvSpPr>
        <p:spPr>
          <a:xfrm>
            <a:off x="7975600" y="393700"/>
            <a:ext cx="3454400" cy="177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r" indent="0" marL="0">
              <a:buNone/>
              <a:defRPr lang="ko-KR" altLang="en-US" sz="1000" spc="100" kern="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r" indent="0" marL="0">
              <a:buNone/>
            </a:pPr>
            <a:r>
              <a:rPr lang="ko-KR" altLang="en-US" sz="1000" spc="100" kern="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  RESULTS</a:t>
            </a:r>
            <a:endParaRPr lang="ko-KR" sz="1000" dirty="0"/>
          </a:p>
        </p:txBody>
      </p:sp>
      <p:sp>
        <p:nvSpPr>
          <p:cNvPr id="5" name="Shape 1"/>
          <p:cNvSpPr/>
          <p:nvPr/>
        </p:nvSpPr>
        <p:spPr>
          <a:xfrm>
            <a:off x="762000" y="787400"/>
            <a:ext cx="10668000" cy="0"/>
          </a:xfrm>
          <a:prstGeom prst="line">
            <a:avLst/>
          </a:prstGeom>
          <a:noFill/>
          <a:ln w="9525">
            <a:solidFill>
              <a:srgbClr val="2E2E33"/>
            </a:solidFill>
            <a:prstDash val="solid"/>
          </a:ln>
        </p:spPr>
      </p:sp>
      <p:sp>
        <p:nvSpPr>
          <p:cNvPr id="6" name="Text 2"/>
          <p:cNvSpPr/>
          <p:nvPr>
            <p:ph idx="104" type="title" hasCustomPrompt="1"/>
          </p:nvPr>
        </p:nvSpPr>
        <p:spPr>
          <a:xfrm>
            <a:off x="762000" y="1193800"/>
            <a:ext cx="7061200" cy="43815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15000"/>
              </a:lnSpc>
              <a:buNone/>
              <a:defRPr lang="ko-KR" altLang="en-US" sz="3000" spc="-90" kern="0" dirty="0">
                <a:solidFill>
                  <a:srgbClr val="F4F3F0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defRPr>
            </a:lvl1pPr>
          </a:lstStyle>
          <a:p>
            <a:pPr algn="l" indent="0" marL="0">
              <a:lnSpc>
                <a:spcPct val="115000"/>
              </a:lnSpc>
              <a:buNone/>
            </a:pPr>
            <a:r>
              <a:rPr lang="ko-KR" altLang="en-US" sz="3000" spc="-90" kern="0" dirty="0">
                <a:solidFill>
                  <a:srgbClr val="F4F3F0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핵심 수치</a:t>
            </a:r>
            <a:endParaRPr lang="ko-KR" sz="3000" dirty="0"/>
          </a:p>
        </p:txBody>
      </p:sp>
      <p:sp>
        <p:nvSpPr>
          <p:cNvPr id="7" name="Text 2"/>
          <p:cNvSpPr/>
          <p:nvPr>
            <p:ph idx="105" type="body" hasCustomPrompt="1"/>
          </p:nvPr>
        </p:nvSpPr>
        <p:spPr>
          <a:xfrm>
            <a:off x="7975600" y="939800"/>
            <a:ext cx="3454400" cy="65405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50000"/>
              </a:lnSpc>
              <a:buNone/>
              <a:defRPr lang="ko-KR" altLang="en-US" sz="13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50000"/>
              </a:lnSpc>
              <a:buNone/>
            </a:pPr>
            <a:r>
              <a:rPr lang="ko-KR" altLang="en-US" sz="13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비교 대상 하나, 지표 셋</a:t>
            </a:r>
            <a:endParaRPr lang="ko-KR" sz="1300" dirty="0"/>
          </a:p>
        </p:txBody>
      </p:sp>
      <p:sp>
        <p:nvSpPr>
          <p:cNvPr id="8" name="Shape 2"/>
          <p:cNvSpPr/>
          <p:nvPr/>
        </p:nvSpPr>
        <p:spPr>
          <a:xfrm>
            <a:off x="762000" y="2292350"/>
            <a:ext cx="3302000" cy="0"/>
          </a:xfrm>
          <a:prstGeom prst="line">
            <a:avLst/>
          </a:prstGeom>
          <a:noFill/>
          <a:ln w="9525">
            <a:solidFill>
              <a:srgbClr val="2E2E33"/>
            </a:solidFill>
            <a:prstDash val="solid"/>
          </a:ln>
        </p:spPr>
      </p:sp>
      <p:sp>
        <p:nvSpPr>
          <p:cNvPr id="9" name="Text 3"/>
          <p:cNvSpPr/>
          <p:nvPr>
            <p:ph idx="107" type="body" hasCustomPrompt="1"/>
          </p:nvPr>
        </p:nvSpPr>
        <p:spPr>
          <a:xfrm>
            <a:off x="762000" y="2495550"/>
            <a:ext cx="3302000" cy="9525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00000"/>
              </a:lnSpc>
              <a:buNone/>
              <a:defRPr lang="ko-KR" altLang="en-US" sz="7500" spc="-375" kern="0" dirty="0">
                <a:solidFill>
                  <a:srgbClr val="F4F3F0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defRPr>
            </a:lvl1pPr>
          </a:lstStyle>
          <a:p>
            <a:pPr algn="l" indent="0" marL="0">
              <a:lnSpc>
                <a:spcPct val="100000"/>
              </a:lnSpc>
              <a:buNone/>
            </a:pPr>
            <a:r>
              <a:rPr lang="ko-KR" altLang="en-US" sz="7500" spc="-375" kern="0" dirty="0">
                <a:solidFill>
                  <a:srgbClr val="F4F3F0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0.92</a:t>
            </a:r>
            <a:endParaRPr lang="ko-KR" sz="7500" dirty="0"/>
          </a:p>
        </p:txBody>
      </p:sp>
      <p:sp>
        <p:nvSpPr>
          <p:cNvPr id="10" name="Text 3"/>
          <p:cNvSpPr/>
          <p:nvPr>
            <p:ph idx="108" type="body" hasCustomPrompt="1"/>
          </p:nvPr>
        </p:nvSpPr>
        <p:spPr>
          <a:xfrm>
            <a:off x="762000" y="3600450"/>
            <a:ext cx="3302000" cy="177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ko-KR" altLang="en-US" sz="1000" spc="100" kern="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buNone/>
            </a:pPr>
            <a:r>
              <a:rPr lang="ko-KR" altLang="en-US" sz="1000" spc="100" kern="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FVD ↓</a:t>
            </a:r>
            <a:endParaRPr lang="ko-KR" sz="1000" dirty="0"/>
          </a:p>
        </p:txBody>
      </p:sp>
      <p:sp>
        <p:nvSpPr>
          <p:cNvPr id="11" name="Text 3"/>
          <p:cNvSpPr/>
          <p:nvPr>
            <p:ph idx="109" type="body" hasCustomPrompt="1"/>
          </p:nvPr>
        </p:nvSpPr>
        <p:spPr>
          <a:xfrm>
            <a:off x="762000" y="3879850"/>
            <a:ext cx="3302000" cy="5080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50000"/>
              </a:lnSpc>
              <a:buNone/>
              <a:defRPr lang="ko-KR" altLang="en-US" sz="12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50000"/>
              </a:lnSpc>
              <a:buNone/>
            </a:pPr>
            <a:r>
              <a:rPr lang="ko-KR" altLang="en-US" sz="12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지표 설명 한 줄 — 기준, 데이터셋, 조건.</a:t>
            </a:r>
            <a:endParaRPr lang="ko-KR" sz="1200" dirty="0"/>
          </a:p>
        </p:txBody>
      </p:sp>
      <p:sp>
        <p:nvSpPr>
          <p:cNvPr id="12" name="Shape 3"/>
          <p:cNvSpPr/>
          <p:nvPr/>
        </p:nvSpPr>
        <p:spPr>
          <a:xfrm>
            <a:off x="4368800" y="2292350"/>
            <a:ext cx="3302000" cy="0"/>
          </a:xfrm>
          <a:prstGeom prst="line">
            <a:avLst/>
          </a:prstGeom>
          <a:noFill/>
          <a:ln w="9525">
            <a:solidFill>
              <a:srgbClr val="2E2E33"/>
            </a:solidFill>
            <a:prstDash val="solid"/>
          </a:ln>
        </p:spPr>
      </p:sp>
      <p:sp>
        <p:nvSpPr>
          <p:cNvPr id="13" name="Text 4"/>
          <p:cNvSpPr/>
          <p:nvPr>
            <p:ph idx="111" type="body" hasCustomPrompt="1"/>
          </p:nvPr>
        </p:nvSpPr>
        <p:spPr>
          <a:xfrm>
            <a:off x="4368800" y="2495550"/>
            <a:ext cx="3302000" cy="9525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00000"/>
              </a:lnSpc>
              <a:buNone/>
              <a:defRPr lang="ko-KR" altLang="en-US" sz="7500" spc="-375" kern="0" dirty="0">
                <a:solidFill>
                  <a:srgbClr val="F4F3F0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defRPr>
            </a:lvl1pPr>
          </a:lstStyle>
          <a:p>
            <a:pPr algn="l" indent="0" marL="0">
              <a:lnSpc>
                <a:spcPct val="100000"/>
              </a:lnSpc>
              <a:buNone/>
            </a:pPr>
            <a:r>
              <a:rPr lang="ko-KR" altLang="en-US" sz="7500" spc="-375" kern="0" dirty="0">
                <a:solidFill>
                  <a:srgbClr val="F4F3F0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−38%</a:t>
            </a:r>
            <a:endParaRPr lang="ko-KR" sz="7500" dirty="0"/>
          </a:p>
        </p:txBody>
      </p:sp>
      <p:sp>
        <p:nvSpPr>
          <p:cNvPr id="14" name="Text 4"/>
          <p:cNvSpPr/>
          <p:nvPr>
            <p:ph idx="112" type="body" hasCustomPrompt="1"/>
          </p:nvPr>
        </p:nvSpPr>
        <p:spPr>
          <a:xfrm>
            <a:off x="4368800" y="3600450"/>
            <a:ext cx="3302000" cy="177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ko-KR" altLang="en-US" sz="1000" spc="100" kern="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buNone/>
            </a:pPr>
            <a:r>
              <a:rPr lang="ko-KR" altLang="en-US" sz="1000" spc="100" kern="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INFERENCE TIME</a:t>
            </a:r>
            <a:endParaRPr lang="ko-KR" sz="1000" dirty="0"/>
          </a:p>
        </p:txBody>
      </p:sp>
      <p:sp>
        <p:nvSpPr>
          <p:cNvPr id="15" name="Text 4"/>
          <p:cNvSpPr/>
          <p:nvPr>
            <p:ph idx="113" type="body" hasCustomPrompt="1"/>
          </p:nvPr>
        </p:nvSpPr>
        <p:spPr>
          <a:xfrm>
            <a:off x="4368800" y="3879850"/>
            <a:ext cx="3302000" cy="5080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50000"/>
              </a:lnSpc>
              <a:buNone/>
              <a:defRPr lang="ko-KR" altLang="en-US" sz="12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50000"/>
              </a:lnSpc>
              <a:buNone/>
            </a:pPr>
            <a:r>
              <a:rPr lang="ko-KR" altLang="en-US" sz="12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지표 설명 한 줄 — 기준, 데이터셋, 조건.</a:t>
            </a:r>
            <a:endParaRPr lang="ko-KR" sz="1200" dirty="0"/>
          </a:p>
        </p:txBody>
      </p:sp>
      <p:sp>
        <p:nvSpPr>
          <p:cNvPr id="16" name="Shape 4"/>
          <p:cNvSpPr/>
          <p:nvPr/>
        </p:nvSpPr>
        <p:spPr>
          <a:xfrm>
            <a:off x="7975600" y="2292350"/>
            <a:ext cx="3302000" cy="0"/>
          </a:xfrm>
          <a:prstGeom prst="line">
            <a:avLst/>
          </a:prstGeom>
          <a:noFill/>
          <a:ln w="9525">
            <a:solidFill>
              <a:srgbClr val="2E2E33"/>
            </a:solidFill>
            <a:prstDash val="solid"/>
          </a:ln>
        </p:spPr>
      </p:sp>
      <p:sp>
        <p:nvSpPr>
          <p:cNvPr id="17" name="Text 5"/>
          <p:cNvSpPr/>
          <p:nvPr>
            <p:ph idx="115" type="body" hasCustomPrompt="1"/>
          </p:nvPr>
        </p:nvSpPr>
        <p:spPr>
          <a:xfrm>
            <a:off x="7975600" y="2495550"/>
            <a:ext cx="3302000" cy="9525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00000"/>
              </a:lnSpc>
              <a:buNone/>
              <a:defRPr lang="ko-KR" altLang="en-US" sz="7500" spc="-375" kern="0" dirty="0">
                <a:solidFill>
                  <a:srgbClr val="F4F3F0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defRPr>
            </a:lvl1pPr>
          </a:lstStyle>
          <a:p>
            <a:pPr algn="l" indent="0" marL="0">
              <a:lnSpc>
                <a:spcPct val="100000"/>
              </a:lnSpc>
              <a:buNone/>
            </a:pPr>
            <a:r>
              <a:rPr lang="ko-KR" altLang="en-US" sz="7500" spc="-375" kern="0" dirty="0">
                <a:solidFill>
                  <a:srgbClr val="F4F3F0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4×</a:t>
            </a:r>
            <a:endParaRPr lang="ko-KR" sz="7500" dirty="0"/>
          </a:p>
        </p:txBody>
      </p:sp>
      <p:sp>
        <p:nvSpPr>
          <p:cNvPr id="18" name="Text 5"/>
          <p:cNvSpPr/>
          <p:nvPr>
            <p:ph idx="116" type="body" hasCustomPrompt="1"/>
          </p:nvPr>
        </p:nvSpPr>
        <p:spPr>
          <a:xfrm>
            <a:off x="7975600" y="3600450"/>
            <a:ext cx="3302000" cy="177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ko-KR" altLang="en-US" sz="1000" spc="100" kern="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buNone/>
            </a:pPr>
            <a:r>
              <a:rPr lang="ko-KR" altLang="en-US" sz="1000" spc="100" kern="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THROUGHPUT</a:t>
            </a:r>
            <a:endParaRPr lang="ko-KR" sz="1000" dirty="0"/>
          </a:p>
        </p:txBody>
      </p:sp>
      <p:sp>
        <p:nvSpPr>
          <p:cNvPr id="19" name="Text 5"/>
          <p:cNvSpPr/>
          <p:nvPr>
            <p:ph idx="117" type="body" hasCustomPrompt="1"/>
          </p:nvPr>
        </p:nvSpPr>
        <p:spPr>
          <a:xfrm>
            <a:off x="7975600" y="3879850"/>
            <a:ext cx="3302000" cy="5080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50000"/>
              </a:lnSpc>
              <a:buNone/>
              <a:defRPr lang="ko-KR" altLang="en-US" sz="12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50000"/>
              </a:lnSpc>
              <a:buNone/>
            </a:pPr>
            <a:r>
              <a:rPr lang="ko-KR" altLang="en-US" sz="12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지표 설명 한 줄 — 기준, 데이터셋, 조건.</a:t>
            </a:r>
            <a:endParaRPr lang="ko-KR" sz="1200" dirty="0"/>
          </a:p>
        </p:txBody>
      </p:sp>
      <p:sp>
        <p:nvSpPr>
          <p:cNvPr id="20" name="Shape 5"/>
          <p:cNvSpPr/>
          <p:nvPr/>
        </p:nvSpPr>
        <p:spPr>
          <a:xfrm>
            <a:off x="762000" y="6197600"/>
            <a:ext cx="10668000" cy="0"/>
          </a:xfrm>
          <a:prstGeom prst="line">
            <a:avLst/>
          </a:prstGeom>
          <a:noFill/>
          <a:ln w="9525">
            <a:solidFill>
              <a:srgbClr val="2E2E33"/>
            </a:solidFill>
            <a:prstDash val="solid"/>
          </a:ln>
        </p:spPr>
      </p:sp>
      <p:sp>
        <p:nvSpPr>
          <p:cNvPr id="21" name="Text 6"/>
          <p:cNvSpPr txBox="1"/>
          <p:nvPr/>
        </p:nvSpPr>
        <p:spPr>
          <a:xfrm>
            <a:off x="762000" y="6350000"/>
            <a:ext cx="5080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동서대학교 컴퓨터공학부 · Smart Generation Lab</a:t>
            </a:r>
            <a:endParaRPr lang="ko-KR" sz="1000" dirty="0"/>
          </a:p>
        </p:txBody>
      </p:sp>
      <p:pic>
        <p:nvPicPr>
          <p:cNvPr id="22" name="Image 1" descr="/home/runner/work/sglab-brand/sglab-brand/dist/png/dot-dark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09300" y="6413500"/>
            <a:ext cx="50800" cy="5080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49000" y="6350000"/>
            <a:ext cx="381000" cy="1778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A3A3AD"/>
                </a:solidFill>
                <a:latin typeface="Pretendard"/>
                <a:ea typeface="Pretendard"/>
                <a:cs typeface="Pretendard"/>
              </a:defRPr>
            </a:lvl1pPr>
          </a:lstStyle>
          <a:p>
            <a:pPr algn="r"/>
            <a:fld id="{F7021451-1387-4CA6-816F-3879F97B5CBC}" type="slidenum">
              <a:rPr b="0" lang="en-US"/>
              <a:t>1010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TATEMENT">
    <p:bg>
      <p:bgPr>
        <a:solidFill>
          <a:srgbClr val="11111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runner/work/sglab-brand/sglab-brand/dist/png/sgl-mark-dark-512@2x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2000" y="355600"/>
            <a:ext cx="254000" cy="254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1130300" y="393700"/>
            <a:ext cx="3810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ko-KR" altLang="en-US" sz="1000" spc="100" kern="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SMART GENERATION LAB</a:t>
            </a:r>
            <a:endParaRPr lang="ko-KR" sz="1000" dirty="0"/>
          </a:p>
        </p:txBody>
      </p:sp>
      <p:sp>
        <p:nvSpPr>
          <p:cNvPr id="4" name="Text 1"/>
          <p:cNvSpPr/>
          <p:nvPr>
            <p:ph idx="102" type="body" hasCustomPrompt="1"/>
          </p:nvPr>
        </p:nvSpPr>
        <p:spPr>
          <a:xfrm>
            <a:off x="7975600" y="393700"/>
            <a:ext cx="3454400" cy="177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r" indent="0" marL="0">
              <a:buNone/>
              <a:defRPr lang="ko-KR" altLang="en-US" sz="1000" spc="100" kern="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r" indent="0" marL="0">
              <a:buNone/>
            </a:pPr>
            <a:r>
              <a:rPr lang="ko-KR" altLang="en-US" sz="1000" spc="100" kern="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STATEMENT</a:t>
            </a:r>
            <a:endParaRPr lang="ko-KR" sz="1000" dirty="0"/>
          </a:p>
        </p:txBody>
      </p:sp>
      <p:sp>
        <p:nvSpPr>
          <p:cNvPr id="5" name="Shape 1"/>
          <p:cNvSpPr/>
          <p:nvPr/>
        </p:nvSpPr>
        <p:spPr>
          <a:xfrm>
            <a:off x="762000" y="787400"/>
            <a:ext cx="10668000" cy="0"/>
          </a:xfrm>
          <a:prstGeom prst="line">
            <a:avLst/>
          </a:prstGeom>
          <a:noFill/>
          <a:ln w="9525">
            <a:solidFill>
              <a:srgbClr val="2E2E33"/>
            </a:solidFill>
            <a:prstDash val="solid"/>
          </a:ln>
        </p:spPr>
      </p:sp>
      <p:sp>
        <p:nvSpPr>
          <p:cNvPr id="6" name="Text 2"/>
          <p:cNvSpPr/>
          <p:nvPr>
            <p:ph idx="104" type="body" hasCustomPrompt="1"/>
          </p:nvPr>
        </p:nvSpPr>
        <p:spPr>
          <a:xfrm>
            <a:off x="762000" y="2286000"/>
            <a:ext cx="3810000" cy="20955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ko-KR" altLang="en-US" sz="1100" spc="110" kern="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buNone/>
            </a:pPr>
            <a:r>
              <a:rPr lang="ko-KR" altLang="en-US" sz="1100" spc="110" kern="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00  KEY IDEA</a:t>
            </a:r>
            <a:endParaRPr lang="ko-KR" sz="1100" dirty="0"/>
          </a:p>
        </p:txBody>
      </p:sp>
      <p:sp>
        <p:nvSpPr>
          <p:cNvPr id="7" name="Text 2"/>
          <p:cNvSpPr/>
          <p:nvPr>
            <p:ph idx="105" type="title" hasCustomPrompt="1"/>
          </p:nvPr>
        </p:nvSpPr>
        <p:spPr>
          <a:xfrm>
            <a:off x="762000" y="2774950"/>
            <a:ext cx="8890000" cy="12852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10000"/>
              </a:lnSpc>
              <a:buNone/>
              <a:defRPr lang="ko-KR" altLang="en-US" sz="4600" spc="-161" kern="0" dirty="0">
                <a:solidFill>
                  <a:srgbClr val="F4F3F0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defRPr>
            </a:lvl1pPr>
          </a:lstStyle>
          <a:p>
            <a:pPr algn="l" indent="0" marL="0">
              <a:lnSpc>
                <a:spcPct val="110000"/>
              </a:lnSpc>
              <a:buNone/>
            </a:pPr>
            <a:r>
              <a:rPr lang="ko-KR" altLang="en-US" sz="4600" spc="-161" kern="0" dirty="0">
                <a:solidFill>
                  <a:srgbClr val="F4F3F0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Generation,</a:t>
            </a:r>
            <a:endParaRPr lang="ko-KR" sz="4600" dirty="0"/>
          </a:p>
          <a:p>
            <a:pPr algn="l" indent="0" marL="0">
              <a:lnSpc>
                <a:spcPct val="110000"/>
              </a:lnSpc>
              <a:buNone/>
            </a:pPr>
            <a:r>
              <a:rPr lang="ko-KR" altLang="en-US" sz="4600" spc="-161" kern="0" dirty="0">
                <a:solidFill>
                  <a:srgbClr val="F4F3F0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두 가지 뜻.</a:t>
            </a:r>
            <a:endParaRPr lang="ko-KR" sz="4600" dirty="0"/>
          </a:p>
        </p:txBody>
      </p:sp>
      <p:sp>
        <p:nvSpPr>
          <p:cNvPr id="8" name="Text 2"/>
          <p:cNvSpPr/>
          <p:nvPr>
            <p:ph idx="106" type="body" hasCustomPrompt="1"/>
          </p:nvPr>
        </p:nvSpPr>
        <p:spPr>
          <a:xfrm>
            <a:off x="762000" y="4343400"/>
            <a:ext cx="7620000" cy="304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50000"/>
              </a:lnSpc>
              <a:buNone/>
              <a:defRPr lang="ko-KR" altLang="en-US" sz="16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50000"/>
              </a:lnSpc>
              <a:buNone/>
            </a:pPr>
            <a:r>
              <a:rPr lang="ko-KR" altLang="en-US" sz="16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모델이 만드는 생성과, 그것을 배우는 세대. 둘 다 이 랩의 일입니다.</a:t>
            </a:r>
            <a:endParaRPr lang="ko-KR" sz="1600" dirty="0"/>
          </a:p>
        </p:txBody>
      </p:sp>
      <p:sp>
        <p:nvSpPr>
          <p:cNvPr id="9" name="Shape 2"/>
          <p:cNvSpPr/>
          <p:nvPr/>
        </p:nvSpPr>
        <p:spPr>
          <a:xfrm>
            <a:off x="762000" y="6197600"/>
            <a:ext cx="10668000" cy="0"/>
          </a:xfrm>
          <a:prstGeom prst="line">
            <a:avLst/>
          </a:prstGeom>
          <a:noFill/>
          <a:ln w="9525">
            <a:solidFill>
              <a:srgbClr val="2E2E33"/>
            </a:solidFill>
            <a:prstDash val="solid"/>
          </a:ln>
        </p:spPr>
      </p:sp>
      <p:sp>
        <p:nvSpPr>
          <p:cNvPr id="10" name="Text 3"/>
          <p:cNvSpPr txBox="1"/>
          <p:nvPr/>
        </p:nvSpPr>
        <p:spPr>
          <a:xfrm>
            <a:off x="762000" y="6350000"/>
            <a:ext cx="5080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동서대학교 컴퓨터공학부 · Smart Generation Lab</a:t>
            </a:r>
            <a:endParaRPr lang="ko-KR" sz="1000" dirty="0"/>
          </a:p>
        </p:txBody>
      </p:sp>
      <p:pic>
        <p:nvPicPr>
          <p:cNvPr id="11" name="Image 1" descr="/home/runner/work/sglab-brand/sglab-brand/dist/png/dot-dark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09300" y="6413500"/>
            <a:ext cx="50800" cy="5080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49000" y="6350000"/>
            <a:ext cx="381000" cy="1778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A3A3AD"/>
                </a:solidFill>
                <a:latin typeface="Pretendard"/>
                <a:ea typeface="Pretendard"/>
                <a:cs typeface="Pretendard"/>
              </a:defRPr>
            </a:lvl1pPr>
          </a:lstStyle>
          <a:p>
            <a:pPr algn="r"/>
            <a:fld id="{F7021451-1387-4CA6-816F-3879F97B5CBC}" type="slidenum">
              <a:rPr b="0" lang="en-US"/>
              <a:t>1011</a:t>
            </a:fld>
            <a:endParaRPr lang="en-US"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ABLE">
    <p:bg>
      <p:bgPr>
        <a:solidFill>
          <a:srgbClr val="11111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runner/work/sglab-brand/sglab-brand/dist/png/sgl-mark-dark-512@2x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2000" y="355600"/>
            <a:ext cx="254000" cy="254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1130300" y="393700"/>
            <a:ext cx="3810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ko-KR" altLang="en-US" sz="1000" spc="100" kern="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SMART GENERATION LAB</a:t>
            </a:r>
            <a:endParaRPr lang="ko-KR" sz="1000" dirty="0"/>
          </a:p>
        </p:txBody>
      </p:sp>
      <p:sp>
        <p:nvSpPr>
          <p:cNvPr id="4" name="Text 1"/>
          <p:cNvSpPr/>
          <p:nvPr>
            <p:ph idx="102" type="body" hasCustomPrompt="1"/>
          </p:nvPr>
        </p:nvSpPr>
        <p:spPr>
          <a:xfrm>
            <a:off x="7975600" y="393700"/>
            <a:ext cx="3454400" cy="177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r" indent="0" marL="0">
              <a:buNone/>
              <a:defRPr lang="ko-KR" altLang="en-US" sz="1000" spc="100" kern="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r" indent="0" marL="0">
              <a:buNone/>
            </a:pPr>
            <a:r>
              <a:rPr lang="ko-KR" altLang="en-US" sz="1000" spc="100" kern="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  RESULTS</a:t>
            </a:r>
            <a:endParaRPr lang="ko-KR" sz="1000" dirty="0"/>
          </a:p>
        </p:txBody>
      </p:sp>
      <p:sp>
        <p:nvSpPr>
          <p:cNvPr id="5" name="Shape 1"/>
          <p:cNvSpPr/>
          <p:nvPr/>
        </p:nvSpPr>
        <p:spPr>
          <a:xfrm>
            <a:off x="762000" y="787400"/>
            <a:ext cx="10668000" cy="0"/>
          </a:xfrm>
          <a:prstGeom prst="line">
            <a:avLst/>
          </a:prstGeom>
          <a:noFill/>
          <a:ln w="9525">
            <a:solidFill>
              <a:srgbClr val="2E2E33"/>
            </a:solidFill>
            <a:prstDash val="solid"/>
          </a:ln>
        </p:spPr>
      </p:sp>
      <p:sp>
        <p:nvSpPr>
          <p:cNvPr id="6" name="Text 2"/>
          <p:cNvSpPr/>
          <p:nvPr>
            <p:ph idx="104" type="title" hasCustomPrompt="1"/>
          </p:nvPr>
        </p:nvSpPr>
        <p:spPr>
          <a:xfrm>
            <a:off x="762000" y="1193800"/>
            <a:ext cx="7061200" cy="43815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15000"/>
              </a:lnSpc>
              <a:buNone/>
              <a:defRPr lang="ko-KR" altLang="en-US" sz="3000" spc="-90" kern="0" dirty="0">
                <a:solidFill>
                  <a:srgbClr val="F4F3F0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defRPr>
            </a:lvl1pPr>
          </a:lstStyle>
          <a:p>
            <a:pPr algn="l" indent="0" marL="0">
              <a:lnSpc>
                <a:spcPct val="115000"/>
              </a:lnSpc>
              <a:buNone/>
            </a:pPr>
            <a:r>
              <a:rPr lang="ko-KR" altLang="en-US" sz="3000" spc="-90" kern="0" dirty="0">
                <a:solidFill>
                  <a:srgbClr val="F4F3F0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정량 비교</a:t>
            </a:r>
            <a:endParaRPr lang="ko-KR" sz="3000" dirty="0"/>
          </a:p>
        </p:txBody>
      </p:sp>
      <p:sp>
        <p:nvSpPr>
          <p:cNvPr id="7" name="Text 2"/>
          <p:cNvSpPr/>
          <p:nvPr>
            <p:ph idx="105" type="body" hasCustomPrompt="1"/>
          </p:nvPr>
        </p:nvSpPr>
        <p:spPr>
          <a:xfrm>
            <a:off x="7975600" y="939800"/>
            <a:ext cx="3454400" cy="65405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50000"/>
              </a:lnSpc>
              <a:buNone/>
              <a:defRPr lang="ko-KR" altLang="en-US" sz="13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50000"/>
              </a:lnSpc>
              <a:buNone/>
            </a:pPr>
            <a:r>
              <a:rPr lang="ko-KR" altLang="en-US" sz="13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표는 룰만 사용 — 셀 채움 없음</a:t>
            </a:r>
            <a:endParaRPr lang="ko-KR" sz="1300" dirty="0"/>
          </a:p>
        </p:txBody>
      </p:sp>
      <p:sp>
        <p:nvSpPr>
          <p:cNvPr id="8" name="Text 2"/>
          <p:cNvSpPr/>
          <p:nvPr>
            <p:ph idx="106" type="body" hasCustomPrompt="1"/>
          </p:nvPr>
        </p:nvSpPr>
        <p:spPr>
          <a:xfrm>
            <a:off x="762000" y="5784850"/>
            <a:ext cx="10668000" cy="20955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50000"/>
              </a:lnSpc>
              <a:buNone/>
              <a:defRPr lang="ko-KR" altLang="en-US" sz="11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50000"/>
              </a:lnSpc>
              <a:buNone/>
            </a:pPr>
            <a:r>
              <a:rPr lang="ko-KR" altLang="en-US" sz="11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표 캡션 — 데이터셋, 측정 조건, 굵게 = 최고 성능</a:t>
            </a:r>
            <a:endParaRPr lang="ko-KR" sz="1100" dirty="0"/>
          </a:p>
        </p:txBody>
      </p:sp>
      <p:sp>
        <p:nvSpPr>
          <p:cNvPr id="9" name="Shape 2"/>
          <p:cNvSpPr/>
          <p:nvPr/>
        </p:nvSpPr>
        <p:spPr>
          <a:xfrm>
            <a:off x="762000" y="6197600"/>
            <a:ext cx="10668000" cy="0"/>
          </a:xfrm>
          <a:prstGeom prst="line">
            <a:avLst/>
          </a:prstGeom>
          <a:noFill/>
          <a:ln w="9525">
            <a:solidFill>
              <a:srgbClr val="2E2E33"/>
            </a:solidFill>
            <a:prstDash val="solid"/>
          </a:ln>
        </p:spPr>
      </p:sp>
      <p:sp>
        <p:nvSpPr>
          <p:cNvPr id="10" name="Text 3"/>
          <p:cNvSpPr txBox="1"/>
          <p:nvPr/>
        </p:nvSpPr>
        <p:spPr>
          <a:xfrm>
            <a:off x="762000" y="6350000"/>
            <a:ext cx="5080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동서대학교 컴퓨터공학부 · Smart Generation Lab</a:t>
            </a:r>
            <a:endParaRPr lang="ko-KR" sz="1000" dirty="0"/>
          </a:p>
        </p:txBody>
      </p:sp>
      <p:pic>
        <p:nvPicPr>
          <p:cNvPr id="11" name="Image 1" descr="/home/runner/work/sglab-brand/sglab-brand/dist/png/dot-dark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09300" y="6413500"/>
            <a:ext cx="50800" cy="5080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49000" y="6350000"/>
            <a:ext cx="381000" cy="1778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A3A3AD"/>
                </a:solidFill>
                <a:latin typeface="Pretendard"/>
                <a:ea typeface="Pretendard"/>
                <a:cs typeface="Pretendard"/>
              </a:defRPr>
            </a:lvl1pPr>
          </a:lstStyle>
          <a:p>
            <a:pPr algn="r"/>
            <a:fld id="{F7021451-1387-4CA6-816F-3879F97B5CBC}" type="slidenum">
              <a:rPr b="0" lang="en-US"/>
              <a:t>1012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49000" y="6350000"/>
            <a:ext cx="381000" cy="1778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A3A3AD"/>
                </a:solidFill>
                <a:latin typeface="Pretendard"/>
                <a:ea typeface="Pretendard"/>
                <a:cs typeface="Pretendard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3" type="body" hasCustomPrompt="1"/>
          </p:nvPr>
        </p:nvSpPr>
        <p:spPr>
          <a:xfrm>
            <a:off x="7975600" y="736600"/>
            <a:ext cx="34544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ko-KR" altLang="en-US" sz="1200" spc="72" kern="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2026 · 09</a:t>
            </a:r>
            <a:endParaRPr lang="ko-KR" sz="1200" dirty="0"/>
          </a:p>
        </p:txBody>
      </p:sp>
      <p:sp>
        <p:nvSpPr>
          <p:cNvPr id="3" name="Text 2"/>
          <p:cNvSpPr/>
          <p:nvPr>
            <p:ph idx="105" type="body" hasCustomPrompt="1"/>
          </p:nvPr>
        </p:nvSpPr>
        <p:spPr>
          <a:xfrm>
            <a:off x="762000" y="2950210"/>
            <a:ext cx="3810000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ko-KR" altLang="en-US" sz="1100" spc="110" kern="0" dirty="0">
                <a:solidFill>
                  <a:srgbClr val="C9A96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00</a:t>
            </a:r>
            <a:pPr algn="l" indent="0" marL="0">
              <a:buNone/>
            </a:pPr>
            <a:r>
              <a:rPr lang="ko-KR" altLang="en-US" sz="1100" spc="110" kern="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TITLE</a:t>
            </a:r>
            <a:endParaRPr lang="ko-KR" sz="1100" dirty="0"/>
          </a:p>
        </p:txBody>
      </p:sp>
      <p:sp>
        <p:nvSpPr>
          <p:cNvPr id="4" name="Text 2"/>
          <p:cNvSpPr/>
          <p:nvPr>
            <p:ph idx="106" type="title" hasCustomPrompt="1"/>
          </p:nvPr>
        </p:nvSpPr>
        <p:spPr>
          <a:xfrm>
            <a:off x="762000" y="3439160"/>
            <a:ext cx="6858000" cy="1285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ko-KR" altLang="en-US" sz="4600" spc="-161" kern="0" dirty="0">
                <a:solidFill>
                  <a:srgbClr val="F4F3F0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발표 제목 자리:</a:t>
            </a:r>
            <a:endParaRPr lang="ko-KR" sz="4600" dirty="0"/>
          </a:p>
          <a:p>
            <a:pPr algn="l" indent="0" marL="0">
              <a:lnSpc>
                <a:spcPct val="110000"/>
              </a:lnSpc>
              <a:buNone/>
            </a:pPr>
            <a:r>
              <a:rPr lang="ko-KR" altLang="en-US" sz="4600" spc="-161" kern="0" dirty="0">
                <a:solidFill>
                  <a:srgbClr val="F4F3F0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보는 것에서 만드는 것으로</a:t>
            </a:r>
            <a:endParaRPr lang="ko-KR" sz="4600" dirty="0"/>
          </a:p>
        </p:txBody>
      </p:sp>
      <p:sp>
        <p:nvSpPr>
          <p:cNvPr id="5" name="Text 2"/>
          <p:cNvSpPr/>
          <p:nvPr>
            <p:ph idx="107" type="body" hasCustomPrompt="1"/>
          </p:nvPr>
        </p:nvSpPr>
        <p:spPr>
          <a:xfrm>
            <a:off x="762000" y="5003800"/>
            <a:ext cx="68580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50000"/>
              </a:lnSpc>
              <a:buNone/>
            </a:pPr>
            <a:r>
              <a:rPr lang="ko-KR" altLang="en-US" sz="16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부제 또는 발표 맥락 한 줄 — 산학 미팅, 학생 세미나, 학회 발표</a:t>
            </a:r>
            <a:endParaRPr lang="ko-KR" sz="1600" dirty="0"/>
          </a:p>
        </p:txBody>
      </p:sp>
      <p:sp>
        <p:nvSpPr>
          <p:cNvPr id="6" name="Text 3"/>
          <p:cNvSpPr/>
          <p:nvPr>
            <p:ph idx="109" type="body" hasCustomPrompt="1"/>
          </p:nvPr>
        </p:nvSpPr>
        <p:spPr>
          <a:xfrm>
            <a:off x="762000" y="5867400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40000"/>
              </a:lnSpc>
              <a:buNone/>
            </a:pPr>
            <a:r>
              <a:rPr lang="ko-KR" altLang="en-US" sz="1300" dirty="0">
                <a:solidFill>
                  <a:srgbClr val="F4F3F0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이상걸 교수</a:t>
            </a:r>
            <a:pPr algn="l" indent="0" marL="0">
              <a:lnSpc>
                <a:spcPct val="140000"/>
              </a:lnSpc>
              <a:buNone/>
            </a:pPr>
            <a:r>
              <a:rPr lang="ko-KR" altLang="en-US" sz="13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  동서대학교 컴퓨터공학부(소프트웨어전공)</a:t>
            </a:r>
            <a:endParaRPr lang="ko-KR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body" hasCustomPrompt="1"/>
          </p:nvPr>
        </p:nvSpPr>
        <p:spPr>
          <a:xfrm>
            <a:off x="7975600" y="393700"/>
            <a:ext cx="34544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ko-KR" altLang="en-US" sz="1000" spc="100" kern="0" dirty="0">
                <a:solidFill>
                  <a:srgbClr val="C9A96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00</a:t>
            </a:r>
            <a:pPr algn="r" indent="0" marL="0">
              <a:buNone/>
            </a:pPr>
            <a:r>
              <a:rPr lang="ko-KR" altLang="en-US" sz="1000" spc="100" kern="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AGENDA</a:t>
            </a:r>
            <a:endParaRPr lang="ko-KR" sz="1000" dirty="0"/>
          </a:p>
        </p:txBody>
      </p:sp>
      <p:sp>
        <p:nvSpPr>
          <p:cNvPr id="3" name="Text 2"/>
          <p:cNvSpPr/>
          <p:nvPr>
            <p:ph idx="104" type="title" hasCustomPrompt="1"/>
          </p:nvPr>
        </p:nvSpPr>
        <p:spPr>
          <a:xfrm>
            <a:off x="762000" y="1193800"/>
            <a:ext cx="7061200" cy="43815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lnSpc>
                <a:spcPct val="115000"/>
              </a:lnSpc>
              <a:buNone/>
            </a:pPr>
            <a:r>
              <a:rPr lang="ko-KR" altLang="en-US" sz="3000" spc="-90" kern="0" dirty="0">
                <a:solidFill>
                  <a:srgbClr val="F4F3F0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목차</a:t>
            </a:r>
            <a:endParaRPr lang="ko-KR" sz="3000" dirty="0"/>
          </a:p>
        </p:txBody>
      </p:sp>
      <p:sp>
        <p:nvSpPr>
          <p:cNvPr id="4" name="Text 2"/>
          <p:cNvSpPr/>
          <p:nvPr>
            <p:ph idx="105" type="body" hasCustomPrompt="1"/>
          </p:nvPr>
        </p:nvSpPr>
        <p:spPr>
          <a:xfrm>
            <a:off x="7975600" y="939800"/>
            <a:ext cx="3454400" cy="65405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lnSpc>
                <a:spcPct val="150000"/>
              </a:lnSpc>
              <a:buNone/>
            </a:pPr>
            <a:r>
              <a:rPr lang="ko-KR" altLang="en-US" sz="13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오늘 다룰 다섯 가지</a:t>
            </a:r>
            <a:endParaRPr lang="ko-KR" sz="1300" dirty="0"/>
          </a:p>
        </p:txBody>
      </p:sp>
      <p:sp>
        <p:nvSpPr>
          <p:cNvPr id="5" name="Text 4"/>
          <p:cNvSpPr/>
          <p:nvPr>
            <p:ph idx="108" type="body" hasCustomPrompt="1"/>
          </p:nvPr>
        </p:nvSpPr>
        <p:spPr>
          <a:xfrm>
            <a:off x="1295400" y="2178050"/>
            <a:ext cx="5626100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ko-KR" altLang="en-US" sz="1500" dirty="0">
                <a:solidFill>
                  <a:srgbClr val="F4F3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연구 분야</a:t>
            </a:r>
            <a:endParaRPr lang="ko-KR" sz="1500" dirty="0"/>
          </a:p>
        </p:txBody>
      </p:sp>
      <p:sp>
        <p:nvSpPr>
          <p:cNvPr id="6" name="Text 6"/>
          <p:cNvSpPr/>
          <p:nvPr>
            <p:ph idx="111" type="body" hasCustomPrompt="1"/>
          </p:nvPr>
        </p:nvSpPr>
        <p:spPr>
          <a:xfrm>
            <a:off x="1295400" y="2705100"/>
            <a:ext cx="5626100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ko-KR" altLang="en-US" sz="1500" dirty="0">
                <a:solidFill>
                  <a:srgbClr val="F4F3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프로젝트 데모</a:t>
            </a:r>
            <a:endParaRPr lang="ko-KR" sz="1500" dirty="0"/>
          </a:p>
        </p:txBody>
      </p:sp>
      <p:sp>
        <p:nvSpPr>
          <p:cNvPr id="7" name="Text 8"/>
          <p:cNvSpPr/>
          <p:nvPr>
            <p:ph idx="114" type="body" hasCustomPrompt="1"/>
          </p:nvPr>
        </p:nvSpPr>
        <p:spPr>
          <a:xfrm>
            <a:off x="1295400" y="3232150"/>
            <a:ext cx="5626100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ko-KR" altLang="en-US" sz="1500" dirty="0">
                <a:solidFill>
                  <a:srgbClr val="F4F3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결과와 수치</a:t>
            </a:r>
            <a:endParaRPr lang="ko-KR" sz="1500" dirty="0"/>
          </a:p>
        </p:txBody>
      </p:sp>
      <p:sp>
        <p:nvSpPr>
          <p:cNvPr id="8" name="Text 10"/>
          <p:cNvSpPr/>
          <p:nvPr>
            <p:ph idx="117" type="body" hasCustomPrompt="1"/>
          </p:nvPr>
        </p:nvSpPr>
        <p:spPr>
          <a:xfrm>
            <a:off x="1295400" y="3759200"/>
            <a:ext cx="5626100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ko-KR" altLang="en-US" sz="1500" dirty="0">
                <a:solidFill>
                  <a:srgbClr val="F4F3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교육 커리큘럼</a:t>
            </a:r>
            <a:endParaRPr lang="ko-KR" sz="1500" dirty="0"/>
          </a:p>
        </p:txBody>
      </p:sp>
      <p:sp>
        <p:nvSpPr>
          <p:cNvPr id="9" name="Text 12"/>
          <p:cNvSpPr/>
          <p:nvPr>
            <p:ph idx="120" type="body" hasCustomPrompt="1"/>
          </p:nvPr>
        </p:nvSpPr>
        <p:spPr>
          <a:xfrm>
            <a:off x="1295400" y="4286250"/>
            <a:ext cx="5626100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ko-KR" altLang="en-US" sz="1500" dirty="0">
                <a:solidFill>
                  <a:srgbClr val="F4F3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함께 할 일</a:t>
            </a:r>
            <a:endParaRPr lang="ko-KR" sz="1500" dirty="0"/>
          </a:p>
        </p:txBody>
      </p:sp>
      <p:sp>
        <p:nvSpPr>
          <p:cNvPr id="10" name="Text 13"/>
          <p:cNvSpPr/>
          <p:nvPr>
            <p:ph idx="122" type="body" hasCustomPrompt="1"/>
          </p:nvPr>
        </p:nvSpPr>
        <p:spPr>
          <a:xfrm>
            <a:off x="7975600" y="2178050"/>
            <a:ext cx="3454400" cy="1905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50000"/>
              </a:lnSpc>
              <a:buNone/>
            </a:pPr>
            <a:r>
              <a:rPr lang="ko-KR" altLang="en-US" sz="12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발표 40분 · 질의 10분</a:t>
            </a:r>
            <a:endParaRPr lang="ko-KR" sz="1200" dirty="0"/>
          </a:p>
          <a:p>
            <a:pPr algn="l" indent="0" marL="0">
              <a:lnSpc>
                <a:spcPct val="150000"/>
              </a:lnSpc>
              <a:buNone/>
            </a:pPr>
            <a:r>
              <a:rPr lang="ko-KR" altLang="en-US" sz="12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자료: 홈페이지 주소 자리</a:t>
            </a:r>
            <a:endParaRPr lang="ko-KR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49000" y="6350000"/>
            <a:ext cx="381000" cy="1778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A3A3AD"/>
                </a:solidFill>
                <a:latin typeface="Pretendard"/>
                <a:ea typeface="Pretendard"/>
                <a:cs typeface="Pretendard"/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body" hasCustomPrompt="1"/>
          </p:nvPr>
        </p:nvSpPr>
        <p:spPr>
          <a:xfrm>
            <a:off x="7975600" y="393700"/>
            <a:ext cx="34544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ko-KR" altLang="en-US" sz="1000" spc="100" kern="0" dirty="0">
                <a:solidFill>
                  <a:srgbClr val="C9A96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</a:t>
            </a:r>
            <a:pPr algn="r" indent="0" marL="0">
              <a:buNone/>
            </a:pPr>
            <a:r>
              <a:rPr lang="ko-KR" altLang="en-US" sz="1000" spc="100" kern="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SECTION</a:t>
            </a:r>
            <a:endParaRPr lang="ko-KR" sz="1000" dirty="0"/>
          </a:p>
        </p:txBody>
      </p:sp>
      <p:sp>
        <p:nvSpPr>
          <p:cNvPr id="3" name="Text 2"/>
          <p:cNvSpPr/>
          <p:nvPr>
            <p:ph idx="104" type="body" hasCustomPrompt="1"/>
          </p:nvPr>
        </p:nvSpPr>
        <p:spPr>
          <a:xfrm>
            <a:off x="762000" y="1905000"/>
            <a:ext cx="25527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0000"/>
              </a:lnSpc>
              <a:buNone/>
            </a:pPr>
            <a:r>
              <a:rPr lang="ko-KR" altLang="en-US" sz="10000" spc="-500" kern="0" dirty="0">
                <a:solidFill>
                  <a:srgbClr val="F4F3F0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02</a:t>
            </a:r>
            <a:endParaRPr lang="ko-KR" sz="10000" dirty="0"/>
          </a:p>
        </p:txBody>
      </p:sp>
      <p:sp>
        <p:nvSpPr>
          <p:cNvPr id="4" name="Text 2"/>
          <p:cNvSpPr/>
          <p:nvPr>
            <p:ph idx="105" type="title" hasCustomPrompt="1"/>
          </p:nvPr>
        </p:nvSpPr>
        <p:spPr>
          <a:xfrm>
            <a:off x="4368800" y="2057400"/>
            <a:ext cx="70612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ko-KR" altLang="en-US" sz="4000" spc="-140" kern="0" dirty="0">
                <a:solidFill>
                  <a:srgbClr val="F4F3F0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프로젝트 데모</a:t>
            </a:r>
            <a:endParaRPr lang="ko-KR" sz="4000" dirty="0"/>
          </a:p>
        </p:txBody>
      </p:sp>
      <p:sp>
        <p:nvSpPr>
          <p:cNvPr id="5" name="Text 2"/>
          <p:cNvSpPr/>
          <p:nvPr>
            <p:ph idx="106" type="body" hasCustomPrompt="1"/>
          </p:nvPr>
        </p:nvSpPr>
        <p:spPr>
          <a:xfrm>
            <a:off x="4368800" y="2857500"/>
            <a:ext cx="57150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50000"/>
              </a:lnSpc>
              <a:buNone/>
            </a:pPr>
            <a:r>
              <a:rPr lang="ko-KR" altLang="en-US" sz="16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섹션 요약 한 줄 — 이 섹션이 답하는 질문 하나</a:t>
            </a:r>
            <a:endParaRPr lang="ko-KR" sz="1600" dirty="0"/>
          </a:p>
        </p:txBody>
      </p:sp>
      <p:sp>
        <p:nvSpPr>
          <p:cNvPr id="6" name="Text 3"/>
          <p:cNvSpPr/>
          <p:nvPr>
            <p:ph idx="108" type="body" hasCustomPrompt="1"/>
          </p:nvPr>
        </p:nvSpPr>
        <p:spPr>
          <a:xfrm>
            <a:off x="4368800" y="3657600"/>
            <a:ext cx="3403600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50000"/>
              </a:lnSpc>
              <a:buNone/>
            </a:pPr>
            <a:r>
              <a:rPr lang="ko-KR" altLang="en-US" sz="10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2.1</a:t>
            </a:r>
            <a:pPr algn="l" indent="0" marL="0">
              <a:lnSpc>
                <a:spcPct val="150000"/>
              </a:lnSpc>
              <a:buNone/>
            </a:pPr>
            <a:r>
              <a:rPr lang="ko-KR" altLang="en-US" sz="1300" dirty="0">
                <a:solidFill>
                  <a:srgbClr val="F4F3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 텍스트→영상 확산 모델</a:t>
            </a:r>
            <a:endParaRPr lang="ko-KR" sz="1300" dirty="0"/>
          </a:p>
        </p:txBody>
      </p:sp>
      <p:sp>
        <p:nvSpPr>
          <p:cNvPr id="7" name="Text 4"/>
          <p:cNvSpPr/>
          <p:nvPr>
            <p:ph idx="110" type="body" hasCustomPrompt="1"/>
          </p:nvPr>
        </p:nvSpPr>
        <p:spPr>
          <a:xfrm>
            <a:off x="8026400" y="3657600"/>
            <a:ext cx="3403600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50000"/>
              </a:lnSpc>
              <a:buNone/>
            </a:pPr>
            <a:r>
              <a:rPr lang="ko-KR" altLang="en-US" sz="10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2.2</a:t>
            </a:r>
            <a:pPr algn="l" indent="0" marL="0">
              <a:lnSpc>
                <a:spcPct val="150000"/>
              </a:lnSpc>
              <a:buNone/>
            </a:pPr>
            <a:r>
              <a:rPr lang="ko-KR" altLang="en-US" sz="1300" dirty="0">
                <a:solidFill>
                  <a:srgbClr val="F4F3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 조건부 이미지 합성</a:t>
            </a:r>
            <a:endParaRPr lang="ko-KR" sz="1300" dirty="0"/>
          </a:p>
        </p:txBody>
      </p:sp>
      <p:sp>
        <p:nvSpPr>
          <p:cNvPr id="8" name="Text 5"/>
          <p:cNvSpPr/>
          <p:nvPr>
            <p:ph idx="112" type="body" hasCustomPrompt="1"/>
          </p:nvPr>
        </p:nvSpPr>
        <p:spPr>
          <a:xfrm>
            <a:off x="4368800" y="4184650"/>
            <a:ext cx="3403600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50000"/>
              </a:lnSpc>
              <a:buNone/>
            </a:pPr>
            <a:r>
              <a:rPr lang="ko-KR" altLang="en-US" sz="10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2.3</a:t>
            </a:r>
            <a:pPr algn="l" indent="0" marL="0">
              <a:lnSpc>
                <a:spcPct val="150000"/>
              </a:lnSpc>
              <a:buNone/>
            </a:pPr>
            <a:r>
              <a:rPr lang="ko-KR" altLang="en-US" sz="1300" dirty="0">
                <a:solidFill>
                  <a:srgbClr val="F4F3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 LLM 에이전트 개발 도구</a:t>
            </a:r>
            <a:endParaRPr lang="ko-KR" sz="1300" dirty="0"/>
          </a:p>
        </p:txBody>
      </p:sp>
      <p:sp>
        <p:nvSpPr>
          <p:cNvPr id="9" name="Text 7"/>
          <p:cNvSpPr/>
          <p:nvPr>
            <p:ph idx="115" type="body" hasCustomPrompt="1"/>
          </p:nvPr>
        </p:nvSpPr>
        <p:spPr>
          <a:xfrm>
            <a:off x="8026400" y="4184650"/>
            <a:ext cx="3403600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50000"/>
              </a:lnSpc>
              <a:buNone/>
            </a:pPr>
            <a:r>
              <a:rPr lang="ko-KR" altLang="en-US" sz="10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2.4</a:t>
            </a:r>
            <a:pPr algn="l" indent="0" marL="0">
              <a:lnSpc>
                <a:spcPct val="150000"/>
              </a:lnSpc>
              <a:buNone/>
            </a:pPr>
            <a:r>
              <a:rPr lang="ko-KR" altLang="en-US" sz="1300" dirty="0">
                <a:solidFill>
                  <a:srgbClr val="F4F3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 생성 AI 교과 커리큘럼</a:t>
            </a:r>
            <a:endParaRPr lang="ko-KR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49000" y="6350000"/>
            <a:ext cx="381000" cy="1778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A3A3AD"/>
                </a:solidFill>
                <a:latin typeface="Pretendard"/>
                <a:ea typeface="Pretendard"/>
                <a:cs typeface="Pretendard"/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body" hasCustomPrompt="1"/>
          </p:nvPr>
        </p:nvSpPr>
        <p:spPr>
          <a:xfrm>
            <a:off x="7975600" y="393700"/>
            <a:ext cx="34544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ko-KR" altLang="en-US" sz="1000" spc="100" kern="0" dirty="0">
                <a:solidFill>
                  <a:srgbClr val="C9A96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</a:t>
            </a:r>
            <a:pPr algn="r" indent="0" marL="0">
              <a:buNone/>
            </a:pPr>
            <a:r>
              <a:rPr lang="ko-KR" altLang="en-US" sz="1000" spc="100" kern="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RESEARCH</a:t>
            </a:r>
            <a:endParaRPr lang="ko-KR" sz="1000" dirty="0"/>
          </a:p>
        </p:txBody>
      </p:sp>
      <p:sp>
        <p:nvSpPr>
          <p:cNvPr id="3" name="Text 2"/>
          <p:cNvSpPr/>
          <p:nvPr>
            <p:ph idx="104" type="title" hasCustomPrompt="1"/>
          </p:nvPr>
        </p:nvSpPr>
        <p:spPr>
          <a:xfrm>
            <a:off x="762000" y="1193800"/>
            <a:ext cx="7061200" cy="43815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lnSpc>
                <a:spcPct val="115000"/>
              </a:lnSpc>
              <a:buNone/>
            </a:pPr>
            <a:r>
              <a:rPr lang="ko-KR" altLang="en-US" sz="3000" spc="-90" kern="0" dirty="0">
                <a:solidFill>
                  <a:srgbClr val="F4F3F0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확산 모델의 역과정을 수업으로 옮기기</a:t>
            </a:r>
            <a:endParaRPr lang="ko-KR" sz="3000" dirty="0"/>
          </a:p>
        </p:txBody>
      </p:sp>
      <p:sp>
        <p:nvSpPr>
          <p:cNvPr id="4" name="Text 2"/>
          <p:cNvSpPr/>
          <p:nvPr>
            <p:ph idx="105" type="body" hasCustomPrompt="1"/>
          </p:nvPr>
        </p:nvSpPr>
        <p:spPr>
          <a:xfrm>
            <a:off x="7975600" y="939800"/>
            <a:ext cx="3454400" cy="65405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lnSpc>
                <a:spcPct val="150000"/>
              </a:lnSpc>
              <a:buNone/>
            </a:pPr>
            <a:r>
              <a:rPr lang="ko-KR" altLang="en-US" sz="13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본문 기본형 — 좌 텍스트 6칼럼, 우 이미지 6칼럼</a:t>
            </a:r>
            <a:endParaRPr lang="ko-KR" sz="1300" dirty="0"/>
          </a:p>
        </p:txBody>
      </p:sp>
      <p:sp>
        <p:nvSpPr>
          <p:cNvPr id="5" name="Text 4"/>
          <p:cNvSpPr/>
          <p:nvPr>
            <p:ph idx="108" type="body" hasCustomPrompt="1"/>
          </p:nvPr>
        </p:nvSpPr>
        <p:spPr>
          <a:xfrm>
            <a:off x="1295400" y="2216150"/>
            <a:ext cx="47244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50000"/>
              </a:lnSpc>
              <a:buNone/>
            </a:pPr>
            <a:r>
              <a:rPr lang="ko-KR" altLang="en-US" sz="1500" dirty="0">
                <a:solidFill>
                  <a:srgbClr val="F4F3F0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문제 정의</a:t>
            </a:r>
            <a:pPr algn="l" indent="0" marL="0">
              <a:lnSpc>
                <a:spcPct val="150000"/>
              </a:lnSpc>
              <a:buNone/>
            </a:pPr>
            <a:r>
              <a:rPr lang="ko-KR" altLang="en-US" sz="15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— 한 줄 설명 자리. 30px, 최대 두 줄.</a:t>
            </a:r>
            <a:endParaRPr lang="ko-KR" sz="1500" dirty="0"/>
          </a:p>
        </p:txBody>
      </p:sp>
      <p:sp>
        <p:nvSpPr>
          <p:cNvPr id="6" name="Text 6"/>
          <p:cNvSpPr/>
          <p:nvPr>
            <p:ph idx="111" type="body" hasCustomPrompt="1"/>
          </p:nvPr>
        </p:nvSpPr>
        <p:spPr>
          <a:xfrm>
            <a:off x="1295400" y="2857500"/>
            <a:ext cx="47244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50000"/>
              </a:lnSpc>
              <a:buNone/>
            </a:pPr>
            <a:r>
              <a:rPr lang="ko-KR" altLang="en-US" sz="1500" dirty="0">
                <a:solidFill>
                  <a:srgbClr val="F4F3F0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접근 방법</a:t>
            </a:r>
            <a:pPr algn="l" indent="0" marL="0">
              <a:lnSpc>
                <a:spcPct val="150000"/>
              </a:lnSpc>
              <a:buNone/>
            </a:pPr>
            <a:r>
              <a:rPr lang="ko-KR" altLang="en-US" sz="15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— 모델 구조와 학습 설정을 한 줄로.</a:t>
            </a:r>
            <a:endParaRPr lang="ko-KR" sz="1500" dirty="0"/>
          </a:p>
        </p:txBody>
      </p:sp>
      <p:sp>
        <p:nvSpPr>
          <p:cNvPr id="7" name="Text 8"/>
          <p:cNvSpPr/>
          <p:nvPr>
            <p:ph idx="114" type="body" hasCustomPrompt="1"/>
          </p:nvPr>
        </p:nvSpPr>
        <p:spPr>
          <a:xfrm>
            <a:off x="1295400" y="3498850"/>
            <a:ext cx="47244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50000"/>
              </a:lnSpc>
              <a:buNone/>
            </a:pPr>
            <a:r>
              <a:rPr lang="ko-KR" altLang="en-US" sz="1500" dirty="0">
                <a:solidFill>
                  <a:srgbClr val="F4F3F0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결과</a:t>
            </a:r>
            <a:pPr algn="l" indent="0" marL="0">
              <a:lnSpc>
                <a:spcPct val="150000"/>
              </a:lnSpc>
              <a:buNone/>
            </a:pPr>
            <a:r>
              <a:rPr lang="ko-KR" altLang="en-US" sz="15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— 핵심 수치 하나, 비교 대상 하나.</a:t>
            </a:r>
            <a:endParaRPr lang="ko-KR" sz="1500" dirty="0"/>
          </a:p>
        </p:txBody>
      </p:sp>
      <p:sp>
        <p:nvSpPr>
          <p:cNvPr id="8" name="Text 11"/>
          <p:cNvSpPr/>
          <p:nvPr>
            <p:ph idx="118" hasCustomPrompt="1"/>
          </p:nvPr>
        </p:nvSpPr>
        <p:spPr>
          <a:xfrm>
            <a:off x="6172200" y="2038350"/>
            <a:ext cx="5257800" cy="266700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49000" y="6350000"/>
            <a:ext cx="381000" cy="1778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A3A3AD"/>
                </a:solidFill>
                <a:latin typeface="Pretendard"/>
                <a:ea typeface="Pretendard"/>
                <a:cs typeface="Pretendard"/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body" hasCustomPrompt="1"/>
          </p:nvPr>
        </p:nvSpPr>
        <p:spPr>
          <a:xfrm>
            <a:off x="7975600" y="393700"/>
            <a:ext cx="34544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ko-KR" altLang="en-US" sz="1000" spc="100" kern="0" dirty="0">
                <a:solidFill>
                  <a:srgbClr val="C9A96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</a:t>
            </a:r>
            <a:pPr algn="r" indent="0" marL="0">
              <a:buNone/>
            </a:pPr>
            <a:r>
              <a:rPr lang="ko-KR" altLang="en-US" sz="1000" spc="100" kern="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PROJECTS</a:t>
            </a:r>
            <a:endParaRPr lang="ko-KR" sz="1000" dirty="0"/>
          </a:p>
        </p:txBody>
      </p:sp>
      <p:sp>
        <p:nvSpPr>
          <p:cNvPr id="3" name="Text 2"/>
          <p:cNvSpPr/>
          <p:nvPr>
            <p:ph idx="104" type="title" hasCustomPrompt="1"/>
          </p:nvPr>
        </p:nvSpPr>
        <p:spPr>
          <a:xfrm>
            <a:off x="762000" y="1143000"/>
            <a:ext cx="6159500" cy="4089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lnSpc>
                <a:spcPct val="115000"/>
              </a:lnSpc>
              <a:buNone/>
            </a:pPr>
            <a:r>
              <a:rPr lang="ko-KR" altLang="en-US" sz="2800" spc="-84" kern="0" dirty="0">
                <a:solidFill>
                  <a:srgbClr val="F4F3F0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텍스트→영상 확산 모델 · 생성 결과</a:t>
            </a:r>
            <a:endParaRPr lang="ko-KR" sz="2800" dirty="0"/>
          </a:p>
        </p:txBody>
      </p:sp>
      <p:sp>
        <p:nvSpPr>
          <p:cNvPr id="4" name="Text 2"/>
          <p:cNvSpPr/>
          <p:nvPr>
            <p:ph idx="105" type="body" hasCustomPrompt="1"/>
          </p:nvPr>
        </p:nvSpPr>
        <p:spPr>
          <a:xfrm>
            <a:off x="7073900" y="1143000"/>
            <a:ext cx="4356100" cy="3708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lnSpc>
                <a:spcPct val="150000"/>
              </a:lnSpc>
              <a:buNone/>
            </a:pPr>
            <a:r>
              <a:rPr lang="ko-KR" altLang="en-US" sz="12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프롬프트 4종, 각 16프레임 · 동일 시드 비교</a:t>
            </a:r>
            <a:endParaRPr lang="ko-KR" sz="1200" dirty="0"/>
          </a:p>
        </p:txBody>
      </p:sp>
      <p:sp>
        <p:nvSpPr>
          <p:cNvPr id="5" name="Text 18"/>
          <p:cNvSpPr/>
          <p:nvPr>
            <p:ph idx="130" type="body" hasCustomPrompt="1"/>
          </p:nvPr>
        </p:nvSpPr>
        <p:spPr>
          <a:xfrm>
            <a:off x="762000" y="5784850"/>
            <a:ext cx="10668000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50000"/>
              </a:lnSpc>
              <a:buNone/>
            </a:pPr>
            <a:r>
              <a:rPr lang="ko-KR" altLang="en-US" sz="11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캡션 한 줄 — 모델, 해상도, 스텝 수, 비교 기준.</a:t>
            </a:r>
            <a:endParaRPr lang="ko-KR" sz="1100" dirty="0"/>
          </a:p>
        </p:txBody>
      </p:sp>
      <p:sp>
        <p:nvSpPr>
          <p:cNvPr id="6" name="Text 4"/>
          <p:cNvSpPr/>
          <p:nvPr>
            <p:ph idx="108" hasCustomPrompt="1"/>
          </p:nvPr>
        </p:nvSpPr>
        <p:spPr>
          <a:xfrm>
            <a:off x="762000" y="1856740"/>
            <a:ext cx="2552700" cy="1811655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6"/>
          <p:cNvSpPr/>
          <p:nvPr>
            <p:ph idx="111" hasCustomPrompt="1"/>
          </p:nvPr>
        </p:nvSpPr>
        <p:spPr>
          <a:xfrm>
            <a:off x="3467100" y="1856740"/>
            <a:ext cx="2552700" cy="1811655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" name="Text 8"/>
          <p:cNvSpPr/>
          <p:nvPr>
            <p:ph idx="114" hasCustomPrompt="1"/>
          </p:nvPr>
        </p:nvSpPr>
        <p:spPr>
          <a:xfrm>
            <a:off x="6172200" y="1856740"/>
            <a:ext cx="2552700" cy="1811655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" name="Text 10"/>
          <p:cNvSpPr/>
          <p:nvPr>
            <p:ph idx="117" hasCustomPrompt="1"/>
          </p:nvPr>
        </p:nvSpPr>
        <p:spPr>
          <a:xfrm>
            <a:off x="8877300" y="1856740"/>
            <a:ext cx="2552700" cy="1811655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" name="Text 12"/>
          <p:cNvSpPr/>
          <p:nvPr>
            <p:ph idx="120" hasCustomPrompt="1"/>
          </p:nvPr>
        </p:nvSpPr>
        <p:spPr>
          <a:xfrm>
            <a:off x="762000" y="3820795"/>
            <a:ext cx="2552700" cy="1811655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" name="Text 14"/>
          <p:cNvSpPr/>
          <p:nvPr>
            <p:ph idx="123" hasCustomPrompt="1"/>
          </p:nvPr>
        </p:nvSpPr>
        <p:spPr>
          <a:xfrm>
            <a:off x="3467100" y="3820795"/>
            <a:ext cx="2552700" cy="1811655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2" name="Text 16"/>
          <p:cNvSpPr/>
          <p:nvPr>
            <p:ph idx="126" hasCustomPrompt="1"/>
          </p:nvPr>
        </p:nvSpPr>
        <p:spPr>
          <a:xfrm>
            <a:off x="6172200" y="3820795"/>
            <a:ext cx="2552700" cy="1811655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3" name="Text 18"/>
          <p:cNvSpPr/>
          <p:nvPr>
            <p:ph idx="129" hasCustomPrompt="1"/>
          </p:nvPr>
        </p:nvSpPr>
        <p:spPr>
          <a:xfrm>
            <a:off x="8877300" y="3820795"/>
            <a:ext cx="2552700" cy="1811655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49000" y="6350000"/>
            <a:ext cx="381000" cy="1778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A3A3AD"/>
                </a:solidFill>
                <a:latin typeface="Pretendard"/>
                <a:ea typeface="Pretendard"/>
                <a:cs typeface="Pretendard"/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body" hasCustomPrompt="1"/>
          </p:nvPr>
        </p:nvSpPr>
        <p:spPr>
          <a:xfrm>
            <a:off x="7975600" y="393700"/>
            <a:ext cx="34544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ko-KR" altLang="en-US" sz="1000" spc="100" kern="0" dirty="0">
                <a:solidFill>
                  <a:srgbClr val="C9A96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</a:t>
            </a:r>
            <a:pPr algn="r" indent="0" marL="0">
              <a:buNone/>
            </a:pPr>
            <a:r>
              <a:rPr lang="ko-KR" altLang="en-US" sz="1000" spc="100" kern="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PROJECTS</a:t>
            </a:r>
            <a:endParaRPr lang="ko-KR" sz="1000" dirty="0"/>
          </a:p>
        </p:txBody>
      </p:sp>
      <p:sp>
        <p:nvSpPr>
          <p:cNvPr id="3" name="Text 2"/>
          <p:cNvSpPr/>
          <p:nvPr>
            <p:ph idx="104" type="title" hasCustomPrompt="1"/>
          </p:nvPr>
        </p:nvSpPr>
        <p:spPr>
          <a:xfrm>
            <a:off x="762000" y="1193800"/>
            <a:ext cx="7061200" cy="43815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lnSpc>
                <a:spcPct val="115000"/>
              </a:lnSpc>
              <a:buNone/>
            </a:pPr>
            <a:r>
              <a:rPr lang="ko-KR" altLang="en-US" sz="3000" spc="-90" kern="0" dirty="0">
                <a:solidFill>
                  <a:srgbClr val="F4F3F0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영상 합성 · 시간 일관성 비교</a:t>
            </a:r>
            <a:endParaRPr lang="ko-KR" sz="3000" dirty="0"/>
          </a:p>
        </p:txBody>
      </p:sp>
      <p:sp>
        <p:nvSpPr>
          <p:cNvPr id="4" name="Text 2"/>
          <p:cNvSpPr/>
          <p:nvPr>
            <p:ph idx="105" type="body" hasCustomPrompt="1"/>
          </p:nvPr>
        </p:nvSpPr>
        <p:spPr>
          <a:xfrm>
            <a:off x="7975600" y="939800"/>
            <a:ext cx="3454400" cy="65405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lnSpc>
                <a:spcPct val="150000"/>
              </a:lnSpc>
              <a:buNone/>
            </a:pPr>
            <a:r>
              <a:rPr lang="ko-KR" altLang="en-US" sz="13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동일 프롬프트·시드, 제안 방법 적용 전후</a:t>
            </a:r>
            <a:endParaRPr lang="ko-KR" sz="1300" dirty="0"/>
          </a:p>
        </p:txBody>
      </p:sp>
      <p:sp>
        <p:nvSpPr>
          <p:cNvPr id="5" name="Text 2"/>
          <p:cNvSpPr/>
          <p:nvPr>
            <p:ph idx="106" type="body" hasCustomPrompt="1"/>
          </p:nvPr>
        </p:nvSpPr>
        <p:spPr>
          <a:xfrm>
            <a:off x="762000" y="2038350"/>
            <a:ext cx="52578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ko-KR" altLang="en-US" sz="1000" spc="100" kern="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BEFORE</a:t>
            </a:r>
            <a:endParaRPr lang="ko-KR" sz="1000" dirty="0"/>
          </a:p>
        </p:txBody>
      </p:sp>
      <p:sp>
        <p:nvSpPr>
          <p:cNvPr id="6" name="Text 4"/>
          <p:cNvSpPr/>
          <p:nvPr>
            <p:ph idx="111" type="body" hasCustomPrompt="1"/>
          </p:nvPr>
        </p:nvSpPr>
        <p:spPr>
          <a:xfrm>
            <a:off x="6172200" y="2038350"/>
            <a:ext cx="52578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ko-KR" altLang="en-US" sz="1000" spc="100" kern="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AFTER</a:t>
            </a:r>
            <a:endParaRPr lang="ko-KR" sz="1000" dirty="0"/>
          </a:p>
        </p:txBody>
      </p:sp>
      <p:sp>
        <p:nvSpPr>
          <p:cNvPr id="7" name="Text 4"/>
          <p:cNvSpPr/>
          <p:nvPr>
            <p:ph idx="110" type="body" hasCustomPrompt="1"/>
          </p:nvPr>
        </p:nvSpPr>
        <p:spPr>
          <a:xfrm>
            <a:off x="762000" y="5705475"/>
            <a:ext cx="5257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50000"/>
              </a:lnSpc>
              <a:buNone/>
            </a:pPr>
            <a:r>
              <a:rPr lang="ko-KR" altLang="en-US" sz="12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기준 모델 · 프레임 간 깜빡임</a:t>
            </a:r>
            <a:endParaRPr lang="ko-KR" sz="1200" dirty="0"/>
          </a:p>
        </p:txBody>
      </p:sp>
      <p:sp>
        <p:nvSpPr>
          <p:cNvPr id="8" name="Text 6"/>
          <p:cNvSpPr/>
          <p:nvPr>
            <p:ph idx="115" type="body" hasCustomPrompt="1"/>
          </p:nvPr>
        </p:nvSpPr>
        <p:spPr>
          <a:xfrm>
            <a:off x="6172200" y="5705475"/>
            <a:ext cx="5257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50000"/>
              </a:lnSpc>
              <a:buNone/>
            </a:pPr>
            <a:r>
              <a:rPr lang="ko-KR" altLang="en-US" sz="12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제안 방법 · 시간 일관성 유지</a:t>
            </a:r>
            <a:endParaRPr lang="ko-KR" sz="1200" dirty="0"/>
          </a:p>
        </p:txBody>
      </p:sp>
      <p:sp>
        <p:nvSpPr>
          <p:cNvPr id="9" name="Text 4"/>
          <p:cNvSpPr/>
          <p:nvPr>
            <p:ph idx="109" hasCustomPrompt="1"/>
          </p:nvPr>
        </p:nvSpPr>
        <p:spPr>
          <a:xfrm>
            <a:off x="762000" y="2292350"/>
            <a:ext cx="5257800" cy="3286125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" name="Text 6"/>
          <p:cNvSpPr/>
          <p:nvPr>
            <p:ph idx="114" hasCustomPrompt="1"/>
          </p:nvPr>
        </p:nvSpPr>
        <p:spPr>
          <a:xfrm>
            <a:off x="6172200" y="2292350"/>
            <a:ext cx="5257800" cy="3286125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49000" y="6350000"/>
            <a:ext cx="381000" cy="1778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A3A3AD"/>
                </a:solidFill>
                <a:latin typeface="Pretendard"/>
                <a:ea typeface="Pretendard"/>
                <a:cs typeface="Pretendard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3" type="title" hasCustomPrompt="1"/>
          </p:nvPr>
        </p:nvSpPr>
        <p:spPr>
          <a:xfrm>
            <a:off x="762000" y="5257800"/>
            <a:ext cx="7620000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ko-KR" altLang="en-US" sz="2200" spc="-66" kern="0" dirty="0">
                <a:solidFill>
                  <a:srgbClr val="F4F3F0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전면 이미지 제목 자리</a:t>
            </a:r>
            <a:endParaRPr lang="ko-KR" sz="2200" dirty="0"/>
          </a:p>
        </p:txBody>
      </p:sp>
      <p:sp>
        <p:nvSpPr>
          <p:cNvPr id="3" name="Text 1"/>
          <p:cNvSpPr/>
          <p:nvPr>
            <p:ph idx="104" type="body" hasCustomPrompt="1"/>
          </p:nvPr>
        </p:nvSpPr>
        <p:spPr>
          <a:xfrm>
            <a:off x="762000" y="5765800"/>
            <a:ext cx="7620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50000"/>
              </a:lnSpc>
              <a:buNone/>
            </a:pPr>
            <a:r>
              <a:rPr lang="ko-KR" altLang="en-US" sz="12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캡션 — 모델, 해상도, 출처</a:t>
            </a:r>
            <a:endParaRPr lang="ko-KR" sz="1200" dirty="0"/>
          </a:p>
        </p:txBody>
      </p:sp>
      <p:sp>
        <p:nvSpPr>
          <p:cNvPr id="4" name="Text 1"/>
          <p:cNvSpPr/>
          <p:nvPr>
            <p:ph idx="101" hasCustomPrompt="1"/>
          </p:nvPr>
        </p:nvSpPr>
        <p:spPr>
          <a:xfrm>
            <a:off x="0" y="0"/>
            <a:ext cx="12192000" cy="685800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49000" y="6350000"/>
            <a:ext cx="381000" cy="1778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A3A3AD"/>
                </a:solidFill>
                <a:latin typeface="Pretendard"/>
                <a:ea typeface="Pretendard"/>
                <a:cs typeface="Pretendard"/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body" hasCustomPrompt="1"/>
          </p:nvPr>
        </p:nvSpPr>
        <p:spPr>
          <a:xfrm>
            <a:off x="7975600" y="393700"/>
            <a:ext cx="34544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ko-KR" altLang="en-US" sz="1000" spc="100" kern="0" dirty="0">
                <a:solidFill>
                  <a:srgbClr val="C9A96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</a:t>
            </a:r>
            <a:pPr algn="r" indent="0" marL="0">
              <a:buNone/>
            </a:pPr>
            <a:r>
              <a:rPr lang="ko-KR" altLang="en-US" sz="1000" spc="100" kern="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RESULTS</a:t>
            </a:r>
            <a:endParaRPr lang="ko-KR" sz="1000" dirty="0"/>
          </a:p>
        </p:txBody>
      </p:sp>
      <p:sp>
        <p:nvSpPr>
          <p:cNvPr id="3" name="Text 2"/>
          <p:cNvSpPr/>
          <p:nvPr>
            <p:ph idx="104" type="title" hasCustomPrompt="1"/>
          </p:nvPr>
        </p:nvSpPr>
        <p:spPr>
          <a:xfrm>
            <a:off x="762000" y="1193800"/>
            <a:ext cx="7061200" cy="43815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lnSpc>
                <a:spcPct val="115000"/>
              </a:lnSpc>
              <a:buNone/>
            </a:pPr>
            <a:r>
              <a:rPr lang="ko-KR" altLang="en-US" sz="3000" spc="-90" kern="0" dirty="0">
                <a:solidFill>
                  <a:srgbClr val="F4F3F0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핵심 수치</a:t>
            </a:r>
            <a:endParaRPr lang="ko-KR" sz="3000" dirty="0"/>
          </a:p>
        </p:txBody>
      </p:sp>
      <p:sp>
        <p:nvSpPr>
          <p:cNvPr id="4" name="Text 2"/>
          <p:cNvSpPr/>
          <p:nvPr>
            <p:ph idx="105" type="body" hasCustomPrompt="1"/>
          </p:nvPr>
        </p:nvSpPr>
        <p:spPr>
          <a:xfrm>
            <a:off x="7975600" y="939800"/>
            <a:ext cx="3454400" cy="65405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lnSpc>
                <a:spcPct val="150000"/>
              </a:lnSpc>
              <a:buNone/>
            </a:pPr>
            <a:r>
              <a:rPr lang="ko-KR" altLang="en-US" sz="13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비교 대상 하나, 지표 셋</a:t>
            </a:r>
            <a:endParaRPr lang="ko-KR" sz="1300" dirty="0"/>
          </a:p>
        </p:txBody>
      </p:sp>
      <p:sp>
        <p:nvSpPr>
          <p:cNvPr id="5" name="Text 3"/>
          <p:cNvSpPr/>
          <p:nvPr>
            <p:ph idx="107" type="body" hasCustomPrompt="1"/>
          </p:nvPr>
        </p:nvSpPr>
        <p:spPr>
          <a:xfrm>
            <a:off x="762000" y="2495550"/>
            <a:ext cx="3302000" cy="952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7500" spc="-375" kern="0" dirty="0">
                <a:solidFill>
                  <a:srgbClr val="F4F3F0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0.92</a:t>
            </a:r>
            <a:endParaRPr lang="ko-KR" sz="7500" dirty="0"/>
          </a:p>
        </p:txBody>
      </p:sp>
      <p:sp>
        <p:nvSpPr>
          <p:cNvPr id="6" name="Text 3"/>
          <p:cNvSpPr/>
          <p:nvPr>
            <p:ph idx="108" type="body" hasCustomPrompt="1"/>
          </p:nvPr>
        </p:nvSpPr>
        <p:spPr>
          <a:xfrm>
            <a:off x="762000" y="3600450"/>
            <a:ext cx="3302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ko-KR" altLang="en-US" sz="1000" spc="100" kern="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FVD ↓</a:t>
            </a:r>
            <a:endParaRPr lang="ko-KR" sz="1000" dirty="0"/>
          </a:p>
        </p:txBody>
      </p:sp>
      <p:sp>
        <p:nvSpPr>
          <p:cNvPr id="7" name="Text 3"/>
          <p:cNvSpPr/>
          <p:nvPr>
            <p:ph idx="109" type="body" hasCustomPrompt="1"/>
          </p:nvPr>
        </p:nvSpPr>
        <p:spPr>
          <a:xfrm>
            <a:off x="762000" y="3879850"/>
            <a:ext cx="3302000" cy="508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50000"/>
              </a:lnSpc>
              <a:buNone/>
            </a:pPr>
            <a:r>
              <a:rPr lang="ko-KR" altLang="en-US" sz="12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기준 모델 1.31 대비. UCF-101, 16프레임.</a:t>
            </a:r>
            <a:endParaRPr lang="ko-KR" sz="1200" dirty="0"/>
          </a:p>
        </p:txBody>
      </p:sp>
      <p:sp>
        <p:nvSpPr>
          <p:cNvPr id="8" name="Text 4"/>
          <p:cNvSpPr/>
          <p:nvPr>
            <p:ph idx="111" type="body" hasCustomPrompt="1"/>
          </p:nvPr>
        </p:nvSpPr>
        <p:spPr>
          <a:xfrm>
            <a:off x="4368800" y="2495550"/>
            <a:ext cx="3302000" cy="952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7500" spc="-375" kern="0" dirty="0">
                <a:solidFill>
                  <a:srgbClr val="F4F3F0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−38%</a:t>
            </a:r>
            <a:endParaRPr lang="ko-KR" sz="7500" dirty="0"/>
          </a:p>
        </p:txBody>
      </p:sp>
      <p:sp>
        <p:nvSpPr>
          <p:cNvPr id="9" name="Text 4"/>
          <p:cNvSpPr/>
          <p:nvPr>
            <p:ph idx="112" type="body" hasCustomPrompt="1"/>
          </p:nvPr>
        </p:nvSpPr>
        <p:spPr>
          <a:xfrm>
            <a:off x="4368800" y="3600450"/>
            <a:ext cx="3302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ko-KR" altLang="en-US" sz="1000" spc="100" kern="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INFERENCE TIME</a:t>
            </a:r>
            <a:endParaRPr lang="ko-KR" sz="1000" dirty="0"/>
          </a:p>
        </p:txBody>
      </p:sp>
      <p:sp>
        <p:nvSpPr>
          <p:cNvPr id="10" name="Text 4"/>
          <p:cNvSpPr/>
          <p:nvPr>
            <p:ph idx="113" type="body" hasCustomPrompt="1"/>
          </p:nvPr>
        </p:nvSpPr>
        <p:spPr>
          <a:xfrm>
            <a:off x="4368800" y="3879850"/>
            <a:ext cx="3302000" cy="508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50000"/>
              </a:lnSpc>
              <a:buNone/>
            </a:pPr>
            <a:r>
              <a:rPr lang="ko-KR" altLang="en-US" sz="12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동일 GPU, 배치 1, 50스텝 기준.</a:t>
            </a:r>
            <a:endParaRPr lang="ko-KR" sz="1200" dirty="0"/>
          </a:p>
        </p:txBody>
      </p:sp>
      <p:sp>
        <p:nvSpPr>
          <p:cNvPr id="11" name="Text 5"/>
          <p:cNvSpPr/>
          <p:nvPr>
            <p:ph idx="115" type="body" hasCustomPrompt="1"/>
          </p:nvPr>
        </p:nvSpPr>
        <p:spPr>
          <a:xfrm>
            <a:off x="7975600" y="2495550"/>
            <a:ext cx="3302000" cy="952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7500" spc="-375" kern="0" dirty="0">
                <a:solidFill>
                  <a:srgbClr val="F4F3F0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4×</a:t>
            </a:r>
            <a:endParaRPr lang="ko-KR" sz="7500" dirty="0"/>
          </a:p>
        </p:txBody>
      </p:sp>
      <p:sp>
        <p:nvSpPr>
          <p:cNvPr id="12" name="Text 5"/>
          <p:cNvSpPr/>
          <p:nvPr>
            <p:ph idx="116" type="body" hasCustomPrompt="1"/>
          </p:nvPr>
        </p:nvSpPr>
        <p:spPr>
          <a:xfrm>
            <a:off x="7975600" y="3600450"/>
            <a:ext cx="3302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ko-KR" altLang="en-US" sz="1000" spc="100" kern="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THROUGHPUT</a:t>
            </a:r>
            <a:endParaRPr lang="ko-KR" sz="1000" dirty="0"/>
          </a:p>
        </p:txBody>
      </p:sp>
      <p:sp>
        <p:nvSpPr>
          <p:cNvPr id="13" name="Text 5"/>
          <p:cNvSpPr/>
          <p:nvPr>
            <p:ph idx="117" type="body" hasCustomPrompt="1"/>
          </p:nvPr>
        </p:nvSpPr>
        <p:spPr>
          <a:xfrm>
            <a:off x="7975600" y="3879850"/>
            <a:ext cx="3302000" cy="508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50000"/>
              </a:lnSpc>
              <a:buNone/>
            </a:pPr>
            <a:r>
              <a:rPr lang="ko-KR" altLang="en-US" sz="12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초당 생성 프레임. 배치 8.</a:t>
            </a:r>
            <a:endParaRPr lang="ko-KR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49000" y="6350000"/>
            <a:ext cx="381000" cy="1778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A3A3AD"/>
                </a:solidFill>
                <a:latin typeface="Pretendard"/>
                <a:ea typeface="Pretendard"/>
                <a:cs typeface="Pretendard"/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body" hasCustomPrompt="1"/>
          </p:nvPr>
        </p:nvSpPr>
        <p:spPr>
          <a:xfrm>
            <a:off x="7975600" y="393700"/>
            <a:ext cx="34544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ko-KR" altLang="en-US" sz="1000" spc="100" kern="0" dirty="0">
                <a:solidFill>
                  <a:srgbClr val="C9A96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</a:t>
            </a:r>
            <a:pPr algn="r" indent="0" marL="0">
              <a:buNone/>
            </a:pPr>
            <a:r>
              <a:rPr lang="ko-KR" altLang="en-US" sz="1000" spc="100" kern="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RESULTS</a:t>
            </a:r>
            <a:endParaRPr lang="ko-KR" sz="1000" dirty="0"/>
          </a:p>
        </p:txBody>
      </p:sp>
      <p:sp>
        <p:nvSpPr>
          <p:cNvPr id="3" name="Text 2"/>
          <p:cNvSpPr/>
          <p:nvPr>
            <p:ph idx="104" type="title" hasCustomPrompt="1"/>
          </p:nvPr>
        </p:nvSpPr>
        <p:spPr>
          <a:xfrm>
            <a:off x="762000" y="1193800"/>
            <a:ext cx="7061200" cy="43815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lnSpc>
                <a:spcPct val="115000"/>
              </a:lnSpc>
              <a:buNone/>
            </a:pPr>
            <a:r>
              <a:rPr lang="ko-KR" altLang="en-US" sz="3000" spc="-90" kern="0" dirty="0">
                <a:solidFill>
                  <a:srgbClr val="F4F3F0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정량 비교</a:t>
            </a:r>
            <a:endParaRPr lang="ko-KR" sz="3000" dirty="0"/>
          </a:p>
        </p:txBody>
      </p:sp>
      <p:sp>
        <p:nvSpPr>
          <p:cNvPr id="4" name="Text 2"/>
          <p:cNvSpPr/>
          <p:nvPr>
            <p:ph idx="105" type="body" hasCustomPrompt="1"/>
          </p:nvPr>
        </p:nvSpPr>
        <p:spPr>
          <a:xfrm>
            <a:off x="7975600" y="939800"/>
            <a:ext cx="3454400" cy="65405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lnSpc>
                <a:spcPct val="150000"/>
              </a:lnSpc>
              <a:buNone/>
            </a:pPr>
            <a:r>
              <a:rPr lang="ko-KR" altLang="en-US" sz="13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표는 룰만 사용 — 셀 채움 없음</a:t>
            </a:r>
            <a:endParaRPr lang="ko-KR" sz="1300" dirty="0"/>
          </a:p>
        </p:txBody>
      </p:sp>
      <p:sp>
        <p:nvSpPr>
          <p:cNvPr id="5" name="Text 2"/>
          <p:cNvSpPr/>
          <p:nvPr>
            <p:ph idx="106" type="body" hasCustomPrompt="1"/>
          </p:nvPr>
        </p:nvSpPr>
        <p:spPr>
          <a:xfrm>
            <a:off x="762000" y="5784850"/>
            <a:ext cx="10668000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50000"/>
              </a:lnSpc>
              <a:buNone/>
            </a:pPr>
            <a:r>
              <a:rPr lang="ko-KR" altLang="en-US" sz="11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표 캡션 — 데이터셋, 측정 조건, 굵게 = 최고 성능</a:t>
            </a:r>
            <a:endParaRPr lang="ko-KR" sz="11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62000" y="2038350"/>
          <a:ext cx="10668000" cy="914400"/>
        </p:xfrm>
        <a:graphic>
          <a:graphicData uri="http://schemas.openxmlformats.org/drawingml/2006/table">
            <a:tbl>
              <a:tblPr/>
              <a:tblGrid>
                <a:gridCol w="3454400"/>
                <a:gridCol w="1651000"/>
                <a:gridCol w="1651000"/>
                <a:gridCol w="1651000"/>
                <a:gridCol w="1651000"/>
              </a:tblGrid>
              <a:tr h="5334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000" spc="100" kern="0" dirty="0">
                          <a:solidFill>
                            <a:srgbClr val="A3A3AD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MODEL</a:t>
                      </a:r>
                      <a:endParaRPr lang="ko-KR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0" marR="0" marT="91440" marB="91440" anchor="ctr">
                    <a:lnL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E2E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ko-KR" altLang="en-US" sz="1000" spc="100" kern="0" dirty="0">
                          <a:solidFill>
                            <a:srgbClr val="A3A3AD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FVD ↓</a:t>
                      </a:r>
                      <a:endParaRPr lang="ko-KR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0" marR="0" marT="91440" marB="91440" anchor="ctr">
                    <a:lnL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E2E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ko-KR" altLang="en-US" sz="1000" spc="100" kern="0" dirty="0">
                          <a:solidFill>
                            <a:srgbClr val="A3A3AD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CLIP-T ↑</a:t>
                      </a:r>
                      <a:endParaRPr lang="ko-KR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0" marR="0" marT="91440" marB="91440" anchor="ctr">
                    <a:lnL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E2E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ko-KR" altLang="en-US" sz="1000" spc="100" kern="0" dirty="0">
                          <a:solidFill>
                            <a:srgbClr val="A3A3AD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TIME (S)</a:t>
                      </a:r>
                      <a:endParaRPr lang="ko-KR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0" marR="0" marT="91440" marB="91440" anchor="ctr">
                    <a:lnL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E2E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ko-KR" altLang="en-US" sz="1000" spc="100" kern="0" dirty="0">
                          <a:solidFill>
                            <a:srgbClr val="A3A3AD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PARAMS</a:t>
                      </a:r>
                      <a:endParaRPr lang="ko-KR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0" marR="0" marT="91440" marB="91440" anchor="ctr">
                    <a:lnL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E2E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3"/>
                    </a:solidFill>
                  </a:tcPr>
                </a:tc>
              </a:tr>
              <a:tr h="5334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300" dirty="0">
                          <a:solidFill>
                            <a:srgbClr val="F4F3F0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기준 모델 A</a:t>
                      </a:r>
                      <a:endParaRPr lang="ko-KR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0" marR="0" marT="91440" marB="91440" anchor="ctr">
                    <a:lnL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E2E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ko-KR" altLang="en-US" sz="1300" dirty="0">
                          <a:solidFill>
                            <a:srgbClr val="F4F3F0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1.31</a:t>
                      </a:r>
                      <a:endParaRPr lang="ko-KR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0" marR="0" marT="91440" marB="91440" anchor="ctr">
                    <a:lnL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E2E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ko-KR" altLang="en-US" sz="1300" dirty="0">
                          <a:solidFill>
                            <a:srgbClr val="F4F3F0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0.281</a:t>
                      </a:r>
                      <a:endParaRPr lang="ko-KR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0" marR="0" marT="91440" marB="91440" anchor="ctr">
                    <a:lnL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E2E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ko-KR" altLang="en-US" sz="1300" dirty="0">
                          <a:solidFill>
                            <a:srgbClr val="F4F3F0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12.4</a:t>
                      </a:r>
                      <a:endParaRPr lang="ko-KR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0" marR="0" marT="91440" marB="91440" anchor="ctr">
                    <a:lnL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E2E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ko-KR" altLang="en-US" sz="1300" dirty="0">
                          <a:solidFill>
                            <a:srgbClr val="F4F3F0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1.3B</a:t>
                      </a:r>
                      <a:endParaRPr lang="ko-KR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0" marR="0" marT="91440" marB="91440" anchor="ctr">
                    <a:lnL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E2E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3"/>
                    </a:solidFill>
                  </a:tcPr>
                </a:tc>
              </a:tr>
              <a:tr h="5334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300" dirty="0">
                          <a:solidFill>
                            <a:srgbClr val="F4F3F0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기준 모델 B</a:t>
                      </a:r>
                      <a:endParaRPr lang="ko-KR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0" marR="0" marT="91440" marB="91440" anchor="ctr">
                    <a:lnL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E2E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ko-KR" altLang="en-US" sz="1300" dirty="0">
                          <a:solidFill>
                            <a:srgbClr val="F4F3F0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1.12</a:t>
                      </a:r>
                      <a:endParaRPr lang="ko-KR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0" marR="0" marT="91440" marB="91440" anchor="ctr">
                    <a:lnL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E2E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ko-KR" altLang="en-US" sz="1300" dirty="0">
                          <a:solidFill>
                            <a:srgbClr val="F4F3F0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0.290</a:t>
                      </a:r>
                      <a:endParaRPr lang="ko-KR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0" marR="0" marT="91440" marB="91440" anchor="ctr">
                    <a:lnL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E2E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ko-KR" altLang="en-US" sz="1300" dirty="0">
                          <a:solidFill>
                            <a:srgbClr val="F4F3F0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9.8</a:t>
                      </a:r>
                      <a:endParaRPr lang="ko-KR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0" marR="0" marT="91440" marB="91440" anchor="ctr">
                    <a:lnL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E2E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ko-KR" altLang="en-US" sz="1300" dirty="0">
                          <a:solidFill>
                            <a:srgbClr val="F4F3F0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2.0B</a:t>
                      </a:r>
                      <a:endParaRPr lang="ko-KR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0" marR="0" marT="91440" marB="91440" anchor="ctr">
                    <a:lnL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E2E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3"/>
                    </a:solidFill>
                  </a:tcPr>
                </a:tc>
              </a:tr>
              <a:tr h="5334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300" dirty="0">
                          <a:solidFill>
                            <a:srgbClr val="F4F3F0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제안 방법</a:t>
                      </a:r>
                      <a:endParaRPr lang="ko-KR" sz="13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0" marR="0" marT="91440" marB="91440" anchor="ctr">
                    <a:lnL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E2E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ko-KR" altLang="en-US" sz="1300" dirty="0">
                          <a:solidFill>
                            <a:srgbClr val="F4F3F0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0.92</a:t>
                      </a:r>
                      <a:endParaRPr lang="ko-KR" sz="13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0" marR="0" marT="91440" marB="91440" anchor="ctr">
                    <a:lnL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E2E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ko-KR" altLang="en-US" sz="1300" dirty="0">
                          <a:solidFill>
                            <a:srgbClr val="F4F3F0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0.304</a:t>
                      </a:r>
                      <a:endParaRPr lang="ko-KR" sz="13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0" marR="0" marT="91440" marB="91440" anchor="ctr">
                    <a:lnL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E2E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ko-KR" altLang="en-US" sz="1300" dirty="0">
                          <a:solidFill>
                            <a:srgbClr val="F4F3F0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7.7</a:t>
                      </a:r>
                      <a:endParaRPr lang="ko-KR" sz="13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0" marR="0" marT="91440" marB="91440" anchor="ctr">
                    <a:lnL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E2E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ko-KR" altLang="en-US" sz="1300" dirty="0">
                          <a:solidFill>
                            <a:srgbClr val="F4F3F0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1.4B</a:t>
                      </a:r>
                      <a:endParaRPr lang="ko-KR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0" marR="0" marT="91440" marB="91440" anchor="ctr">
                    <a:lnL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E2E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3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49000" y="6350000"/>
            <a:ext cx="381000" cy="1778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A3A3AD"/>
                </a:solidFill>
                <a:latin typeface="Pretendard"/>
                <a:ea typeface="Pretendard"/>
                <a:cs typeface="Pretendard"/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body" hasCustomPrompt="1"/>
          </p:nvPr>
        </p:nvSpPr>
        <p:spPr>
          <a:xfrm>
            <a:off x="7975600" y="393700"/>
            <a:ext cx="34544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ko-KR" altLang="en-US" sz="1000" spc="100" kern="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STATEMENT</a:t>
            </a:r>
            <a:endParaRPr lang="ko-KR" sz="1000" dirty="0"/>
          </a:p>
        </p:txBody>
      </p:sp>
      <p:sp>
        <p:nvSpPr>
          <p:cNvPr id="3" name="Text 2"/>
          <p:cNvSpPr/>
          <p:nvPr>
            <p:ph idx="104" type="body" hasCustomPrompt="1"/>
          </p:nvPr>
        </p:nvSpPr>
        <p:spPr>
          <a:xfrm>
            <a:off x="762000" y="2286000"/>
            <a:ext cx="3810000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ko-KR" altLang="en-US" sz="1100" spc="110" kern="0" dirty="0">
                <a:solidFill>
                  <a:srgbClr val="C9A96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00</a:t>
            </a:r>
            <a:pPr algn="l" indent="0" marL="0">
              <a:buNone/>
            </a:pPr>
            <a:r>
              <a:rPr lang="ko-KR" altLang="en-US" sz="1100" spc="110" kern="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KEY IDEA</a:t>
            </a:r>
            <a:endParaRPr lang="ko-KR" sz="1100" dirty="0"/>
          </a:p>
        </p:txBody>
      </p:sp>
      <p:sp>
        <p:nvSpPr>
          <p:cNvPr id="4" name="Text 2"/>
          <p:cNvSpPr/>
          <p:nvPr>
            <p:ph idx="105" type="title" hasCustomPrompt="1"/>
          </p:nvPr>
        </p:nvSpPr>
        <p:spPr>
          <a:xfrm>
            <a:off x="762000" y="2774950"/>
            <a:ext cx="8890000" cy="1285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ko-KR" altLang="en-US" sz="4600" spc="-161" kern="0" dirty="0">
                <a:solidFill>
                  <a:srgbClr val="F4F3F0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Generation,</a:t>
            </a:r>
            <a:endParaRPr lang="ko-KR" sz="4600" dirty="0"/>
          </a:p>
          <a:p>
            <a:pPr algn="l" indent="0" marL="0">
              <a:lnSpc>
                <a:spcPct val="110000"/>
              </a:lnSpc>
              <a:buNone/>
            </a:pPr>
            <a:r>
              <a:rPr lang="ko-KR" altLang="en-US" sz="4600" spc="-161" kern="0" dirty="0">
                <a:solidFill>
                  <a:srgbClr val="F4F3F0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두 가지 뜻.</a:t>
            </a:r>
            <a:endParaRPr lang="ko-KR" sz="4600" dirty="0"/>
          </a:p>
        </p:txBody>
      </p:sp>
      <p:sp>
        <p:nvSpPr>
          <p:cNvPr id="5" name="Text 2"/>
          <p:cNvSpPr/>
          <p:nvPr>
            <p:ph idx="106" type="body" hasCustomPrompt="1"/>
          </p:nvPr>
        </p:nvSpPr>
        <p:spPr>
          <a:xfrm>
            <a:off x="762000" y="4343400"/>
            <a:ext cx="76200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50000"/>
              </a:lnSpc>
              <a:buNone/>
            </a:pPr>
            <a:r>
              <a:rPr lang="ko-KR" altLang="en-US" sz="16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모델이 만드는 생성과, 그것을 배우는 세대. 둘 다 이 랩의 일입니다.</a:t>
            </a:r>
            <a:endParaRPr lang="ko-KR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49000" y="6350000"/>
            <a:ext cx="381000" cy="1778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A3A3AD"/>
                </a:solidFill>
                <a:latin typeface="Pretendard"/>
                <a:ea typeface="Pretendard"/>
                <a:cs typeface="Pretendard"/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body" hasCustomPrompt="1"/>
          </p:nvPr>
        </p:nvSpPr>
        <p:spPr>
          <a:xfrm>
            <a:off x="7975600" y="393700"/>
            <a:ext cx="34544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ko-KR" altLang="en-US" sz="1000" spc="100" kern="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CONTACT</a:t>
            </a:r>
            <a:endParaRPr lang="ko-KR" sz="1000" dirty="0"/>
          </a:p>
        </p:txBody>
      </p:sp>
      <p:sp>
        <p:nvSpPr>
          <p:cNvPr id="3" name="Text 2"/>
          <p:cNvSpPr/>
          <p:nvPr>
            <p:ph idx="105" type="title" hasCustomPrompt="1"/>
          </p:nvPr>
        </p:nvSpPr>
        <p:spPr>
          <a:xfrm>
            <a:off x="762000" y="4470400"/>
            <a:ext cx="6159500" cy="1136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ko-KR" altLang="en-US" sz="4000" spc="-140" kern="0" dirty="0">
                <a:solidFill>
                  <a:srgbClr val="F4F3F0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함께 만들 사람과</a:t>
            </a:r>
            <a:endParaRPr lang="ko-KR" sz="4000" dirty="0"/>
          </a:p>
          <a:p>
            <a:pPr algn="l" indent="0" marL="0">
              <a:lnSpc>
                <a:spcPct val="112000"/>
              </a:lnSpc>
              <a:buNone/>
            </a:pPr>
            <a:r>
              <a:rPr lang="ko-KR" altLang="en-US" sz="4000" spc="-140" kern="0" dirty="0">
                <a:solidFill>
                  <a:srgbClr val="F4F3F0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함께 풀 문제를 찾습니다.</a:t>
            </a:r>
            <a:endParaRPr lang="ko-KR" sz="4000" dirty="0"/>
          </a:p>
        </p:txBody>
      </p:sp>
      <p:sp>
        <p:nvSpPr>
          <p:cNvPr id="4" name="Text 2"/>
          <p:cNvSpPr/>
          <p:nvPr>
            <p:ph idx="106" type="body" hasCustomPrompt="1"/>
          </p:nvPr>
        </p:nvSpPr>
        <p:spPr>
          <a:xfrm>
            <a:off x="762000" y="5810250"/>
            <a:ext cx="6159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50000"/>
              </a:lnSpc>
              <a:buNone/>
            </a:pPr>
            <a:r>
              <a:rPr lang="ko-KR" altLang="en-US" sz="15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대학원·학부연구생 지원, 산학 협력, 공동 연구 제안</a:t>
            </a:r>
            <a:endParaRPr lang="ko-KR" sz="1500" dirty="0"/>
          </a:p>
        </p:txBody>
      </p:sp>
      <p:sp>
        <p:nvSpPr>
          <p:cNvPr id="5" name="Text 4"/>
          <p:cNvSpPr/>
          <p:nvPr>
            <p:ph idx="109" type="body" hasCustomPrompt="1"/>
          </p:nvPr>
        </p:nvSpPr>
        <p:spPr>
          <a:xfrm>
            <a:off x="8864600" y="5156200"/>
            <a:ext cx="2565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40000"/>
              </a:lnSpc>
              <a:buNone/>
            </a:pPr>
            <a:r>
              <a:rPr lang="ko-KR" altLang="en-US" sz="1300" dirty="0">
                <a:solidFill>
                  <a:srgbClr val="C9A96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이메일 주소 자리</a:t>
            </a:r>
            <a:endParaRPr lang="ko-KR" sz="1300" dirty="0"/>
          </a:p>
        </p:txBody>
      </p:sp>
      <p:sp>
        <p:nvSpPr>
          <p:cNvPr id="6" name="Text 5"/>
          <p:cNvSpPr/>
          <p:nvPr>
            <p:ph idx="111" type="body" hasCustomPrompt="1"/>
          </p:nvPr>
        </p:nvSpPr>
        <p:spPr>
          <a:xfrm>
            <a:off x="8864600" y="5511800"/>
            <a:ext cx="2565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40000"/>
              </a:lnSpc>
              <a:buNone/>
            </a:pPr>
            <a:r>
              <a:rPr lang="ko-KR" altLang="en-US" sz="1300" dirty="0">
                <a:solidFill>
                  <a:srgbClr val="F4F3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홈페이지 주소 자리</a:t>
            </a:r>
            <a:endParaRPr lang="ko-KR" sz="1300" dirty="0"/>
          </a:p>
        </p:txBody>
      </p:sp>
      <p:sp>
        <p:nvSpPr>
          <p:cNvPr id="7" name="Text 6"/>
          <p:cNvSpPr/>
          <p:nvPr>
            <p:ph idx="113" type="body" hasCustomPrompt="1"/>
          </p:nvPr>
        </p:nvSpPr>
        <p:spPr>
          <a:xfrm>
            <a:off x="8864600" y="5867400"/>
            <a:ext cx="2565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40000"/>
              </a:lnSpc>
              <a:buNone/>
            </a:pPr>
            <a:r>
              <a:rPr lang="ko-KR" altLang="en-US" sz="1300" dirty="0">
                <a:solidFill>
                  <a:srgbClr val="F4F3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동서대학교 · 건물·호수 자리</a:t>
            </a:r>
            <a:endParaRPr lang="ko-KR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동서대학교 컴퓨터공학부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Smart Generation Lab — 슬라이드 템플릿 (다크)</dc:title>
  <dc:subject>PptxGenJS Presentation</dc:subject>
  <dc:creator>Smart Generation Lab</dc:creator>
  <cp:lastModifiedBy>Smart Generation Lab</cp:lastModifiedBy>
  <cp:revision>1</cp:revision>
  <dcterms:created xsi:type="dcterms:W3CDTF">2026-09-13T16:06:30Z</dcterms:created>
  <dcterms:modified xsi:type="dcterms:W3CDTF">2026-09-13T16:06:30Z</dcterms:modified>
</cp:coreProperties>
</file>