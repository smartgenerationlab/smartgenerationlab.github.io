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embeddedFontLst>
    <p:embeddedFont>
      <p:font typeface="Pretendard" panose="02000503000000020004" pitchFamily="34" charset="0"/>
      <p:regular r:id="rIdFont1"/>
      <p:bold r:id="rIdFont2"/>
    </p:embeddedFont>
    <p:embeddedFont>
      <p:font typeface="Pretendard SemiBold" panose="02000703000000020004" pitchFamily="34" charset="0"/>
      <p:regular r:id="rIdFont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제목은 두 줄까지. 우측 점 필드는 마스터 고정(노이즈 → 형태).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image" Target="../media/image-1005-2.png"/><Relationship Id="rId3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image" Target="../media/image-1006-1.png"/><Relationship Id="rId3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image" Target="../media/image-1007-2.png"/><Relationship Id="rId3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image" Target="../media/image-1008-2.png"/><Relationship Id="rId3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image" Target="../media/image-1009-2.png"/><Relationship Id="rId3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image" Target="../media/image-1010-2.png"/><Relationship Id="rId3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1-1.png"/><Relationship Id="rId2" Type="http://schemas.openxmlformats.org/officeDocument/2006/relationships/image" Target="../media/image-1011-2.png"/><Relationship Id="rId3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2-1.png"/><Relationship Id="rId2" Type="http://schemas.openxmlformats.org/officeDocument/2006/relationships/image" Target="../media/image-1012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cover-fiel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4500" y="952500"/>
            <a:ext cx="5588000" cy="5588000"/>
          </a:xfrm>
          <a:prstGeom prst="rect">
            <a:avLst/>
          </a:prstGeom>
        </p:spPr>
      </p:pic>
      <p:pic>
        <p:nvPicPr>
          <p:cNvPr id="3" name="Image 1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609600"/>
            <a:ext cx="457200" cy="4572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358900" y="736600"/>
            <a:ext cx="444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200" spc="12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2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200" spc="72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6" name="Shape 1"/>
          <p:cNvSpPr/>
          <p:nvPr/>
        </p:nvSpPr>
        <p:spPr>
          <a:xfrm>
            <a:off x="762000" y="1295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TITLE</a:t>
            </a:r>
            <a:endParaRPr lang="ko-KR" sz="1100" dirty="0"/>
          </a:p>
        </p:txBody>
      </p:sp>
      <p:sp>
        <p:nvSpPr>
          <p:cNvPr id="8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제목 자리: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 만드는 것으로</a:t>
            </a:r>
            <a:endParaRPr lang="ko-KR" sz="4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부제 또는 발표 맥락 한 줄 — 산학 미팅, 학생 세미나, 학회 발표</a:t>
            </a:r>
            <a:endParaRPr lang="ko-KR" sz="1600" dirty="0"/>
          </a:p>
        </p:txBody>
      </p:sp>
      <p:sp>
        <p:nvSpPr>
          <p:cNvPr id="10" name="Shape 2"/>
          <p:cNvSpPr/>
          <p:nvPr/>
        </p:nvSpPr>
        <p:spPr>
          <a:xfrm>
            <a:off x="762000" y="5638800"/>
            <a:ext cx="685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 이름   동서대학교 컴퓨터공학부(소프트웨어전공)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DY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RESEARCH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확산 모델의 역과정을 수업으로 옮기기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기본형 — 좌 텍스트 6칼럼, 우 이미지 6칼럼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52578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669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2161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한 줄 설명 자리. 30px, 최대 두 줄.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679700"/>
            <a:ext cx="52578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908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85750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접근 방법 — 모델 구조와 학습 설정을 한 줄로.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321050"/>
            <a:ext cx="52578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5496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4988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— 핵심 수치 하나, 비교 대상 하나.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962400"/>
            <a:ext cx="52578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8" name="Shape 9"/>
          <p:cNvSpPr/>
          <p:nvPr/>
        </p:nvSpPr>
        <p:spPr>
          <a:xfrm>
            <a:off x="6172200" y="2038350"/>
            <a:ext cx="5257800" cy="2667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9" name="Text 10"/>
          <p:cNvSpPr txBox="1"/>
          <p:nvPr/>
        </p:nvSpPr>
        <p:spPr>
          <a:xfrm>
            <a:off x="6172200" y="3276600"/>
            <a:ext cx="5257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생성 결과 이미지 · 도표 자리 (16:10)</a:t>
            </a:r>
            <a:endParaRPr lang="ko-KR" sz="1000" dirty="0"/>
          </a:p>
        </p:txBody>
      </p:sp>
      <p:sp>
        <p:nvSpPr>
          <p:cNvPr id="20" name="Text 11"/>
          <p:cNvSpPr/>
          <p:nvPr>
            <p:ph idx="118" hasCustomPrompt="1"/>
          </p:nvPr>
        </p:nvSpPr>
        <p:spPr>
          <a:xfrm>
            <a:off x="6172200" y="2038350"/>
            <a:ext cx="5257800" cy="2667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1" name="Shape 1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2" name="Text 1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3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SECTION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90000"/>
              </a:lnSpc>
              <a:buNone/>
              <a:defRPr lang="ko-KR" altLang="en-US" sz="10000" spc="-50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섹션 제목 — 프로젝트 데모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요약 한 줄 — 이 섹션이 답하는 질문 하나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4368800" y="351790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   하위 항목 1</a:t>
            </a:r>
            <a:endParaRPr lang="ko-KR" sz="1300" dirty="0"/>
          </a:p>
        </p:txBody>
      </p:sp>
      <p:sp>
        <p:nvSpPr>
          <p:cNvPr id="11" name="Shape 3"/>
          <p:cNvSpPr/>
          <p:nvPr/>
        </p:nvSpPr>
        <p:spPr>
          <a:xfrm>
            <a:off x="8026400" y="351790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   하위 항목 2</a:t>
            </a:r>
            <a:endParaRPr lang="ko-KR" sz="1300" dirty="0"/>
          </a:p>
        </p:txBody>
      </p:sp>
      <p:sp>
        <p:nvSpPr>
          <p:cNvPr id="13" name="Shape 4"/>
          <p:cNvSpPr/>
          <p:nvPr/>
        </p:nvSpPr>
        <p:spPr>
          <a:xfrm>
            <a:off x="4368800" y="404495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4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   하위 항목 3</a:t>
            </a:r>
            <a:endParaRPr lang="ko-KR" sz="1300" dirty="0"/>
          </a:p>
        </p:txBody>
      </p:sp>
      <p:sp>
        <p:nvSpPr>
          <p:cNvPr id="15" name="Shape 5"/>
          <p:cNvSpPr/>
          <p:nvPr/>
        </p:nvSpPr>
        <p:spPr>
          <a:xfrm>
            <a:off x="4368800" y="457200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6" name="Shape 6"/>
          <p:cNvSpPr/>
          <p:nvPr/>
        </p:nvSpPr>
        <p:spPr>
          <a:xfrm>
            <a:off x="8026400" y="404495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7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   하위 항목 4</a:t>
            </a:r>
            <a:endParaRPr lang="ko-KR" sz="1300" dirty="0"/>
          </a:p>
        </p:txBody>
      </p:sp>
      <p:sp>
        <p:nvSpPr>
          <p:cNvPr id="18" name="Shape 7"/>
          <p:cNvSpPr/>
          <p:nvPr/>
        </p:nvSpPr>
        <p:spPr>
          <a:xfrm>
            <a:off x="8026400" y="457200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9" name="Shape 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0" name="Text 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1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43000"/>
            <a:ext cx="6159500" cy="4089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800" spc="-8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800" spc="-8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텍스트→영상 확산 모델 · 생성 결과</a:t>
            </a:r>
            <a:endParaRPr lang="ko-KR" sz="28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073900" y="1143000"/>
            <a:ext cx="4356100" cy="370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4종, 각 16프레임 · 동일 시드 비교</a:t>
            </a:r>
            <a:endParaRPr lang="ko-KR" sz="1200" dirty="0"/>
          </a:p>
        </p:txBody>
      </p:sp>
      <p:sp>
        <p:nvSpPr>
          <p:cNvPr id="8" name="Shape 2"/>
          <p:cNvSpPr/>
          <p:nvPr/>
        </p:nvSpPr>
        <p:spPr>
          <a:xfrm>
            <a:off x="762000" y="1856740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8890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01 · 16:10</a:t>
            </a:r>
            <a:endParaRPr lang="ko-KR" sz="900" dirty="0"/>
          </a:p>
        </p:txBody>
      </p:sp>
      <p:sp>
        <p:nvSpPr>
          <p:cNvPr id="10" name="Text 4"/>
          <p:cNvSpPr/>
          <p:nvPr>
            <p:ph idx="108" hasCustomPrompt="1"/>
          </p:nvPr>
        </p:nvSpPr>
        <p:spPr>
          <a:xfrm>
            <a:off x="7620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1" name="Shape 4"/>
          <p:cNvSpPr/>
          <p:nvPr/>
        </p:nvSpPr>
        <p:spPr>
          <a:xfrm>
            <a:off x="3467100" y="1856740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35941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02</a:t>
            </a:r>
            <a:endParaRPr lang="ko-KR" sz="900" dirty="0"/>
          </a:p>
        </p:txBody>
      </p:sp>
      <p:sp>
        <p:nvSpPr>
          <p:cNvPr id="13" name="Text 6"/>
          <p:cNvSpPr/>
          <p:nvPr>
            <p:ph idx="111" hasCustomPrompt="1"/>
          </p:nvPr>
        </p:nvSpPr>
        <p:spPr>
          <a:xfrm>
            <a:off x="34671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4" name="Shape 6"/>
          <p:cNvSpPr/>
          <p:nvPr/>
        </p:nvSpPr>
        <p:spPr>
          <a:xfrm>
            <a:off x="6172200" y="1856740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62992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03</a:t>
            </a:r>
            <a:endParaRPr lang="ko-KR" sz="900" dirty="0"/>
          </a:p>
        </p:txBody>
      </p:sp>
      <p:sp>
        <p:nvSpPr>
          <p:cNvPr id="16" name="Text 8"/>
          <p:cNvSpPr/>
          <p:nvPr>
            <p:ph idx="114" hasCustomPrompt="1"/>
          </p:nvPr>
        </p:nvSpPr>
        <p:spPr>
          <a:xfrm>
            <a:off x="61722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Shape 8"/>
          <p:cNvSpPr/>
          <p:nvPr/>
        </p:nvSpPr>
        <p:spPr>
          <a:xfrm>
            <a:off x="8877300" y="1856740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90043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04</a:t>
            </a:r>
            <a:endParaRPr lang="ko-KR" sz="900" dirty="0"/>
          </a:p>
        </p:txBody>
      </p:sp>
      <p:sp>
        <p:nvSpPr>
          <p:cNvPr id="19" name="Text 10"/>
          <p:cNvSpPr/>
          <p:nvPr>
            <p:ph idx="117" hasCustomPrompt="1"/>
          </p:nvPr>
        </p:nvSpPr>
        <p:spPr>
          <a:xfrm>
            <a:off x="88773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0" name="Shape 10"/>
          <p:cNvSpPr/>
          <p:nvPr/>
        </p:nvSpPr>
        <p:spPr>
          <a:xfrm>
            <a:off x="762000" y="3820795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8890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05</a:t>
            </a:r>
            <a:endParaRPr lang="ko-KR" sz="900" dirty="0"/>
          </a:p>
        </p:txBody>
      </p:sp>
      <p:sp>
        <p:nvSpPr>
          <p:cNvPr id="22" name="Text 12"/>
          <p:cNvSpPr/>
          <p:nvPr>
            <p:ph idx="120" hasCustomPrompt="1"/>
          </p:nvPr>
        </p:nvSpPr>
        <p:spPr>
          <a:xfrm>
            <a:off x="7620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3" name="Shape 12"/>
          <p:cNvSpPr/>
          <p:nvPr/>
        </p:nvSpPr>
        <p:spPr>
          <a:xfrm>
            <a:off x="3467100" y="3820795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24" name="Text 13"/>
          <p:cNvSpPr txBox="1"/>
          <p:nvPr/>
        </p:nvSpPr>
        <p:spPr>
          <a:xfrm>
            <a:off x="35941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06</a:t>
            </a:r>
            <a:endParaRPr lang="ko-KR" sz="900" dirty="0"/>
          </a:p>
        </p:txBody>
      </p:sp>
      <p:sp>
        <p:nvSpPr>
          <p:cNvPr id="25" name="Text 14"/>
          <p:cNvSpPr/>
          <p:nvPr>
            <p:ph idx="123" hasCustomPrompt="1"/>
          </p:nvPr>
        </p:nvSpPr>
        <p:spPr>
          <a:xfrm>
            <a:off x="34671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6" name="Shape 14"/>
          <p:cNvSpPr/>
          <p:nvPr/>
        </p:nvSpPr>
        <p:spPr>
          <a:xfrm>
            <a:off x="6172200" y="3820795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27" name="Text 15"/>
          <p:cNvSpPr txBox="1"/>
          <p:nvPr/>
        </p:nvSpPr>
        <p:spPr>
          <a:xfrm>
            <a:off x="62992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07</a:t>
            </a:r>
            <a:endParaRPr lang="ko-KR" sz="900" dirty="0"/>
          </a:p>
        </p:txBody>
      </p:sp>
      <p:sp>
        <p:nvSpPr>
          <p:cNvPr id="28" name="Text 16"/>
          <p:cNvSpPr/>
          <p:nvPr>
            <p:ph idx="126" hasCustomPrompt="1"/>
          </p:nvPr>
        </p:nvSpPr>
        <p:spPr>
          <a:xfrm>
            <a:off x="61722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9" name="Shape 16"/>
          <p:cNvSpPr/>
          <p:nvPr/>
        </p:nvSpPr>
        <p:spPr>
          <a:xfrm>
            <a:off x="8877300" y="3820795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30" name="Text 17"/>
          <p:cNvSpPr txBox="1"/>
          <p:nvPr/>
        </p:nvSpPr>
        <p:spPr>
          <a:xfrm>
            <a:off x="90043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08</a:t>
            </a:r>
            <a:endParaRPr lang="ko-KR" sz="900" dirty="0"/>
          </a:p>
        </p:txBody>
      </p:sp>
      <p:sp>
        <p:nvSpPr>
          <p:cNvPr id="31" name="Text 18"/>
          <p:cNvSpPr/>
          <p:nvPr>
            <p:ph idx="129" hasCustomPrompt="1"/>
          </p:nvPr>
        </p:nvSpPr>
        <p:spPr>
          <a:xfrm>
            <a:off x="88773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32" name="Text 18"/>
          <p:cNvSpPr/>
          <p:nvPr>
            <p:ph idx="130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 — 모델, 해상도, 스텝 수, 비교 기준.</a:t>
            </a:r>
            <a:endParaRPr lang="ko-KR" sz="1100" dirty="0"/>
          </a:p>
        </p:txBody>
      </p:sp>
      <p:sp>
        <p:nvSpPr>
          <p:cNvPr id="33" name="Shape 1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34" name="Text 1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35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ACT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pic>
        <p:nvPicPr>
          <p:cNvPr id="6" name="Image 1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778000"/>
            <a:ext cx="1016000" cy="1016000"/>
          </a:xfrm>
          <a:prstGeom prst="rect">
            <a:avLst/>
          </a:prstGeom>
        </p:spPr>
      </p:pic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만들 사람과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풀 문제를 찾습니다.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대학원·학부연구생 지원, 산학 협력, 공동 연구 제안</a:t>
            </a:r>
            <a:endParaRPr lang="ko-KR" sz="1500" dirty="0"/>
          </a:p>
        </p:txBody>
      </p:sp>
      <p:sp>
        <p:nvSpPr>
          <p:cNvPr id="9" name="Shape 2"/>
          <p:cNvSpPr/>
          <p:nvPr/>
        </p:nvSpPr>
        <p:spPr>
          <a:xfrm>
            <a:off x="7975600" y="4978400"/>
            <a:ext cx="34544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975600" y="51562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</a:t>
            </a:r>
            <a:endParaRPr lang="ko-KR" sz="1300" dirty="0"/>
          </a:p>
        </p:txBody>
      </p:sp>
      <p:sp>
        <p:nvSpPr>
          <p:cNvPr id="11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1300" dirty="0"/>
          </a:p>
        </p:txBody>
      </p:sp>
      <p:sp>
        <p:nvSpPr>
          <p:cNvPr id="12" name="Text 4"/>
          <p:cNvSpPr txBox="1"/>
          <p:nvPr/>
        </p:nvSpPr>
        <p:spPr>
          <a:xfrm>
            <a:off x="7975600" y="55118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</a:t>
            </a:r>
            <a:endParaRPr lang="ko-KR" sz="1300" dirty="0"/>
          </a:p>
        </p:txBody>
      </p:sp>
      <p:sp>
        <p:nvSpPr>
          <p:cNvPr id="13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전화번호 자리</a:t>
            </a:r>
            <a:endParaRPr lang="ko-KR" sz="1300" dirty="0"/>
          </a:p>
        </p:txBody>
      </p:sp>
      <p:sp>
        <p:nvSpPr>
          <p:cNvPr id="14" name="Text 5"/>
          <p:cNvSpPr txBox="1"/>
          <p:nvPr/>
        </p:nvSpPr>
        <p:spPr>
          <a:xfrm>
            <a:off x="7975600" y="58674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</a:t>
            </a:r>
            <a:endParaRPr lang="ko-KR" sz="1300" dirty="0"/>
          </a:p>
        </p:txBody>
      </p:sp>
      <p:sp>
        <p:nvSpPr>
          <p:cNvPr id="15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AGENDA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목차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다룰 다섯 가지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161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1 제목 자리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56540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7432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2 제목 자리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09245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2702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3 제목 자리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61950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762000" y="3797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ko-KR" sz="1100" dirty="0"/>
          </a:p>
        </p:txBody>
      </p:sp>
      <p:sp>
        <p:nvSpPr>
          <p:cNvPr id="19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4 제목 자리</a:t>
            </a:r>
            <a:endParaRPr lang="ko-KR" sz="1500" dirty="0"/>
          </a:p>
        </p:txBody>
      </p:sp>
      <p:sp>
        <p:nvSpPr>
          <p:cNvPr id="20" name="Shape 10"/>
          <p:cNvSpPr/>
          <p:nvPr/>
        </p:nvSpPr>
        <p:spPr>
          <a:xfrm>
            <a:off x="762000" y="414655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762000" y="43243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ko-KR" sz="1100" dirty="0"/>
          </a:p>
        </p:txBody>
      </p:sp>
      <p:sp>
        <p:nvSpPr>
          <p:cNvPr id="22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5 제목 자리</a:t>
            </a:r>
            <a:endParaRPr lang="ko-KR" sz="1500" dirty="0"/>
          </a:p>
        </p:txBody>
      </p:sp>
      <p:sp>
        <p:nvSpPr>
          <p:cNvPr id="23" name="Shape 12"/>
          <p:cNvSpPr/>
          <p:nvPr/>
        </p:nvSpPr>
        <p:spPr>
          <a:xfrm>
            <a:off x="762000" y="467360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4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오른쪽 메모 자리 — 발표 맥락, 소요 시간, 자료 링크</a:t>
            </a:r>
            <a:endParaRPr lang="ko-KR" sz="1200" dirty="0"/>
          </a:p>
        </p:txBody>
      </p:sp>
      <p:sp>
        <p:nvSpPr>
          <p:cNvPr id="25" name="Shape 13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6" name="Text 14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7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LLBLEED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3" name="Text 1"/>
          <p:cNvSpPr/>
          <p:nvPr>
            <p:ph idx="101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pic>
        <p:nvPicPr>
          <p:cNvPr id="4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762000" y="5257800"/>
            <a:ext cx="7620000" cy="33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200" spc="-6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200" spc="-6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전면 이미지 제목 자리</a:t>
            </a:r>
            <a:endParaRPr lang="ko-KR" sz="22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762000" y="5765800"/>
            <a:ext cx="7620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— 모델, 해상도, 출처</a:t>
            </a:r>
            <a:endParaRPr lang="ko-KR" sz="1200" dirty="0"/>
          </a:p>
        </p:txBody>
      </p:sp>
      <p:sp>
        <p:nvSpPr>
          <p:cNvPr id="7" name="Shape 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9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E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합성 · 시간 일관성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프롬프트·시드, 제안 방법 적용 전후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ko-KR" sz="1000" dirty="0"/>
          </a:p>
        </p:txBody>
      </p:sp>
      <p:sp>
        <p:nvSpPr>
          <p:cNvPr id="9" name="Shape 2"/>
          <p:cNvSpPr/>
          <p:nvPr/>
        </p:nvSpPr>
        <p:spPr>
          <a:xfrm>
            <a:off x="762000" y="2292350"/>
            <a:ext cx="5257800" cy="328612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8890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이전 결과 (16:10)</a:t>
            </a:r>
            <a:endParaRPr lang="ko-KR" sz="900" dirty="0"/>
          </a:p>
        </p:txBody>
      </p:sp>
      <p:sp>
        <p:nvSpPr>
          <p:cNvPr id="11" name="Text 4"/>
          <p:cNvSpPr/>
          <p:nvPr>
            <p:ph idx="109" hasCustomPrompt="1"/>
          </p:nvPr>
        </p:nvSpPr>
        <p:spPr>
          <a:xfrm>
            <a:off x="7620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7620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61722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ko-KR" sz="1000" dirty="0"/>
          </a:p>
        </p:txBody>
      </p:sp>
      <p:sp>
        <p:nvSpPr>
          <p:cNvPr id="14" name="Shape 4"/>
          <p:cNvSpPr/>
          <p:nvPr/>
        </p:nvSpPr>
        <p:spPr>
          <a:xfrm>
            <a:off x="6172200" y="2292350"/>
            <a:ext cx="5257800" cy="328612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5" name="Text 5"/>
          <p:cNvSpPr txBox="1"/>
          <p:nvPr/>
        </p:nvSpPr>
        <p:spPr>
          <a:xfrm>
            <a:off x="62992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이후 결과 (16:10)</a:t>
            </a:r>
            <a:endParaRPr lang="ko-KR" sz="900" dirty="0"/>
          </a:p>
        </p:txBody>
      </p:sp>
      <p:sp>
        <p:nvSpPr>
          <p:cNvPr id="16" name="Text 6"/>
          <p:cNvSpPr/>
          <p:nvPr>
            <p:ph idx="114" hasCustomPrompt="1"/>
          </p:nvPr>
        </p:nvSpPr>
        <p:spPr>
          <a:xfrm>
            <a:off x="61722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Text 6"/>
          <p:cNvSpPr/>
          <p:nvPr>
            <p:ph idx="115" type="body" hasCustomPrompt="1"/>
          </p:nvPr>
        </p:nvSpPr>
        <p:spPr>
          <a:xfrm>
            <a:off x="61722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8" name="Shape 6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9" name="Text 7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0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S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수치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대상 하나, 지표 셋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292350"/>
            <a:ext cx="3302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9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7500" dirty="0"/>
          </a:p>
        </p:txBody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1000" dirty="0"/>
          </a:p>
        </p:txBody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2" name="Shape 3"/>
          <p:cNvSpPr/>
          <p:nvPr/>
        </p:nvSpPr>
        <p:spPr>
          <a:xfrm>
            <a:off x="4368800" y="2292350"/>
            <a:ext cx="3302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75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 TIME</a:t>
            </a:r>
            <a:endParaRPr lang="ko-KR" sz="1000" dirty="0"/>
          </a:p>
        </p:txBody>
      </p:sp>
      <p:sp>
        <p:nvSpPr>
          <p:cNvPr id="15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6" name="Shape 4"/>
          <p:cNvSpPr/>
          <p:nvPr/>
        </p:nvSpPr>
        <p:spPr>
          <a:xfrm>
            <a:off x="7975600" y="2292350"/>
            <a:ext cx="3302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7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7500" dirty="0"/>
          </a:p>
        </p:txBody>
      </p:sp>
      <p:sp>
        <p:nvSpPr>
          <p:cNvPr id="18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1000" dirty="0"/>
          </a:p>
        </p:txBody>
      </p:sp>
      <p:sp>
        <p:nvSpPr>
          <p:cNvPr id="19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20" name="Shape 5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1" name="Text 6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2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STATEMENT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KEY IDEA</a:t>
            </a:r>
            <a:endParaRPr lang="ko-KR" sz="11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Generation,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두 가지 뜻.</a:t>
            </a:r>
            <a:endParaRPr lang="ko-KR" sz="46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모델이 만드는 생성과, 그것을 배우는 세대. 둘 다 이 랩의 일입니다.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정량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표는 룰만 사용 — 셀 채움 없음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캡션 — 데이터셋, 측정 조건, 굵게 = 최고 성능</a:t>
            </a:r>
            <a:endParaRPr lang="ko-KR" sz="11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3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</a:t>
            </a:r>
            <a:endParaRPr lang="ko-KR" sz="1100" dirty="0"/>
          </a:p>
        </p:txBody>
      </p:sp>
      <p:sp>
        <p:nvSpPr>
          <p:cNvPr id="4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제목 자리: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 만드는 것으로</a:t>
            </a:r>
            <a:endParaRPr lang="ko-KR" sz="4600" dirty="0"/>
          </a:p>
        </p:txBody>
      </p:sp>
      <p:sp>
        <p:nvSpPr>
          <p:cNvPr id="5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부제 또는 발표 맥락 한 줄 — 산학 미팅, 학생 세미나, 학회 발표</a:t>
            </a:r>
            <a:endParaRPr lang="ko-KR" sz="1600" dirty="0"/>
          </a:p>
        </p:txBody>
      </p:sp>
      <p:sp>
        <p:nvSpPr>
          <p:cNvPr id="6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이상걸 교수</a:t>
            </a:r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동서대학교 컴퓨터공학부(소프트웨어전공)</a:t>
            </a:r>
            <a:endParaRPr lang="ko-KR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AGENDA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목차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다룰 다섯 가지</a:t>
            </a:r>
            <a:endParaRPr lang="ko-KR" sz="1300" dirty="0"/>
          </a:p>
        </p:txBody>
      </p:sp>
      <p:sp>
        <p:nvSpPr>
          <p:cNvPr id="5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 분야</a:t>
            </a:r>
            <a:endParaRPr lang="ko-KR" sz="1500" dirty="0"/>
          </a:p>
        </p:txBody>
      </p:sp>
      <p:sp>
        <p:nvSpPr>
          <p:cNvPr id="6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데모</a:t>
            </a:r>
            <a:endParaRPr lang="ko-KR" sz="1500" dirty="0"/>
          </a:p>
        </p:txBody>
      </p:sp>
      <p:sp>
        <p:nvSpPr>
          <p:cNvPr id="7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결과와 수치</a:t>
            </a:r>
            <a:endParaRPr lang="ko-KR" sz="1500" dirty="0"/>
          </a:p>
        </p:txBody>
      </p:sp>
      <p:sp>
        <p:nvSpPr>
          <p:cNvPr id="8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교육 커리큘럼</a:t>
            </a:r>
            <a:endParaRPr lang="ko-KR" sz="1500" dirty="0"/>
          </a:p>
        </p:txBody>
      </p:sp>
      <p:sp>
        <p:nvSpPr>
          <p:cNvPr id="9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함께 할 일</a:t>
            </a:r>
            <a:endParaRPr lang="ko-KR" sz="1500" dirty="0"/>
          </a:p>
        </p:txBody>
      </p:sp>
      <p:sp>
        <p:nvSpPr>
          <p:cNvPr id="10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40분 · 질의 10분</a:t>
            </a:r>
            <a:endParaRPr lang="ko-KR" sz="12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자료: 홈페이지 주소 자리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SECTION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프로젝트 데모</a:t>
            </a:r>
            <a:endParaRPr lang="ko-KR" sz="40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요약 한 줄 — 이 섹션이 답하는 질문 하나</a:t>
            </a:r>
            <a:endParaRPr lang="ko-KR" sz="16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텍스트→영상 확산 모델</a:t>
            </a:r>
            <a:endParaRPr lang="ko-KR" sz="13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조건부 이미지 합성</a:t>
            </a:r>
            <a:endParaRPr lang="ko-KR" sz="1300" dirty="0"/>
          </a:p>
        </p:txBody>
      </p:sp>
      <p:sp>
        <p:nvSpPr>
          <p:cNvPr id="8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LLM 에이전트 개발 도구</a:t>
            </a:r>
            <a:endParaRPr lang="ko-KR" sz="1300" dirty="0"/>
          </a:p>
        </p:txBody>
      </p:sp>
      <p:sp>
        <p:nvSpPr>
          <p:cNvPr id="9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생성 AI 교과 커리큘럼</a:t>
            </a:r>
            <a:endParaRPr lang="ko-KR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RESEARCH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확산 모델의 역과정을 수업으로 옮기기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기본형 — 좌 텍스트 6칼럼, 우 이미지 6칼럼</a:t>
            </a:r>
            <a:endParaRPr lang="ko-KR" sz="1300" dirty="0"/>
          </a:p>
        </p:txBody>
      </p:sp>
      <p:sp>
        <p:nvSpPr>
          <p:cNvPr id="5" name="Text 4"/>
          <p:cNvSpPr/>
          <p:nvPr>
            <p:ph idx="108" type="body" hasCustomPrompt="1"/>
          </p:nvPr>
        </p:nvSpPr>
        <p:spPr>
          <a:xfrm>
            <a:off x="1295400" y="221615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문제 정의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한 줄 설명 자리. 30px, 최대 두 줄.</a:t>
            </a:r>
            <a:endParaRPr lang="ko-KR" sz="1500" dirty="0"/>
          </a:p>
        </p:txBody>
      </p:sp>
      <p:sp>
        <p:nvSpPr>
          <p:cNvPr id="6" name="Text 6"/>
          <p:cNvSpPr/>
          <p:nvPr>
            <p:ph idx="111" type="body" hasCustomPrompt="1"/>
          </p:nvPr>
        </p:nvSpPr>
        <p:spPr>
          <a:xfrm>
            <a:off x="1295400" y="285750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접근 방법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모델 구조와 학습 설정을 한 줄로.</a:t>
            </a:r>
            <a:endParaRPr lang="ko-KR" sz="1500" dirty="0"/>
          </a:p>
        </p:txBody>
      </p:sp>
      <p:sp>
        <p:nvSpPr>
          <p:cNvPr id="7" name="Text 8"/>
          <p:cNvSpPr/>
          <p:nvPr>
            <p:ph idx="114" type="body" hasCustomPrompt="1"/>
          </p:nvPr>
        </p:nvSpPr>
        <p:spPr>
          <a:xfrm>
            <a:off x="1295400" y="349885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핵심 수치 하나, 비교 대상 하나.</a:t>
            </a:r>
            <a:endParaRPr lang="ko-KR" sz="1500" dirty="0"/>
          </a:p>
        </p:txBody>
      </p:sp>
      <p:sp>
        <p:nvSpPr>
          <p:cNvPr id="8" name="Text 11"/>
          <p:cNvSpPr/>
          <p:nvPr>
            <p:ph idx="118" hasCustomPrompt="1"/>
          </p:nvPr>
        </p:nvSpPr>
        <p:spPr>
          <a:xfrm>
            <a:off x="6172200" y="2038350"/>
            <a:ext cx="5257800" cy="2667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PROJECTS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43000"/>
            <a:ext cx="6159500" cy="4089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2800" spc="-8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텍스트→영상 확산 모델 · 생성 결과</a:t>
            </a:r>
            <a:endParaRPr lang="ko-KR" sz="28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073900" y="1143000"/>
            <a:ext cx="435610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4종, 각 16프레임 · 동일 시드 비교</a:t>
            </a:r>
            <a:endParaRPr lang="ko-KR" sz="1200" dirty="0"/>
          </a:p>
        </p:txBody>
      </p:sp>
      <p:sp>
        <p:nvSpPr>
          <p:cNvPr id="5" name="Text 18"/>
          <p:cNvSpPr/>
          <p:nvPr>
            <p:ph idx="130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 — 모델, 해상도, 스텝 수, 비교 기준.</a:t>
            </a:r>
            <a:endParaRPr lang="ko-KR" sz="1100" dirty="0"/>
          </a:p>
        </p:txBody>
      </p:sp>
      <p:sp>
        <p:nvSpPr>
          <p:cNvPr id="6" name="Text 4"/>
          <p:cNvSpPr/>
          <p:nvPr>
            <p:ph idx="108" hasCustomPrompt="1"/>
          </p:nvPr>
        </p:nvSpPr>
        <p:spPr>
          <a:xfrm>
            <a:off x="7620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6"/>
          <p:cNvSpPr/>
          <p:nvPr>
            <p:ph idx="111" hasCustomPrompt="1"/>
          </p:nvPr>
        </p:nvSpPr>
        <p:spPr>
          <a:xfrm>
            <a:off x="34671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8"/>
          <p:cNvSpPr/>
          <p:nvPr>
            <p:ph idx="114" hasCustomPrompt="1"/>
          </p:nvPr>
        </p:nvSpPr>
        <p:spPr>
          <a:xfrm>
            <a:off x="61722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10"/>
          <p:cNvSpPr/>
          <p:nvPr>
            <p:ph idx="117" hasCustomPrompt="1"/>
          </p:nvPr>
        </p:nvSpPr>
        <p:spPr>
          <a:xfrm>
            <a:off x="88773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12"/>
          <p:cNvSpPr/>
          <p:nvPr>
            <p:ph idx="120" hasCustomPrompt="1"/>
          </p:nvPr>
        </p:nvSpPr>
        <p:spPr>
          <a:xfrm>
            <a:off x="7620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14"/>
          <p:cNvSpPr/>
          <p:nvPr>
            <p:ph idx="123" hasCustomPrompt="1"/>
          </p:nvPr>
        </p:nvSpPr>
        <p:spPr>
          <a:xfrm>
            <a:off x="34671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6"/>
          <p:cNvSpPr/>
          <p:nvPr>
            <p:ph idx="126" hasCustomPrompt="1"/>
          </p:nvPr>
        </p:nvSpPr>
        <p:spPr>
          <a:xfrm>
            <a:off x="61722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8"/>
          <p:cNvSpPr/>
          <p:nvPr>
            <p:ph idx="129" hasCustomPrompt="1"/>
          </p:nvPr>
        </p:nvSpPr>
        <p:spPr>
          <a:xfrm>
            <a:off x="88773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PROJECTS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합성 · 시간 일관성 비교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프롬프트·시드, 제안 방법 적용 전후</a:t>
            </a:r>
            <a:endParaRPr lang="ko-KR" sz="13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2038350"/>
            <a:ext cx="525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ko-KR" sz="1000" dirty="0"/>
          </a:p>
        </p:txBody>
      </p:sp>
      <p:sp>
        <p:nvSpPr>
          <p:cNvPr id="6" name="Text 4"/>
          <p:cNvSpPr/>
          <p:nvPr>
            <p:ph idx="111" type="body" hasCustomPrompt="1"/>
          </p:nvPr>
        </p:nvSpPr>
        <p:spPr>
          <a:xfrm>
            <a:off x="6172200" y="2038350"/>
            <a:ext cx="525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ko-KR" sz="10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762000" y="5705475"/>
            <a:ext cx="525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 모델 · 프레임 간 깜빡임</a:t>
            </a:r>
            <a:endParaRPr lang="ko-KR" sz="1200" dirty="0"/>
          </a:p>
        </p:txBody>
      </p:sp>
      <p:sp>
        <p:nvSpPr>
          <p:cNvPr id="8" name="Text 6"/>
          <p:cNvSpPr/>
          <p:nvPr>
            <p:ph idx="115" type="body" hasCustomPrompt="1"/>
          </p:nvPr>
        </p:nvSpPr>
        <p:spPr>
          <a:xfrm>
            <a:off x="6172200" y="5705475"/>
            <a:ext cx="525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 방법 · 시간 일관성 유지</a:t>
            </a:r>
            <a:endParaRPr lang="ko-KR" sz="1200" dirty="0"/>
          </a:p>
        </p:txBody>
      </p:sp>
      <p:sp>
        <p:nvSpPr>
          <p:cNvPr id="9" name="Text 4"/>
          <p:cNvSpPr/>
          <p:nvPr>
            <p:ph idx="109" hasCustomPrompt="1"/>
          </p:nvPr>
        </p:nvSpPr>
        <p:spPr>
          <a:xfrm>
            <a:off x="7620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6"/>
          <p:cNvSpPr/>
          <p:nvPr>
            <p:ph idx="114" hasCustomPrompt="1"/>
          </p:nvPr>
        </p:nvSpPr>
        <p:spPr>
          <a:xfrm>
            <a:off x="61722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762000" y="5257800"/>
            <a:ext cx="762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2200" spc="-6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전면 이미지 제목 자리</a:t>
            </a:r>
            <a:endParaRPr lang="ko-KR" sz="22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762000" y="5765800"/>
            <a:ext cx="762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— 모델, 해상도, 출처</a:t>
            </a:r>
            <a:endParaRPr lang="ko-KR" sz="1200" dirty="0"/>
          </a:p>
        </p:txBody>
      </p:sp>
      <p:sp>
        <p:nvSpPr>
          <p:cNvPr id="4" name="Text 1"/>
          <p:cNvSpPr/>
          <p:nvPr>
            <p:ph idx="101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수치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대상 하나, 지표 셋</a:t>
            </a:r>
            <a:endParaRPr lang="ko-KR" sz="1300" dirty="0"/>
          </a:p>
        </p:txBody>
      </p:sp>
      <p:sp>
        <p:nvSpPr>
          <p:cNvPr id="5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75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1000" dirty="0"/>
          </a:p>
        </p:txBody>
      </p:sp>
      <p:sp>
        <p:nvSpPr>
          <p:cNvPr id="7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 모델 1.31 대비. UCF-101, 16프레임.</a:t>
            </a:r>
            <a:endParaRPr lang="ko-KR" sz="1200" dirty="0"/>
          </a:p>
        </p:txBody>
      </p:sp>
      <p:sp>
        <p:nvSpPr>
          <p:cNvPr id="8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7500" dirty="0"/>
          </a:p>
        </p:txBody>
      </p:sp>
      <p:sp>
        <p:nvSpPr>
          <p:cNvPr id="9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 TIME</a:t>
            </a:r>
            <a:endParaRPr lang="ko-KR" sz="1000" dirty="0"/>
          </a:p>
        </p:txBody>
      </p:sp>
      <p:sp>
        <p:nvSpPr>
          <p:cNvPr id="10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GPU, 배치 1, 50스텝 기준.</a:t>
            </a:r>
            <a:endParaRPr lang="ko-KR" sz="1200" dirty="0"/>
          </a:p>
        </p:txBody>
      </p:sp>
      <p:sp>
        <p:nvSpPr>
          <p:cNvPr id="11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7500" dirty="0"/>
          </a:p>
        </p:txBody>
      </p:sp>
      <p:sp>
        <p:nvSpPr>
          <p:cNvPr id="12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1000" dirty="0"/>
          </a:p>
        </p:txBody>
      </p:sp>
      <p:sp>
        <p:nvSpPr>
          <p:cNvPr id="13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초당 생성 프레임. 배치 8.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정량 비교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표는 룰만 사용 — 셀 채움 없음</a:t>
            </a:r>
            <a:endParaRPr lang="ko-KR" sz="13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캡션 — 데이터셋, 측정 조건, 굵게 = 최고 성능</a:t>
            </a:r>
            <a:endParaRPr lang="ko-KR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2038350"/>
          <a:ext cx="10668000" cy="914400"/>
        </p:xfrm>
        <a:graphic>
          <a:graphicData uri="http://schemas.openxmlformats.org/drawingml/2006/table">
            <a:tbl>
              <a:tblPr/>
              <a:tblGrid>
                <a:gridCol w="3454400"/>
                <a:gridCol w="1651000"/>
                <a:gridCol w="1651000"/>
                <a:gridCol w="1651000"/>
                <a:gridCol w="1651000"/>
              </a:tblGrid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MODEL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FVD ↓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CLIP-T ↑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 (S)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PARAMS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A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1.31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0.281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12.4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1.12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0.290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9.8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2.0B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제안 방법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0.92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0.304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7.7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1.4B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STATEMENT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KEY IDEA</a:t>
            </a:r>
            <a:endParaRPr lang="ko-KR" sz="11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Generation,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두 가지 뜻.</a:t>
            </a:r>
            <a:endParaRPr lang="ko-KR" sz="46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모델이 만드는 생성과, 그것을 배우는 세대. 둘 다 이 랩의 일입니다.</a:t>
            </a:r>
            <a:endParaRPr lang="ko-K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</a:t>
            </a:r>
            <a:endParaRPr lang="ko-KR" sz="1000" dirty="0"/>
          </a:p>
        </p:txBody>
      </p:sp>
      <p:sp>
        <p:nvSpPr>
          <p:cNvPr id="3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만들 사람과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풀 문제를 찾습니다.</a:t>
            </a:r>
            <a:endParaRPr lang="ko-KR" sz="4000" dirty="0"/>
          </a:p>
        </p:txBody>
      </p:sp>
      <p:sp>
        <p:nvSpPr>
          <p:cNvPr id="4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대학원·학부연구생 지원, 산학 협력, 공동 연구 제안</a:t>
            </a:r>
            <a:endParaRPr lang="ko-KR" sz="1500" dirty="0"/>
          </a:p>
        </p:txBody>
      </p:sp>
      <p:sp>
        <p:nvSpPr>
          <p:cNvPr id="5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1300" dirty="0"/>
          </a:p>
        </p:txBody>
      </p:sp>
      <p:sp>
        <p:nvSpPr>
          <p:cNvPr id="6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전화번호 자리</a:t>
            </a:r>
            <a:endParaRPr lang="ko-KR" sz="1300" dirty="0"/>
          </a:p>
        </p:txBody>
      </p:sp>
      <p:sp>
        <p:nvSpPr>
          <p:cNvPr id="7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동서대학교 컴퓨터공학부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Generation Lab — 슬라이드 템플릿 (다크)</dc:title>
  <dc:subject>PptxGenJS Presentation</dc:subject>
  <dc:creator>Smart Generation Lab</dc:creator>
  <cp:lastModifiedBy>Smart Generation Lab</cp:lastModifiedBy>
  <cp:revision>1</cp:revision>
  <dcterms:created xsi:type="dcterms:W3CDTF">2026-09-21T15:31:09Z</dcterms:created>
  <dcterms:modified xsi:type="dcterms:W3CDTF">2026-09-21T15:31:09Z</dcterms:modified>
</cp:coreProperties>
</file>