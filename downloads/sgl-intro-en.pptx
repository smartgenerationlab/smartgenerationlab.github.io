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Pretendard" panose="02000503000000020004" pitchFamily="34" charset="0"/>
      <p:regular r:id="rIdFont1"/>
      <p:bold r:id="rIdFont2"/>
    </p:embeddedFont>
    <p:embeddedFont>
      <p:font typeface="Pretendard SemiBold" panose="02000703000000020004" pitchFamily="34" charset="0"/>
      <p:regular r:id="rId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cover-field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0" y="952500"/>
            <a:ext cx="5588000" cy="5588000"/>
          </a:xfrm>
          <a:prstGeom prst="rect">
            <a:avLst/>
          </a:prstGeom>
        </p:spPr>
      </p:pic>
      <p:pic>
        <p:nvPicPr>
          <p:cNvPr id="3" name="Image 1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457200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58900" y="7366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spc="12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6" name="Shape 1"/>
          <p:cNvSpPr/>
          <p:nvPr/>
        </p:nvSpPr>
        <p:spPr>
          <a:xfrm>
            <a:off x="762000" y="1295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TITLE</a:t>
            </a:r>
            <a:endParaRPr lang="ko-KR" sz="1100" dirty="0"/>
          </a:p>
        </p:txBody>
      </p:sp>
      <p:sp>
        <p:nvSpPr>
          <p:cNvPr id="8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제목 자리: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 만드는 것으로</a:t>
            </a:r>
            <a:endParaRPr lang="ko-KR" sz="4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 또는 발표 맥락 한 줄 — 산학 미팅, 학생 세미나, 학회 발표</a:t>
            </a:r>
            <a:endParaRPr lang="ko-KR" sz="1600" dirty="0"/>
          </a:p>
        </p:txBody>
      </p:sp>
      <p:sp>
        <p:nvSpPr>
          <p:cNvPr id="10" name="Shape 2"/>
          <p:cNvSpPr/>
          <p:nvPr/>
        </p:nvSpPr>
        <p:spPr>
          <a:xfrm>
            <a:off x="762000" y="5638800"/>
            <a:ext cx="685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이름   동서대학교 컴퓨터공학부(소프트웨어전공)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RESEARCH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확산 모델의 역과정을 수업으로 옮기기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기본형 — 좌 텍스트 6칼럼, 우 이미지 6칼럼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669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2161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한 줄 설명 자리. 30px, 최대 두 줄.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67970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908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85750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방법 — 모델 구조와 학습 설정을 한 줄로.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32105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5496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4988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— 핵심 수치 하나, 비교 대상 하나.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96240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6172200" y="2038350"/>
            <a:ext cx="5257800" cy="2667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6172200" y="327660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결과 이미지 · 도표 자리 (16:10)</a:t>
            </a:r>
            <a:endParaRPr lang="ko-KR" sz="1000" dirty="0"/>
          </a:p>
        </p:txBody>
      </p:sp>
      <p:sp>
        <p:nvSpPr>
          <p:cNvPr id="20" name="Text 11"/>
          <p:cNvSpPr/>
          <p:nvPr>
            <p:ph idx="118" hasCustomPrompt="1"/>
          </p:nvPr>
        </p:nvSpPr>
        <p:spPr>
          <a:xfrm>
            <a:off x="6172200" y="2038350"/>
            <a:ext cx="5257800" cy="266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1" name="Shape 1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23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SECTION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제목 — 프로젝트 데모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요약 한 줄 — 이 섹션이 답하는 질문 하나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4368800" y="35179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   하위 항목 1</a:t>
            </a:r>
            <a:endParaRPr lang="ko-KR" sz="1300" dirty="0"/>
          </a:p>
        </p:txBody>
      </p:sp>
      <p:sp>
        <p:nvSpPr>
          <p:cNvPr id="11" name="Shape 3"/>
          <p:cNvSpPr/>
          <p:nvPr/>
        </p:nvSpPr>
        <p:spPr>
          <a:xfrm>
            <a:off x="8026400" y="35179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   하위 항목 2</a:t>
            </a:r>
            <a:endParaRPr lang="ko-KR" sz="1300" dirty="0"/>
          </a:p>
        </p:txBody>
      </p:sp>
      <p:sp>
        <p:nvSpPr>
          <p:cNvPr id="13" name="Shape 4"/>
          <p:cNvSpPr/>
          <p:nvPr/>
        </p:nvSpPr>
        <p:spPr>
          <a:xfrm>
            <a:off x="4368800" y="404495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4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   하위 항목 3</a:t>
            </a:r>
            <a:endParaRPr lang="ko-KR" sz="1300" dirty="0"/>
          </a:p>
        </p:txBody>
      </p:sp>
      <p:sp>
        <p:nvSpPr>
          <p:cNvPr id="15" name="Shape 5"/>
          <p:cNvSpPr/>
          <p:nvPr/>
        </p:nvSpPr>
        <p:spPr>
          <a:xfrm>
            <a:off x="4368800" y="45720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8026400" y="404495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7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   하위 항목 4</a:t>
            </a:r>
            <a:endParaRPr lang="ko-KR" sz="1300" dirty="0"/>
          </a:p>
        </p:txBody>
      </p:sp>
      <p:sp>
        <p:nvSpPr>
          <p:cNvPr id="18" name="Shape 7"/>
          <p:cNvSpPr/>
          <p:nvPr/>
        </p:nvSpPr>
        <p:spPr>
          <a:xfrm>
            <a:off x="8026400" y="45720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2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43000"/>
            <a:ext cx="6159500" cy="4089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800" spc="-8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spc="-8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텍스트→영상 확산 모델 · 생성 결과</a:t>
            </a:r>
            <a:endParaRPr lang="ko-KR" sz="2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073900" y="1143000"/>
            <a:ext cx="4356100" cy="370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4종, 각 16프레임 · 동일 시드 비교</a:t>
            </a:r>
            <a:endParaRPr lang="ko-KR" sz="1200" dirty="0"/>
          </a:p>
        </p:txBody>
      </p:sp>
      <p:sp>
        <p:nvSpPr>
          <p:cNvPr id="8" name="Shape 2"/>
          <p:cNvSpPr/>
          <p:nvPr/>
        </p:nvSpPr>
        <p:spPr>
          <a:xfrm>
            <a:off x="7620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8890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01 · 16:10</a:t>
            </a:r>
            <a:endParaRPr lang="ko-KR" sz="900" dirty="0"/>
          </a:p>
        </p:txBody>
      </p:sp>
      <p:sp>
        <p:nvSpPr>
          <p:cNvPr id="10" name="Text 4"/>
          <p:cNvSpPr/>
          <p:nvPr>
            <p:ph idx="108" hasCustomPrompt="1"/>
          </p:nvPr>
        </p:nvSpPr>
        <p:spPr>
          <a:xfrm>
            <a:off x="7620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34671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5941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02</a:t>
            </a:r>
            <a:endParaRPr lang="ko-KR" sz="900" dirty="0"/>
          </a:p>
        </p:txBody>
      </p:sp>
      <p:sp>
        <p:nvSpPr>
          <p:cNvPr id="13" name="Text 6"/>
          <p:cNvSpPr/>
          <p:nvPr>
            <p:ph idx="111" hasCustomPrompt="1"/>
          </p:nvPr>
        </p:nvSpPr>
        <p:spPr>
          <a:xfrm>
            <a:off x="34671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4" name="Shape 6"/>
          <p:cNvSpPr/>
          <p:nvPr/>
        </p:nvSpPr>
        <p:spPr>
          <a:xfrm>
            <a:off x="61722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62992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03</a:t>
            </a:r>
            <a:endParaRPr lang="ko-KR" sz="900" dirty="0"/>
          </a:p>
        </p:txBody>
      </p:sp>
      <p:sp>
        <p:nvSpPr>
          <p:cNvPr id="16" name="Text 8"/>
          <p:cNvSpPr/>
          <p:nvPr>
            <p:ph idx="114" hasCustomPrompt="1"/>
          </p:nvPr>
        </p:nvSpPr>
        <p:spPr>
          <a:xfrm>
            <a:off x="61722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Shape 8"/>
          <p:cNvSpPr/>
          <p:nvPr/>
        </p:nvSpPr>
        <p:spPr>
          <a:xfrm>
            <a:off x="88773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90043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04</a:t>
            </a:r>
            <a:endParaRPr lang="ko-KR" sz="900" dirty="0"/>
          </a:p>
        </p:txBody>
      </p:sp>
      <p:sp>
        <p:nvSpPr>
          <p:cNvPr id="19" name="Text 10"/>
          <p:cNvSpPr/>
          <p:nvPr>
            <p:ph idx="117" hasCustomPrompt="1"/>
          </p:nvPr>
        </p:nvSpPr>
        <p:spPr>
          <a:xfrm>
            <a:off x="88773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0" name="Shape 10"/>
          <p:cNvSpPr/>
          <p:nvPr/>
        </p:nvSpPr>
        <p:spPr>
          <a:xfrm>
            <a:off x="7620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8890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05</a:t>
            </a:r>
            <a:endParaRPr lang="ko-KR" sz="900" dirty="0"/>
          </a:p>
        </p:txBody>
      </p:sp>
      <p:sp>
        <p:nvSpPr>
          <p:cNvPr id="22" name="Text 12"/>
          <p:cNvSpPr/>
          <p:nvPr>
            <p:ph idx="120" hasCustomPrompt="1"/>
          </p:nvPr>
        </p:nvSpPr>
        <p:spPr>
          <a:xfrm>
            <a:off x="7620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3" name="Shape 12"/>
          <p:cNvSpPr/>
          <p:nvPr/>
        </p:nvSpPr>
        <p:spPr>
          <a:xfrm>
            <a:off x="34671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35941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06</a:t>
            </a:r>
            <a:endParaRPr lang="ko-KR" sz="900" dirty="0"/>
          </a:p>
        </p:txBody>
      </p:sp>
      <p:sp>
        <p:nvSpPr>
          <p:cNvPr id="25" name="Text 14"/>
          <p:cNvSpPr/>
          <p:nvPr>
            <p:ph idx="123" hasCustomPrompt="1"/>
          </p:nvPr>
        </p:nvSpPr>
        <p:spPr>
          <a:xfrm>
            <a:off x="34671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6" name="Shape 14"/>
          <p:cNvSpPr/>
          <p:nvPr/>
        </p:nvSpPr>
        <p:spPr>
          <a:xfrm>
            <a:off x="61722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7" name="Text 15"/>
          <p:cNvSpPr txBox="1"/>
          <p:nvPr/>
        </p:nvSpPr>
        <p:spPr>
          <a:xfrm>
            <a:off x="62992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07</a:t>
            </a:r>
            <a:endParaRPr lang="ko-KR" sz="900" dirty="0"/>
          </a:p>
        </p:txBody>
      </p:sp>
      <p:sp>
        <p:nvSpPr>
          <p:cNvPr id="28" name="Text 16"/>
          <p:cNvSpPr/>
          <p:nvPr>
            <p:ph idx="126" hasCustomPrompt="1"/>
          </p:nvPr>
        </p:nvSpPr>
        <p:spPr>
          <a:xfrm>
            <a:off x="61722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9" name="Shape 16"/>
          <p:cNvSpPr/>
          <p:nvPr/>
        </p:nvSpPr>
        <p:spPr>
          <a:xfrm>
            <a:off x="88773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30" name="Text 17"/>
          <p:cNvSpPr txBox="1"/>
          <p:nvPr/>
        </p:nvSpPr>
        <p:spPr>
          <a:xfrm>
            <a:off x="90043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08</a:t>
            </a:r>
            <a:endParaRPr lang="ko-KR" sz="900" dirty="0"/>
          </a:p>
        </p:txBody>
      </p:sp>
      <p:sp>
        <p:nvSpPr>
          <p:cNvPr id="31" name="Text 18"/>
          <p:cNvSpPr/>
          <p:nvPr>
            <p:ph idx="129" hasCustomPrompt="1"/>
          </p:nvPr>
        </p:nvSpPr>
        <p:spPr>
          <a:xfrm>
            <a:off x="88773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2" name="Text 18"/>
          <p:cNvSpPr/>
          <p:nvPr>
            <p:ph idx="130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 — 모델, 해상도, 스텝 수, 비교 기준.</a:t>
            </a:r>
            <a:endParaRPr lang="ko-KR" sz="1100" dirty="0"/>
          </a:p>
        </p:txBody>
      </p:sp>
      <p:sp>
        <p:nvSpPr>
          <p:cNvPr id="33" name="Shape 1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34" name="Text 1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35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pic>
        <p:nvPicPr>
          <p:cNvPr id="6" name="Image 1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16000" cy="1016000"/>
          </a:xfrm>
          <a:prstGeom prst="rect">
            <a:avLst/>
          </a:prstGeom>
        </p:spPr>
      </p:pic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만들 사람과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풀 문제를 찾습니다.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대학원·학부연구생 지원, 산학 협력, 공동 연구 제안</a:t>
            </a:r>
            <a:endParaRPr lang="ko-KR" sz="1500" dirty="0"/>
          </a:p>
        </p:txBody>
      </p:sp>
      <p:sp>
        <p:nvSpPr>
          <p:cNvPr id="9" name="Shape 2"/>
          <p:cNvSpPr/>
          <p:nvPr/>
        </p:nvSpPr>
        <p:spPr>
          <a:xfrm>
            <a:off x="7975600" y="4978400"/>
            <a:ext cx="34544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975600" y="51562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</a:t>
            </a:r>
            <a:endParaRPr lang="ko-KR" sz="13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1300" dirty="0"/>
          </a:p>
        </p:txBody>
      </p:sp>
      <p:sp>
        <p:nvSpPr>
          <p:cNvPr id="12" name="Text 4"/>
          <p:cNvSpPr txBox="1"/>
          <p:nvPr/>
        </p:nvSpPr>
        <p:spPr>
          <a:xfrm>
            <a:off x="7975600" y="55118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Phone</a:t>
            </a:r>
            <a:endParaRPr lang="ko-KR" sz="1300" dirty="0"/>
          </a:p>
        </p:txBody>
      </p:sp>
      <p:sp>
        <p:nvSpPr>
          <p:cNvPr id="13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7975600" y="58674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</a:t>
            </a:r>
            <a:endParaRPr lang="ko-KR" sz="1300" dirty="0"/>
          </a:p>
        </p:txBody>
      </p:sp>
      <p:sp>
        <p:nvSpPr>
          <p:cNvPr id="15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AGENDA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다섯 가지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161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 제목 자리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5654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743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 제목 자리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0924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2702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3 제목 자리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6195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762000" y="3797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1100" dirty="0"/>
          </a:p>
        </p:txBody>
      </p:sp>
      <p:sp>
        <p:nvSpPr>
          <p:cNvPr id="19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4 제목 자리</a:t>
            </a:r>
            <a:endParaRPr lang="ko-KR" sz="1500" dirty="0"/>
          </a:p>
        </p:txBody>
      </p:sp>
      <p:sp>
        <p:nvSpPr>
          <p:cNvPr id="20" name="Shape 10"/>
          <p:cNvSpPr/>
          <p:nvPr/>
        </p:nvSpPr>
        <p:spPr>
          <a:xfrm>
            <a:off x="762000" y="41465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762000" y="43243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ko-KR" sz="1100" dirty="0"/>
          </a:p>
        </p:txBody>
      </p:sp>
      <p:sp>
        <p:nvSpPr>
          <p:cNvPr id="22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5 제목 자리</a:t>
            </a:r>
            <a:endParaRPr lang="ko-KR" sz="1500" dirty="0"/>
          </a:p>
        </p:txBody>
      </p:sp>
      <p:sp>
        <p:nvSpPr>
          <p:cNvPr id="23" name="Shape 12"/>
          <p:cNvSpPr/>
          <p:nvPr/>
        </p:nvSpPr>
        <p:spPr>
          <a:xfrm>
            <a:off x="762000" y="46736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4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메모 자리 — 발표 맥락, 소요 시간, 자료 링크</a:t>
            </a:r>
            <a:endParaRPr lang="ko-KR" sz="1200" dirty="0"/>
          </a:p>
        </p:txBody>
      </p:sp>
      <p:sp>
        <p:nvSpPr>
          <p:cNvPr id="25" name="Shape 13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27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BLEED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62000" y="5257800"/>
            <a:ext cx="7620000" cy="33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200" spc="-6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200" spc="-6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전면 이미지 제목 자리</a:t>
            </a:r>
            <a:endParaRPr lang="ko-KR" sz="2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62000" y="5765800"/>
            <a:ext cx="7620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— 모델, 해상도, 출처</a:t>
            </a:r>
            <a:endParaRPr lang="ko-KR" sz="1200" dirty="0"/>
          </a:p>
        </p:txBody>
      </p:sp>
      <p:sp>
        <p:nvSpPr>
          <p:cNvPr id="7" name="Shape 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9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E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 합성 · 시간 일관성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프롬프트·시드, 제안 방법 적용 전후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ko-KR" sz="1000" dirty="0"/>
          </a:p>
        </p:txBody>
      </p:sp>
      <p:sp>
        <p:nvSpPr>
          <p:cNvPr id="9" name="Shape 2"/>
          <p:cNvSpPr/>
          <p:nvPr/>
        </p:nvSpPr>
        <p:spPr>
          <a:xfrm>
            <a:off x="762000" y="2292350"/>
            <a:ext cx="5257800" cy="328612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8890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결과 (16:10)</a:t>
            </a:r>
            <a:endParaRPr lang="ko-KR" sz="900" dirty="0"/>
          </a:p>
        </p:txBody>
      </p:sp>
      <p:sp>
        <p:nvSpPr>
          <p:cNvPr id="11" name="Text 4"/>
          <p:cNvSpPr/>
          <p:nvPr>
            <p:ph idx="109" hasCustomPrompt="1"/>
          </p:nvPr>
        </p:nvSpPr>
        <p:spPr>
          <a:xfrm>
            <a:off x="7620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7620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61722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ko-KR" sz="1000" dirty="0"/>
          </a:p>
        </p:txBody>
      </p:sp>
      <p:sp>
        <p:nvSpPr>
          <p:cNvPr id="14" name="Shape 4"/>
          <p:cNvSpPr/>
          <p:nvPr/>
        </p:nvSpPr>
        <p:spPr>
          <a:xfrm>
            <a:off x="6172200" y="2292350"/>
            <a:ext cx="5257800" cy="328612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5" name="Text 5"/>
          <p:cNvSpPr txBox="1"/>
          <p:nvPr/>
        </p:nvSpPr>
        <p:spPr>
          <a:xfrm>
            <a:off x="62992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결과 (16:10)</a:t>
            </a:r>
            <a:endParaRPr lang="ko-KR" sz="900" dirty="0"/>
          </a:p>
        </p:txBody>
      </p:sp>
      <p:sp>
        <p:nvSpPr>
          <p:cNvPr id="16" name="Text 6"/>
          <p:cNvSpPr/>
          <p:nvPr>
            <p:ph idx="114" hasCustomPrompt="1"/>
          </p:nvPr>
        </p:nvSpPr>
        <p:spPr>
          <a:xfrm>
            <a:off x="61722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Text 6"/>
          <p:cNvSpPr/>
          <p:nvPr>
            <p:ph idx="115" type="body" hasCustomPrompt="1"/>
          </p:nvPr>
        </p:nvSpPr>
        <p:spPr>
          <a:xfrm>
            <a:off x="61722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8" name="Shape 6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9" name="Text 7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20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수치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하나, 지표 셋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75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10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2" name="Shape 3"/>
          <p:cNvSpPr/>
          <p:nvPr/>
        </p:nvSpPr>
        <p:spPr>
          <a:xfrm>
            <a:off x="43688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75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 TIME</a:t>
            </a:r>
            <a:endParaRPr lang="ko-KR" sz="10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6" name="Shape 4"/>
          <p:cNvSpPr/>
          <p:nvPr/>
        </p:nvSpPr>
        <p:spPr>
          <a:xfrm>
            <a:off x="79756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7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7500" dirty="0"/>
          </a:p>
        </p:txBody>
      </p:sp>
      <p:sp>
        <p:nvSpPr>
          <p:cNvPr id="18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1000" dirty="0"/>
          </a:p>
        </p:txBody>
      </p:sp>
      <p:sp>
        <p:nvSpPr>
          <p:cNvPr id="19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20" name="Shape 5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1" name="Text 6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22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KEY IDEA</a:t>
            </a:r>
            <a:endParaRPr lang="ko-KR" sz="11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Generation,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가지 뜻.</a:t>
            </a:r>
            <a:endParaRPr lang="ko-KR" sz="4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만드는 생성과, 그것을 배우는 세대. 둘 다 이 랩의 일입니다.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정량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룰만 사용 — 셀 채움 없음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캡션 — 데이터셋, 측정 조건, 굵게 = 최고 성능</a:t>
            </a:r>
            <a:endParaRPr lang="ko-KR" sz="11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LAB INTRODUCTION</a:t>
            </a:r>
            <a:endParaRPr lang="ko-KR" sz="1100" dirty="0"/>
          </a:p>
        </p:txBody>
      </p:sp>
      <p:sp>
        <p:nvSpPr>
          <p:cNvPr id="4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From seeing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to making.</a:t>
            </a:r>
            <a:endParaRPr lang="ko-KR" sz="4600" dirty="0"/>
          </a:p>
        </p:txBody>
      </p:sp>
      <p:sp>
        <p:nvSpPr>
          <p:cNvPr id="5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Dongseo University · Department of Computer Engineering</a:t>
            </a:r>
            <a:endParaRPr lang="ko-KR" sz="1600" dirty="0"/>
          </a:p>
        </p:txBody>
      </p:sp>
      <p:sp>
        <p:nvSpPr>
          <p:cNvPr id="6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Sang-Geol Lee, Ph.D.</a:t>
            </a:r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Principal Investigator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WHO WE ARE</a:t>
            </a:r>
            <a:endParaRPr lang="ko-KR" sz="11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From seeing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to making.</a:t>
            </a:r>
            <a:endParaRPr lang="ko-KR" sz="46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 read the world with computer vision and rewrite it with generative models. Starting from models that understand images and video, we build the models that create them — training, deploying, and teaching them ourselves.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Computer Vision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 the lab began. 25 related papers.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Image and video analysis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object recognition and tracking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character recognition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medical imaging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Generative AI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 work directly on open-source generative models and fix what needs fixing. 4 related papers.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Image and video generation and editing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diffusion models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GANs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media synthesis pipelines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Others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 push language models beyond text: 11 related papers.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Local LLMs and agents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reinforcement learning applications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signal processing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AI education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PROJECTS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Research projects · systems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Ongoing R&amp;D projects and systems the lab built</a:t>
            </a:r>
            <a:endParaRPr lang="ko-KR" sz="13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research results are listed with the papers · smartgenerationlab.github.io/en/projects.html</a:t>
            </a:r>
            <a:endParaRPr lang="ko-KR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8350"/>
          <a:ext cx="106680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2552700"/>
                <a:gridCol w="1200150"/>
                <a:gridCol w="120015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Project · system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Period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Status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Improving Generative AI Models for Cultural Content Production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Virtual Convergence Technology Research Institute 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 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Ongoing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Generative AI for Content Production Workflows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Industry–academia joint 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 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Ongoing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Local LLM Multi-Agent System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Lab project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 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Ongoing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ComfyUI Content Generation Pipeline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Lab project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 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Ongoing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Lab AI Server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Lab project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altLang="en-US" sz="11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Completed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PUBLICATIONS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Publications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2003–2026 · Google Scholar</a:t>
            </a:r>
            <a:endParaRPr lang="ko-KR" sz="13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40</a:t>
            </a:r>
            <a:endParaRPr lang="ko-KR" sz="75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PUBLICATIONS</a:t>
            </a:r>
            <a:endParaRPr lang="ko-KR" sz="1000" dirty="0"/>
          </a:p>
        </p:txBody>
      </p:sp>
      <p:sp>
        <p:nvSpPr>
          <p:cNvPr id="7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Journal and conference papers</a:t>
            </a:r>
            <a:endParaRPr lang="ko-KR" sz="1200" dirty="0"/>
          </a:p>
        </p:txBody>
      </p:sp>
      <p:sp>
        <p:nvSpPr>
          <p:cNvPr id="8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26</a:t>
            </a:r>
            <a:endParaRPr lang="ko-KR" sz="7500" dirty="0"/>
          </a:p>
        </p:txBody>
      </p:sp>
      <p:sp>
        <p:nvSpPr>
          <p:cNvPr id="9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JOURNAL</a:t>
            </a:r>
            <a:endParaRPr lang="ko-KR" sz="1000" dirty="0"/>
          </a:p>
        </p:txBody>
      </p:sp>
      <p:sp>
        <p:nvSpPr>
          <p:cNvPr id="10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Journal papers</a:t>
            </a:r>
            <a:endParaRPr lang="ko-KR" sz="1200" dirty="0"/>
          </a:p>
        </p:txBody>
      </p:sp>
      <p:sp>
        <p:nvSpPr>
          <p:cNvPr id="11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ko-KR" sz="7500" dirty="0"/>
          </a:p>
        </p:txBody>
      </p:sp>
      <p:sp>
        <p:nvSpPr>
          <p:cNvPr id="12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SINCE 2024</a:t>
            </a:r>
            <a:endParaRPr lang="ko-KR" sz="1000" dirty="0"/>
          </a:p>
        </p:txBody>
      </p:sp>
      <p:sp>
        <p:nvSpPr>
          <p:cNvPr id="13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Generative AI · LLM · agents (2024–)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ACTIVITIES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Recent activities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Academic · Teaching · Lab</a:t>
            </a:r>
            <a:endParaRPr lang="ko-KR" sz="13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Website Relaunch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2026.09 · Lab</a:t>
            </a:r>
            <a:endParaRPr lang="ko-KR" sz="1500" dirty="0"/>
          </a:p>
        </p:txBody>
      </p:sp>
      <p:sp>
        <p:nvSpPr>
          <p:cNvPr id="6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ISPACS 2026 Web Chair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2026.08 · Academic</a:t>
            </a:r>
            <a:endParaRPr lang="ko-KR" sz="1500" dirty="0"/>
          </a:p>
        </p:txBody>
      </p:sp>
      <p:sp>
        <p:nvSpPr>
          <p:cNvPr id="7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SG Lab Brand Finalised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2026.07 · Lab</a:t>
            </a:r>
            <a:endParaRPr lang="ko-KR" sz="1500" dirty="0"/>
          </a:p>
        </p:txBody>
      </p:sp>
      <p:sp>
        <p:nvSpPr>
          <p:cNvPr id="8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Generative AI Workshop for University Staff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2026.06 · Teaching</a:t>
            </a:r>
            <a:endParaRPr lang="ko-KR" sz="1500" dirty="0"/>
          </a:p>
        </p:txBody>
      </p:sp>
      <p:sp>
        <p:nvSpPr>
          <p:cNvPr id="9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1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Computer Vision System Design · Software Studio 1 · Advanced Programming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2026.03 · Teaching</a:t>
            </a:r>
            <a:endParaRPr lang="ko-KR" sz="1500" dirty="0"/>
          </a:p>
        </p:txBody>
      </p:sp>
      <p:sp>
        <p:nvSpPr>
          <p:cNvPr id="10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activities in total</a:t>
            </a:r>
            <a:endParaRPr lang="ko-KR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smartgenerationlab.github.io/en/activities.html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PEOPLE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Sang-Geol Lee, Ph.D.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ko-KR" sz="13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leesg@dongseo.ac.kr · smartgenerationlab.github.io</a:t>
            </a:r>
            <a:endParaRPr lang="ko-KR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038350"/>
            <a:ext cx="52578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이상걸 · Principal Investigator</a:t>
            </a:r>
            <a:endParaRPr lang="en-US" sz="1100" dirty="0"/>
          </a:p>
          <a:p>
            <a:pPr indent="0" marL="0">
              <a:lnSpc>
                <a:spcPct val="140000"/>
              </a:lnSpc>
              <a:spcBef>
                <a:spcPts val="1800"/>
              </a:spcBef>
              <a:buNone/>
            </a:pPr>
            <a:r>
              <a:rPr lang="en-US" altLang="en-US" sz="12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Education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altLang="en-US" sz="11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Ph.D. in Electrical, Electronic and Computer Engineering, Pusan National University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altLang="en-US" sz="11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M.S. in Computer Engineering, Pusan National University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altLang="en-US" sz="11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B.S. in Information and Computer Engineering, Pusan National University</a:t>
            </a:r>
            <a:endParaRPr lang="en-US" sz="1100" dirty="0"/>
          </a:p>
          <a:p>
            <a:pPr indent="0" marL="0">
              <a:lnSpc>
                <a:spcPct val="140000"/>
              </a:lnSpc>
              <a:spcBef>
                <a:spcPts val="1800"/>
              </a:spcBef>
              <a:buNone/>
            </a:pPr>
            <a:r>
              <a:rPr lang="en-US" altLang="en-US" sz="12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Career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altLang="en-US" sz="11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Associate Professor, Department of Software, Dongseo University (current)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altLang="en-US" sz="11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 Professor, WE-UP Programme, Dongguk University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altLang="en-US" sz="11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 Fellow, BK21+ Programme, Pusan National University</a:t>
            </a:r>
            <a:endParaRPr lang="en-US" sz="1100" dirty="0"/>
          </a:p>
          <a:p>
            <a:pPr indent="0" marL="0">
              <a:lnSpc>
                <a:spcPct val="140000"/>
              </a:lnSpc>
              <a:spcBef>
                <a:spcPts val="1800"/>
              </a:spcBef>
              <a:buNone/>
            </a:pPr>
            <a:r>
              <a:rPr lang="en-US" altLang="en-US" sz="12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Interests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altLang="en-US" sz="11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learning, machine learning, neural networks, computer vision, image processing.</a:t>
            </a:r>
            <a:endParaRPr lang="en-US" sz="1100" dirty="0"/>
          </a:p>
        </p:txBody>
      </p:sp>
      <p:pic>
        <p:nvPicPr>
          <p:cNvPr id="7" name="Image 0" descr="/home/runner/work/sglab-brand/sglab-brand/web/images/lee-sang-ge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0" y="2038350"/>
            <a:ext cx="2476500" cy="330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JOIN US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Looking for people to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build with.</a:t>
            </a:r>
            <a:endParaRPr lang="ko-KR" sz="40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Graduate and undergraduate applications, industry collaboration, and joint research proposals are all welcome by email.</a:t>
            </a:r>
            <a:endParaRPr lang="ko-KR" sz="1500" dirty="0"/>
          </a:p>
        </p:txBody>
      </p:sp>
      <p:sp>
        <p:nvSpPr>
          <p:cNvPr id="5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leesg@dongseo.ac.kr</a:t>
            </a:r>
            <a:endParaRPr lang="ko-KR" sz="1300" dirty="0"/>
          </a:p>
        </p:txBody>
      </p:sp>
      <p:sp>
        <p:nvSpPr>
          <p:cNvPr id="6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+82-51-320-2135</a:t>
            </a:r>
            <a:endParaRPr lang="ko-KR" sz="1300" dirty="0"/>
          </a:p>
        </p:txBody>
      </p:sp>
      <p:sp>
        <p:nvSpPr>
          <p:cNvPr id="7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smartgenerationlab.github.io/en/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동서대학교 컴퓨터공학부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Generation Lab — Lab Introduction</dc:title>
  <dc:subject>PptxGenJS Presentation</dc:subject>
  <dc:creator>Smart Generation Lab</dc:creator>
  <cp:lastModifiedBy>Smart Generation Lab</cp:lastModifiedBy>
  <cp:revision>1</cp:revision>
  <dcterms:created xsi:type="dcterms:W3CDTF">2026-09-21T15:22:07Z</dcterms:created>
  <dcterms:modified xsi:type="dcterms:W3CDTF">2026-09-21T15:22:07Z</dcterms:modified>
</cp:coreProperties>
</file>