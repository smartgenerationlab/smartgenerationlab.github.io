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embeddedFontLst>
    <p:embeddedFont>
      <p:font typeface="Pretendard" panose="02000503000000020004" pitchFamily="34" charset="0"/>
      <p:regular r:id="rIdFont1"/>
      <p:bold r:id="rIdFont2"/>
    </p:embeddedFont>
    <p:embeddedFont>
      <p:font typeface="Pretendard SemiBold" panose="02000703000000020004" pitchFamily="34" charset="0"/>
      <p:regular r:id="rIdFont3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Font1" Type="http://schemas.openxmlformats.org/officeDocument/2006/relationships/font" Target="fonts/font1.fntdata"/><Relationship Id="rIdFont2" Type="http://schemas.openxmlformats.org/officeDocument/2006/relationships/font" Target="fonts/font2.fntdata"/><Relationship Id="rIdFont3" Type="http://schemas.openxmlformats.org/officeDocument/2006/relationships/font" Target="fonts/font3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image" Target="../media/image-1002-2.png"/><Relationship Id="rId3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png"/><Relationship Id="rId2" Type="http://schemas.openxmlformats.org/officeDocument/2006/relationships/image" Target="../media/image-1003-2.png"/><Relationship Id="rId3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4-1.png"/><Relationship Id="rId2" Type="http://schemas.openxmlformats.org/officeDocument/2006/relationships/image" Target="../media/image-1004-2.png"/><Relationship Id="rId3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5-1.png"/><Relationship Id="rId2" Type="http://schemas.openxmlformats.org/officeDocument/2006/relationships/image" Target="../media/image-1005-2.png"/><Relationship Id="rId3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6-1.png"/><Relationship Id="rId2" Type="http://schemas.openxmlformats.org/officeDocument/2006/relationships/image" Target="../media/image-1006-1.png"/><Relationship Id="rId3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7-1.png"/><Relationship Id="rId2" Type="http://schemas.openxmlformats.org/officeDocument/2006/relationships/image" Target="../media/image-1007-2.png"/><Relationship Id="rId3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8-1.png"/><Relationship Id="rId2" Type="http://schemas.openxmlformats.org/officeDocument/2006/relationships/image" Target="../media/image-1008-2.png"/><Relationship Id="rId3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9-1.png"/><Relationship Id="rId2" Type="http://schemas.openxmlformats.org/officeDocument/2006/relationships/image" Target="../media/image-1009-2.png"/><Relationship Id="rId3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10-1.png"/><Relationship Id="rId2" Type="http://schemas.openxmlformats.org/officeDocument/2006/relationships/image" Target="../media/image-1010-2.png"/><Relationship Id="rId3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11-1.png"/><Relationship Id="rId2" Type="http://schemas.openxmlformats.org/officeDocument/2006/relationships/image" Target="../media/image-1011-2.png"/><Relationship Id="rId3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12-1.png"/><Relationship Id="rId2" Type="http://schemas.openxmlformats.org/officeDocument/2006/relationships/image" Target="../media/image-1012-2.png"/><Relationship Id="rId3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F4F3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runner/work/sglab-brand/sglab-brand/dist/png/cover-field-ligh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94500" y="952500"/>
            <a:ext cx="5588000" cy="5588000"/>
          </a:xfrm>
          <a:prstGeom prst="rect">
            <a:avLst/>
          </a:prstGeom>
        </p:spPr>
      </p:pic>
      <p:pic>
        <p:nvPicPr>
          <p:cNvPr id="3" name="Image 1" descr="/home/runner/work/sglab-brand/sglab-brand/dist/png/sgl-mark-light-512@2x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2000" y="609600"/>
            <a:ext cx="457200" cy="45720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1358900" y="736600"/>
            <a:ext cx="4445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200" spc="12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SMART GENERATION LAB</a:t>
            </a:r>
            <a:endParaRPr lang="ko-KR" sz="1200" dirty="0"/>
          </a:p>
        </p:txBody>
      </p:sp>
      <p:sp>
        <p:nvSpPr>
          <p:cNvPr id="5" name="Text 1"/>
          <p:cNvSpPr/>
          <p:nvPr>
            <p:ph idx="103" type="body" hasCustomPrompt="1"/>
          </p:nvPr>
        </p:nvSpPr>
        <p:spPr>
          <a:xfrm>
            <a:off x="7975600" y="736600"/>
            <a:ext cx="3454400" cy="2032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ko-KR" altLang="en-US" sz="1200" spc="72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r" indent="0" marL="0">
              <a:buNone/>
            </a:pPr>
            <a:r>
              <a:rPr lang="ko-KR" altLang="en-US" sz="1200" spc="72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2026 · 09</a:t>
            </a:r>
            <a:endParaRPr lang="ko-KR" sz="1200" dirty="0"/>
          </a:p>
        </p:txBody>
      </p:sp>
      <p:sp>
        <p:nvSpPr>
          <p:cNvPr id="6" name="Shape 1"/>
          <p:cNvSpPr/>
          <p:nvPr/>
        </p:nvSpPr>
        <p:spPr>
          <a:xfrm>
            <a:off x="762000" y="1295400"/>
            <a:ext cx="106680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7" name="Text 2"/>
          <p:cNvSpPr/>
          <p:nvPr>
            <p:ph idx="105" type="body" hasCustomPrompt="1"/>
          </p:nvPr>
        </p:nvSpPr>
        <p:spPr>
          <a:xfrm>
            <a:off x="762000" y="2950210"/>
            <a:ext cx="3810000" cy="2095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ko-KR" altLang="en-US" sz="1100" spc="11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buNone/>
            </a:pPr>
            <a:r>
              <a:rPr lang="ko-KR" altLang="en-US" sz="1100" spc="11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  TITLE</a:t>
            </a:r>
            <a:endParaRPr lang="ko-KR" sz="1100" dirty="0"/>
          </a:p>
        </p:txBody>
      </p:sp>
      <p:sp>
        <p:nvSpPr>
          <p:cNvPr id="8" name="Text 2"/>
          <p:cNvSpPr/>
          <p:nvPr>
            <p:ph idx="106" type="title" hasCustomPrompt="1"/>
          </p:nvPr>
        </p:nvSpPr>
        <p:spPr>
          <a:xfrm>
            <a:off x="762000" y="3439160"/>
            <a:ext cx="6858000" cy="1285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10000"/>
              </a:lnSpc>
              <a:buNone/>
              <a:defRPr lang="ko-KR" altLang="en-US" sz="4600" spc="-161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10000"/>
              </a:lnSpc>
              <a:buNone/>
            </a:pPr>
            <a:r>
              <a:rPr lang="ko-KR" altLang="en-US" sz="4600" spc="-161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발표 제목 자리:</a:t>
            </a:r>
            <a:endParaRPr lang="ko-KR" sz="46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ko-KR" altLang="en-US" sz="4600" spc="-161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보는 것에서 만드는 것으로</a:t>
            </a:r>
            <a:endParaRPr lang="ko-KR" sz="4600" dirty="0"/>
          </a:p>
        </p:txBody>
      </p:sp>
      <p:sp>
        <p:nvSpPr>
          <p:cNvPr id="9" name="Text 2"/>
          <p:cNvSpPr/>
          <p:nvPr>
            <p:ph idx="107" type="body" hasCustomPrompt="1"/>
          </p:nvPr>
        </p:nvSpPr>
        <p:spPr>
          <a:xfrm>
            <a:off x="762000" y="5003800"/>
            <a:ext cx="6858000" cy="304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6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6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부제 또는 발표 맥락 한 줄 — 산학 미팅, 학생 세미나, 학회 발표</a:t>
            </a:r>
            <a:endParaRPr lang="ko-KR" sz="1600" dirty="0"/>
          </a:p>
        </p:txBody>
      </p:sp>
      <p:sp>
        <p:nvSpPr>
          <p:cNvPr id="10" name="Shape 2"/>
          <p:cNvSpPr/>
          <p:nvPr/>
        </p:nvSpPr>
        <p:spPr>
          <a:xfrm>
            <a:off x="762000" y="5638800"/>
            <a:ext cx="68580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11" name="Text 3"/>
          <p:cNvSpPr/>
          <p:nvPr>
            <p:ph idx="109" type="body" hasCustomPrompt="1"/>
          </p:nvPr>
        </p:nvSpPr>
        <p:spPr>
          <a:xfrm>
            <a:off x="762000" y="5867400"/>
            <a:ext cx="6858000" cy="228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40000"/>
              </a:lnSpc>
              <a:buNone/>
              <a:def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40000"/>
              </a:lnSpc>
              <a:buNone/>
            </a:pPr>
            <a:r>
              <a: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발표자 이름   동서대학교 컴퓨터공학부(소프트웨어전공)</a:t>
            </a:r>
            <a:endParaRPr lang="ko-KR" sz="13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ODY">
    <p:bg>
      <p:bgPr>
        <a:solidFill>
          <a:srgbClr val="F4F3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runner/work/sglab-brand/sglab-brand/dist/png/sgl-mark-light-512@2x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2000" y="355600"/>
            <a:ext cx="254000" cy="254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130300" y="393700"/>
            <a:ext cx="381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SMART GENERATION LAB</a:t>
            </a:r>
            <a:endParaRPr lang="ko-KR" sz="10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  RESEARCH</a:t>
            </a:r>
            <a:endParaRPr lang="ko-KR" sz="1000" dirty="0"/>
          </a:p>
        </p:txBody>
      </p:sp>
      <p:sp>
        <p:nvSpPr>
          <p:cNvPr id="5" name="Shape 1"/>
          <p:cNvSpPr/>
          <p:nvPr/>
        </p:nvSpPr>
        <p:spPr>
          <a:xfrm>
            <a:off x="762000" y="787400"/>
            <a:ext cx="106680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6" name="Text 2"/>
          <p:cNvSpPr/>
          <p:nvPr>
            <p:ph idx="104" type="title" hasCustomPrompt="1"/>
          </p:nvPr>
        </p:nvSpPr>
        <p:spPr>
          <a:xfrm>
            <a:off x="762000" y="1193800"/>
            <a:ext cx="7061200" cy="4381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15000"/>
              </a:lnSpc>
              <a:buNone/>
              <a:defRPr lang="ko-KR" altLang="en-US" sz="3000" spc="-9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15000"/>
              </a:lnSpc>
              <a:buNone/>
            </a:pPr>
            <a:r>
              <a:rPr lang="ko-KR" altLang="en-US" sz="3000" spc="-9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확산 모델의 역과정을 수업으로 옮기기</a:t>
            </a:r>
            <a:endParaRPr lang="ko-KR" sz="3000" dirty="0"/>
          </a:p>
        </p:txBody>
      </p:sp>
      <p:sp>
        <p:nvSpPr>
          <p:cNvPr id="7" name="Text 2"/>
          <p:cNvSpPr/>
          <p:nvPr>
            <p:ph idx="105" type="body" hasCustomPrompt="1"/>
          </p:nvPr>
        </p:nvSpPr>
        <p:spPr>
          <a:xfrm>
            <a:off x="7975600" y="939800"/>
            <a:ext cx="3454400" cy="6540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3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본문 기본형 — 좌 텍스트 6칼럼, 우 이미지 6칼럼</a:t>
            </a:r>
            <a:endParaRPr lang="ko-KR" sz="1300" dirty="0"/>
          </a:p>
        </p:txBody>
      </p:sp>
      <p:sp>
        <p:nvSpPr>
          <p:cNvPr id="8" name="Shape 2"/>
          <p:cNvSpPr/>
          <p:nvPr/>
        </p:nvSpPr>
        <p:spPr>
          <a:xfrm>
            <a:off x="762000" y="2038350"/>
            <a:ext cx="52578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9" name="Text 3"/>
          <p:cNvSpPr txBox="1"/>
          <p:nvPr/>
        </p:nvSpPr>
        <p:spPr>
          <a:xfrm>
            <a:off x="762000" y="2266950"/>
            <a:ext cx="4064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1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ko-KR" sz="1100" dirty="0"/>
          </a:p>
        </p:txBody>
      </p:sp>
      <p:sp>
        <p:nvSpPr>
          <p:cNvPr id="10" name="Text 4"/>
          <p:cNvSpPr/>
          <p:nvPr>
            <p:ph idx="108" type="body" hasCustomPrompt="1"/>
          </p:nvPr>
        </p:nvSpPr>
        <p:spPr>
          <a:xfrm>
            <a:off x="1295400" y="2216150"/>
            <a:ext cx="4724400" cy="5715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5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5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문제 정의 — 한 줄 설명 자리. 30px, 최대 두 줄.</a:t>
            </a:r>
            <a:endParaRPr lang="ko-KR" sz="1500" dirty="0"/>
          </a:p>
        </p:txBody>
      </p:sp>
      <p:sp>
        <p:nvSpPr>
          <p:cNvPr id="11" name="Shape 4"/>
          <p:cNvSpPr/>
          <p:nvPr/>
        </p:nvSpPr>
        <p:spPr>
          <a:xfrm>
            <a:off x="762000" y="2679700"/>
            <a:ext cx="52578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12" name="Text 5"/>
          <p:cNvSpPr txBox="1"/>
          <p:nvPr/>
        </p:nvSpPr>
        <p:spPr>
          <a:xfrm>
            <a:off x="762000" y="2908300"/>
            <a:ext cx="4064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1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ko-KR" sz="1100" dirty="0"/>
          </a:p>
        </p:txBody>
      </p:sp>
      <p:sp>
        <p:nvSpPr>
          <p:cNvPr id="13" name="Text 6"/>
          <p:cNvSpPr/>
          <p:nvPr>
            <p:ph idx="111" type="body" hasCustomPrompt="1"/>
          </p:nvPr>
        </p:nvSpPr>
        <p:spPr>
          <a:xfrm>
            <a:off x="1295400" y="2857500"/>
            <a:ext cx="4724400" cy="5715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5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5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접근 방법 — 모델 구조와 학습 설정을 한 줄로.</a:t>
            </a:r>
            <a:endParaRPr lang="ko-KR" sz="1500" dirty="0"/>
          </a:p>
        </p:txBody>
      </p:sp>
      <p:sp>
        <p:nvSpPr>
          <p:cNvPr id="14" name="Shape 6"/>
          <p:cNvSpPr/>
          <p:nvPr/>
        </p:nvSpPr>
        <p:spPr>
          <a:xfrm>
            <a:off x="762000" y="3321050"/>
            <a:ext cx="52578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15" name="Text 7"/>
          <p:cNvSpPr txBox="1"/>
          <p:nvPr/>
        </p:nvSpPr>
        <p:spPr>
          <a:xfrm>
            <a:off x="762000" y="3549650"/>
            <a:ext cx="4064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1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ko-KR" sz="1100" dirty="0"/>
          </a:p>
        </p:txBody>
      </p:sp>
      <p:sp>
        <p:nvSpPr>
          <p:cNvPr id="16" name="Text 8"/>
          <p:cNvSpPr/>
          <p:nvPr>
            <p:ph idx="114" type="body" hasCustomPrompt="1"/>
          </p:nvPr>
        </p:nvSpPr>
        <p:spPr>
          <a:xfrm>
            <a:off x="1295400" y="3498850"/>
            <a:ext cx="4724400" cy="5715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5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5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 — 핵심 수치 하나, 비교 대상 하나.</a:t>
            </a:r>
            <a:endParaRPr lang="ko-KR" sz="1500" dirty="0"/>
          </a:p>
        </p:txBody>
      </p:sp>
      <p:sp>
        <p:nvSpPr>
          <p:cNvPr id="17" name="Shape 8"/>
          <p:cNvSpPr/>
          <p:nvPr/>
        </p:nvSpPr>
        <p:spPr>
          <a:xfrm>
            <a:off x="762000" y="3962400"/>
            <a:ext cx="52578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18" name="Shape 9"/>
          <p:cNvSpPr/>
          <p:nvPr/>
        </p:nvSpPr>
        <p:spPr>
          <a:xfrm>
            <a:off x="6172200" y="2038350"/>
            <a:ext cx="5257800" cy="2667000"/>
          </a:xfrm>
          <a:prstGeom prst="rect">
            <a:avLst/>
          </a:prstGeom>
          <a:solidFill>
            <a:srgbClr val="E6E5E0"/>
          </a:solidFill>
          <a:ln w="12700">
            <a:solidFill>
              <a:srgbClr val="E6E5E0"/>
            </a:solidFill>
            <a:prstDash val="solid"/>
          </a:ln>
        </p:spPr>
      </p:sp>
      <p:sp>
        <p:nvSpPr>
          <p:cNvPr id="19" name="Text 10"/>
          <p:cNvSpPr txBox="1"/>
          <p:nvPr/>
        </p:nvSpPr>
        <p:spPr>
          <a:xfrm>
            <a:off x="6172200" y="3276600"/>
            <a:ext cx="52578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생성 결과 이미지 · 도표 자리 (16:10)</a:t>
            </a:r>
            <a:endParaRPr lang="ko-KR" sz="1000" dirty="0"/>
          </a:p>
        </p:txBody>
      </p:sp>
      <p:sp>
        <p:nvSpPr>
          <p:cNvPr id="20" name="Text 11"/>
          <p:cNvSpPr/>
          <p:nvPr>
            <p:ph idx="118" hasCustomPrompt="1"/>
          </p:nvPr>
        </p:nvSpPr>
        <p:spPr>
          <a:xfrm>
            <a:off x="6172200" y="2038350"/>
            <a:ext cx="5257800" cy="26670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sp>
        <p:nvSpPr>
          <p:cNvPr id="21" name="Shape 11"/>
          <p:cNvSpPr/>
          <p:nvPr/>
        </p:nvSpPr>
        <p:spPr>
          <a:xfrm>
            <a:off x="762000" y="6197600"/>
            <a:ext cx="106680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22" name="Text 12"/>
          <p:cNvSpPr txBox="1"/>
          <p:nvPr/>
        </p:nvSpPr>
        <p:spPr>
          <a:xfrm>
            <a:off x="762000" y="6350000"/>
            <a:ext cx="508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Dongseo University · Smart Generation Lab</a:t>
            </a:r>
            <a:endParaRPr lang="ko-KR" sz="1000" dirty="0"/>
          </a:p>
        </p:txBody>
      </p:sp>
      <p:pic>
        <p:nvPicPr>
          <p:cNvPr id="23" name="Image 1" descr="/home/runner/work/sglab-brand/sglab-brand/dist/png/dot-ligh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09300" y="6413500"/>
            <a:ext cx="50800" cy="508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73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">
    <p:bg>
      <p:bgPr>
        <a:solidFill>
          <a:srgbClr val="F4F3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runner/work/sglab-brand/sglab-brand/dist/png/sgl-mark-light-512@2x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2000" y="355600"/>
            <a:ext cx="254000" cy="254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130300" y="393700"/>
            <a:ext cx="381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SMART GENERATION LAB</a:t>
            </a:r>
            <a:endParaRPr lang="ko-KR" sz="10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  SECTION</a:t>
            </a:r>
            <a:endParaRPr lang="ko-KR" sz="1000" dirty="0"/>
          </a:p>
        </p:txBody>
      </p:sp>
      <p:sp>
        <p:nvSpPr>
          <p:cNvPr id="5" name="Shape 1"/>
          <p:cNvSpPr/>
          <p:nvPr/>
        </p:nvSpPr>
        <p:spPr>
          <a:xfrm>
            <a:off x="762000" y="787400"/>
            <a:ext cx="106680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6" name="Text 2"/>
          <p:cNvSpPr/>
          <p:nvPr>
            <p:ph idx="104" type="body" hasCustomPrompt="1"/>
          </p:nvPr>
        </p:nvSpPr>
        <p:spPr>
          <a:xfrm>
            <a:off x="762000" y="1905000"/>
            <a:ext cx="2552700" cy="1143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90000"/>
              </a:lnSpc>
              <a:buNone/>
              <a:defRPr lang="ko-KR" altLang="en-US" sz="10000" spc="-50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90000"/>
              </a:lnSpc>
              <a:buNone/>
            </a:pPr>
            <a:r>
              <a:rPr lang="ko-KR" altLang="en-US" sz="10000" spc="-50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02</a:t>
            </a:r>
            <a:endParaRPr lang="ko-KR" sz="10000" dirty="0"/>
          </a:p>
        </p:txBody>
      </p:sp>
      <p:sp>
        <p:nvSpPr>
          <p:cNvPr id="7" name="Text 2"/>
          <p:cNvSpPr/>
          <p:nvPr>
            <p:ph idx="105" type="title" hasCustomPrompt="1"/>
          </p:nvPr>
        </p:nvSpPr>
        <p:spPr>
          <a:xfrm>
            <a:off x="4368800" y="2057400"/>
            <a:ext cx="7061200" cy="5715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12000"/>
              </a:lnSpc>
              <a:buNone/>
              <a:defRPr lang="ko-KR" altLang="en-US" sz="4000" spc="-14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12000"/>
              </a:lnSpc>
              <a:buNone/>
            </a:pPr>
            <a:r>
              <a:rPr lang="ko-KR" altLang="en-US" sz="4000" spc="-14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섹션 제목 — 프로젝트 데모</a:t>
            </a:r>
            <a:endParaRPr lang="ko-KR" sz="4000" dirty="0"/>
          </a:p>
        </p:txBody>
      </p:sp>
      <p:sp>
        <p:nvSpPr>
          <p:cNvPr id="8" name="Text 2"/>
          <p:cNvSpPr/>
          <p:nvPr>
            <p:ph idx="106" type="body" hasCustomPrompt="1"/>
          </p:nvPr>
        </p:nvSpPr>
        <p:spPr>
          <a:xfrm>
            <a:off x="4368800" y="2857500"/>
            <a:ext cx="5715000" cy="304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6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6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섹션 요약 한 줄 — 이 섹션이 답하는 질문 하나</a:t>
            </a:r>
            <a:endParaRPr lang="ko-KR" sz="1600" dirty="0"/>
          </a:p>
        </p:txBody>
      </p:sp>
      <p:sp>
        <p:nvSpPr>
          <p:cNvPr id="9" name="Shape 2"/>
          <p:cNvSpPr/>
          <p:nvPr/>
        </p:nvSpPr>
        <p:spPr>
          <a:xfrm>
            <a:off x="4368800" y="3517900"/>
            <a:ext cx="34036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10" name="Text 3"/>
          <p:cNvSpPr/>
          <p:nvPr>
            <p:ph idx="108" type="body" hasCustomPrompt="1"/>
          </p:nvPr>
        </p:nvSpPr>
        <p:spPr>
          <a:xfrm>
            <a:off x="4368800" y="3657600"/>
            <a:ext cx="3403600" cy="2476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2.1   하위 항목 1</a:t>
            </a:r>
            <a:endParaRPr lang="ko-KR" sz="1300" dirty="0"/>
          </a:p>
        </p:txBody>
      </p:sp>
      <p:sp>
        <p:nvSpPr>
          <p:cNvPr id="11" name="Shape 3"/>
          <p:cNvSpPr/>
          <p:nvPr/>
        </p:nvSpPr>
        <p:spPr>
          <a:xfrm>
            <a:off x="8026400" y="3517900"/>
            <a:ext cx="34036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12" name="Text 4"/>
          <p:cNvSpPr/>
          <p:nvPr>
            <p:ph idx="110" type="body" hasCustomPrompt="1"/>
          </p:nvPr>
        </p:nvSpPr>
        <p:spPr>
          <a:xfrm>
            <a:off x="8026400" y="3657600"/>
            <a:ext cx="3403600" cy="2476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2.2   하위 항목 2</a:t>
            </a:r>
            <a:endParaRPr lang="ko-KR" sz="1300" dirty="0"/>
          </a:p>
        </p:txBody>
      </p:sp>
      <p:sp>
        <p:nvSpPr>
          <p:cNvPr id="13" name="Shape 4"/>
          <p:cNvSpPr/>
          <p:nvPr/>
        </p:nvSpPr>
        <p:spPr>
          <a:xfrm>
            <a:off x="4368800" y="4044950"/>
            <a:ext cx="34036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14" name="Text 5"/>
          <p:cNvSpPr/>
          <p:nvPr>
            <p:ph idx="112" type="body" hasCustomPrompt="1"/>
          </p:nvPr>
        </p:nvSpPr>
        <p:spPr>
          <a:xfrm>
            <a:off x="4368800" y="4184650"/>
            <a:ext cx="3403600" cy="2476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2.3   하위 항목 3</a:t>
            </a:r>
            <a:endParaRPr lang="ko-KR" sz="1300" dirty="0"/>
          </a:p>
        </p:txBody>
      </p:sp>
      <p:sp>
        <p:nvSpPr>
          <p:cNvPr id="15" name="Shape 5"/>
          <p:cNvSpPr/>
          <p:nvPr/>
        </p:nvSpPr>
        <p:spPr>
          <a:xfrm>
            <a:off x="4368800" y="4572000"/>
            <a:ext cx="34036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16" name="Shape 6"/>
          <p:cNvSpPr/>
          <p:nvPr/>
        </p:nvSpPr>
        <p:spPr>
          <a:xfrm>
            <a:off x="8026400" y="4044950"/>
            <a:ext cx="34036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17" name="Text 7"/>
          <p:cNvSpPr/>
          <p:nvPr>
            <p:ph idx="115" type="body" hasCustomPrompt="1"/>
          </p:nvPr>
        </p:nvSpPr>
        <p:spPr>
          <a:xfrm>
            <a:off x="8026400" y="4184650"/>
            <a:ext cx="3403600" cy="2476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2.4   하위 항목 4</a:t>
            </a:r>
            <a:endParaRPr lang="ko-KR" sz="1300" dirty="0"/>
          </a:p>
        </p:txBody>
      </p:sp>
      <p:sp>
        <p:nvSpPr>
          <p:cNvPr id="18" name="Shape 7"/>
          <p:cNvSpPr/>
          <p:nvPr/>
        </p:nvSpPr>
        <p:spPr>
          <a:xfrm>
            <a:off x="8026400" y="4572000"/>
            <a:ext cx="34036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19" name="Shape 8"/>
          <p:cNvSpPr/>
          <p:nvPr/>
        </p:nvSpPr>
        <p:spPr>
          <a:xfrm>
            <a:off x="762000" y="6197600"/>
            <a:ext cx="106680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20" name="Text 9"/>
          <p:cNvSpPr txBox="1"/>
          <p:nvPr/>
        </p:nvSpPr>
        <p:spPr>
          <a:xfrm>
            <a:off x="762000" y="6350000"/>
            <a:ext cx="508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Dongseo University · Smart Generation Lab</a:t>
            </a:r>
            <a:endParaRPr lang="ko-KR" sz="1000" dirty="0"/>
          </a:p>
        </p:txBody>
      </p:sp>
      <p:pic>
        <p:nvPicPr>
          <p:cNvPr id="21" name="Image 1" descr="/home/runner/work/sglab-brand/sglab-brand/dist/png/dot-ligh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09300" y="6413500"/>
            <a:ext cx="50800" cy="508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73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MO">
    <p:bg>
      <p:bgPr>
        <a:solidFill>
          <a:srgbClr val="F4F3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runner/work/sglab-brand/sglab-brand/dist/png/sgl-mark-light-512@2x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2000" y="355600"/>
            <a:ext cx="254000" cy="254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130300" y="393700"/>
            <a:ext cx="381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SMART GENERATION LAB</a:t>
            </a:r>
            <a:endParaRPr lang="ko-KR" sz="10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  PROJECTS</a:t>
            </a:r>
            <a:endParaRPr lang="ko-KR" sz="1000" dirty="0"/>
          </a:p>
        </p:txBody>
      </p:sp>
      <p:sp>
        <p:nvSpPr>
          <p:cNvPr id="5" name="Shape 1"/>
          <p:cNvSpPr/>
          <p:nvPr/>
        </p:nvSpPr>
        <p:spPr>
          <a:xfrm>
            <a:off x="762000" y="787400"/>
            <a:ext cx="106680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6" name="Text 2"/>
          <p:cNvSpPr/>
          <p:nvPr>
            <p:ph idx="104" type="title" hasCustomPrompt="1"/>
          </p:nvPr>
        </p:nvSpPr>
        <p:spPr>
          <a:xfrm>
            <a:off x="762000" y="1143000"/>
            <a:ext cx="6159500" cy="4089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15000"/>
              </a:lnSpc>
              <a:buNone/>
              <a:defRPr lang="ko-KR" altLang="en-US" sz="2800" spc="-84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15000"/>
              </a:lnSpc>
              <a:buNone/>
            </a:pPr>
            <a:r>
              <a:rPr lang="ko-KR" altLang="en-US" sz="2800" spc="-84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텍스트→영상 확산 모델 · 생성 결과</a:t>
            </a:r>
            <a:endParaRPr lang="ko-KR" sz="2800" dirty="0"/>
          </a:p>
        </p:txBody>
      </p:sp>
      <p:sp>
        <p:nvSpPr>
          <p:cNvPr id="7" name="Text 2"/>
          <p:cNvSpPr/>
          <p:nvPr>
            <p:ph idx="105" type="body" hasCustomPrompt="1"/>
          </p:nvPr>
        </p:nvSpPr>
        <p:spPr>
          <a:xfrm>
            <a:off x="7073900" y="1143000"/>
            <a:ext cx="4356100" cy="3708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프롬프트 4종, 각 16프레임 · 동일 시드 비교</a:t>
            </a:r>
            <a:endParaRPr lang="ko-KR" sz="1200" dirty="0"/>
          </a:p>
        </p:txBody>
      </p:sp>
      <p:sp>
        <p:nvSpPr>
          <p:cNvPr id="8" name="Shape 2"/>
          <p:cNvSpPr/>
          <p:nvPr/>
        </p:nvSpPr>
        <p:spPr>
          <a:xfrm>
            <a:off x="762000" y="1856740"/>
            <a:ext cx="2552700" cy="1811655"/>
          </a:xfrm>
          <a:prstGeom prst="rect">
            <a:avLst/>
          </a:prstGeom>
          <a:solidFill>
            <a:srgbClr val="E6E5E0"/>
          </a:solidFill>
          <a:ln w="12700">
            <a:solidFill>
              <a:srgbClr val="E6E5E0"/>
            </a:solidFill>
            <a:prstDash val="solid"/>
          </a:ln>
        </p:spPr>
      </p:sp>
      <p:sp>
        <p:nvSpPr>
          <p:cNvPr id="9" name="Text 3"/>
          <p:cNvSpPr txBox="1"/>
          <p:nvPr/>
        </p:nvSpPr>
        <p:spPr>
          <a:xfrm>
            <a:off x="889000" y="3363595"/>
            <a:ext cx="22987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 01 · 16:10</a:t>
            </a:r>
            <a:endParaRPr lang="ko-KR" sz="900" dirty="0"/>
          </a:p>
        </p:txBody>
      </p:sp>
      <p:sp>
        <p:nvSpPr>
          <p:cNvPr id="10" name="Text 4"/>
          <p:cNvSpPr/>
          <p:nvPr>
            <p:ph idx="108" hasCustomPrompt="1"/>
          </p:nvPr>
        </p:nvSpPr>
        <p:spPr>
          <a:xfrm>
            <a:off x="762000" y="1856740"/>
            <a:ext cx="2552700" cy="1811655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sp>
        <p:nvSpPr>
          <p:cNvPr id="11" name="Shape 4"/>
          <p:cNvSpPr/>
          <p:nvPr/>
        </p:nvSpPr>
        <p:spPr>
          <a:xfrm>
            <a:off x="3467100" y="1856740"/>
            <a:ext cx="2552700" cy="1811655"/>
          </a:xfrm>
          <a:prstGeom prst="rect">
            <a:avLst/>
          </a:prstGeom>
          <a:solidFill>
            <a:srgbClr val="E6E5E0"/>
          </a:solidFill>
          <a:ln w="12700">
            <a:solidFill>
              <a:srgbClr val="E6E5E0"/>
            </a:solidFill>
            <a:prstDash val="solid"/>
          </a:ln>
        </p:spPr>
      </p:sp>
      <p:sp>
        <p:nvSpPr>
          <p:cNvPr id="12" name="Text 5"/>
          <p:cNvSpPr txBox="1"/>
          <p:nvPr/>
        </p:nvSpPr>
        <p:spPr>
          <a:xfrm>
            <a:off x="3594100" y="3363595"/>
            <a:ext cx="22987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 02</a:t>
            </a:r>
            <a:endParaRPr lang="ko-KR" sz="900" dirty="0"/>
          </a:p>
        </p:txBody>
      </p:sp>
      <p:sp>
        <p:nvSpPr>
          <p:cNvPr id="13" name="Text 6"/>
          <p:cNvSpPr/>
          <p:nvPr>
            <p:ph idx="111" hasCustomPrompt="1"/>
          </p:nvPr>
        </p:nvSpPr>
        <p:spPr>
          <a:xfrm>
            <a:off x="3467100" y="1856740"/>
            <a:ext cx="2552700" cy="1811655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sp>
        <p:nvSpPr>
          <p:cNvPr id="14" name="Shape 6"/>
          <p:cNvSpPr/>
          <p:nvPr/>
        </p:nvSpPr>
        <p:spPr>
          <a:xfrm>
            <a:off x="6172200" y="1856740"/>
            <a:ext cx="2552700" cy="1811655"/>
          </a:xfrm>
          <a:prstGeom prst="rect">
            <a:avLst/>
          </a:prstGeom>
          <a:solidFill>
            <a:srgbClr val="E6E5E0"/>
          </a:solidFill>
          <a:ln w="12700">
            <a:solidFill>
              <a:srgbClr val="E6E5E0"/>
            </a:solidFill>
            <a:prstDash val="solid"/>
          </a:ln>
        </p:spPr>
      </p:sp>
      <p:sp>
        <p:nvSpPr>
          <p:cNvPr id="15" name="Text 7"/>
          <p:cNvSpPr txBox="1"/>
          <p:nvPr/>
        </p:nvSpPr>
        <p:spPr>
          <a:xfrm>
            <a:off x="6299200" y="3363595"/>
            <a:ext cx="22987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 03</a:t>
            </a:r>
            <a:endParaRPr lang="ko-KR" sz="900" dirty="0"/>
          </a:p>
        </p:txBody>
      </p:sp>
      <p:sp>
        <p:nvSpPr>
          <p:cNvPr id="16" name="Text 8"/>
          <p:cNvSpPr/>
          <p:nvPr>
            <p:ph idx="114" hasCustomPrompt="1"/>
          </p:nvPr>
        </p:nvSpPr>
        <p:spPr>
          <a:xfrm>
            <a:off x="6172200" y="1856740"/>
            <a:ext cx="2552700" cy="1811655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sp>
        <p:nvSpPr>
          <p:cNvPr id="17" name="Shape 8"/>
          <p:cNvSpPr/>
          <p:nvPr/>
        </p:nvSpPr>
        <p:spPr>
          <a:xfrm>
            <a:off x="8877300" y="1856740"/>
            <a:ext cx="2552700" cy="1811655"/>
          </a:xfrm>
          <a:prstGeom prst="rect">
            <a:avLst/>
          </a:prstGeom>
          <a:solidFill>
            <a:srgbClr val="E6E5E0"/>
          </a:solidFill>
          <a:ln w="12700">
            <a:solidFill>
              <a:srgbClr val="E6E5E0"/>
            </a:solidFill>
            <a:prstDash val="solid"/>
          </a:ln>
        </p:spPr>
      </p:sp>
      <p:sp>
        <p:nvSpPr>
          <p:cNvPr id="18" name="Text 9"/>
          <p:cNvSpPr txBox="1"/>
          <p:nvPr/>
        </p:nvSpPr>
        <p:spPr>
          <a:xfrm>
            <a:off x="9004300" y="3363595"/>
            <a:ext cx="22987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 04</a:t>
            </a:r>
            <a:endParaRPr lang="ko-KR" sz="900" dirty="0"/>
          </a:p>
        </p:txBody>
      </p:sp>
      <p:sp>
        <p:nvSpPr>
          <p:cNvPr id="19" name="Text 10"/>
          <p:cNvSpPr/>
          <p:nvPr>
            <p:ph idx="117" hasCustomPrompt="1"/>
          </p:nvPr>
        </p:nvSpPr>
        <p:spPr>
          <a:xfrm>
            <a:off x="8877300" y="1856740"/>
            <a:ext cx="2552700" cy="1811655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sp>
        <p:nvSpPr>
          <p:cNvPr id="20" name="Shape 10"/>
          <p:cNvSpPr/>
          <p:nvPr/>
        </p:nvSpPr>
        <p:spPr>
          <a:xfrm>
            <a:off x="762000" y="3820795"/>
            <a:ext cx="2552700" cy="1811655"/>
          </a:xfrm>
          <a:prstGeom prst="rect">
            <a:avLst/>
          </a:prstGeom>
          <a:solidFill>
            <a:srgbClr val="E6E5E0"/>
          </a:solidFill>
          <a:ln w="12700">
            <a:solidFill>
              <a:srgbClr val="E6E5E0"/>
            </a:solidFill>
            <a:prstDash val="solid"/>
          </a:ln>
        </p:spPr>
      </p:sp>
      <p:sp>
        <p:nvSpPr>
          <p:cNvPr id="21" name="Text 11"/>
          <p:cNvSpPr txBox="1"/>
          <p:nvPr/>
        </p:nvSpPr>
        <p:spPr>
          <a:xfrm>
            <a:off x="889000" y="5327650"/>
            <a:ext cx="22987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 05</a:t>
            </a:r>
            <a:endParaRPr lang="ko-KR" sz="900" dirty="0"/>
          </a:p>
        </p:txBody>
      </p:sp>
      <p:sp>
        <p:nvSpPr>
          <p:cNvPr id="22" name="Text 12"/>
          <p:cNvSpPr/>
          <p:nvPr>
            <p:ph idx="120" hasCustomPrompt="1"/>
          </p:nvPr>
        </p:nvSpPr>
        <p:spPr>
          <a:xfrm>
            <a:off x="762000" y="3820795"/>
            <a:ext cx="2552700" cy="1811655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sp>
        <p:nvSpPr>
          <p:cNvPr id="23" name="Shape 12"/>
          <p:cNvSpPr/>
          <p:nvPr/>
        </p:nvSpPr>
        <p:spPr>
          <a:xfrm>
            <a:off x="3467100" y="3820795"/>
            <a:ext cx="2552700" cy="1811655"/>
          </a:xfrm>
          <a:prstGeom prst="rect">
            <a:avLst/>
          </a:prstGeom>
          <a:solidFill>
            <a:srgbClr val="E6E5E0"/>
          </a:solidFill>
          <a:ln w="12700">
            <a:solidFill>
              <a:srgbClr val="E6E5E0"/>
            </a:solidFill>
            <a:prstDash val="solid"/>
          </a:ln>
        </p:spPr>
      </p:sp>
      <p:sp>
        <p:nvSpPr>
          <p:cNvPr id="24" name="Text 13"/>
          <p:cNvSpPr txBox="1"/>
          <p:nvPr/>
        </p:nvSpPr>
        <p:spPr>
          <a:xfrm>
            <a:off x="3594100" y="5327650"/>
            <a:ext cx="22987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 06</a:t>
            </a:r>
            <a:endParaRPr lang="ko-KR" sz="900" dirty="0"/>
          </a:p>
        </p:txBody>
      </p:sp>
      <p:sp>
        <p:nvSpPr>
          <p:cNvPr id="25" name="Text 14"/>
          <p:cNvSpPr/>
          <p:nvPr>
            <p:ph idx="123" hasCustomPrompt="1"/>
          </p:nvPr>
        </p:nvSpPr>
        <p:spPr>
          <a:xfrm>
            <a:off x="3467100" y="3820795"/>
            <a:ext cx="2552700" cy="1811655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sp>
        <p:nvSpPr>
          <p:cNvPr id="26" name="Shape 14"/>
          <p:cNvSpPr/>
          <p:nvPr/>
        </p:nvSpPr>
        <p:spPr>
          <a:xfrm>
            <a:off x="6172200" y="3820795"/>
            <a:ext cx="2552700" cy="1811655"/>
          </a:xfrm>
          <a:prstGeom prst="rect">
            <a:avLst/>
          </a:prstGeom>
          <a:solidFill>
            <a:srgbClr val="E6E5E0"/>
          </a:solidFill>
          <a:ln w="12700">
            <a:solidFill>
              <a:srgbClr val="E6E5E0"/>
            </a:solidFill>
            <a:prstDash val="solid"/>
          </a:ln>
        </p:spPr>
      </p:sp>
      <p:sp>
        <p:nvSpPr>
          <p:cNvPr id="27" name="Text 15"/>
          <p:cNvSpPr txBox="1"/>
          <p:nvPr/>
        </p:nvSpPr>
        <p:spPr>
          <a:xfrm>
            <a:off x="6299200" y="5327650"/>
            <a:ext cx="22987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 07</a:t>
            </a:r>
            <a:endParaRPr lang="ko-KR" sz="900" dirty="0"/>
          </a:p>
        </p:txBody>
      </p:sp>
      <p:sp>
        <p:nvSpPr>
          <p:cNvPr id="28" name="Text 16"/>
          <p:cNvSpPr/>
          <p:nvPr>
            <p:ph idx="126" hasCustomPrompt="1"/>
          </p:nvPr>
        </p:nvSpPr>
        <p:spPr>
          <a:xfrm>
            <a:off x="6172200" y="3820795"/>
            <a:ext cx="2552700" cy="1811655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sp>
        <p:nvSpPr>
          <p:cNvPr id="29" name="Shape 16"/>
          <p:cNvSpPr/>
          <p:nvPr/>
        </p:nvSpPr>
        <p:spPr>
          <a:xfrm>
            <a:off x="8877300" y="3820795"/>
            <a:ext cx="2552700" cy="1811655"/>
          </a:xfrm>
          <a:prstGeom prst="rect">
            <a:avLst/>
          </a:prstGeom>
          <a:solidFill>
            <a:srgbClr val="E6E5E0"/>
          </a:solidFill>
          <a:ln w="12700">
            <a:solidFill>
              <a:srgbClr val="E6E5E0"/>
            </a:solidFill>
            <a:prstDash val="solid"/>
          </a:ln>
        </p:spPr>
      </p:sp>
      <p:sp>
        <p:nvSpPr>
          <p:cNvPr id="30" name="Text 17"/>
          <p:cNvSpPr txBox="1"/>
          <p:nvPr/>
        </p:nvSpPr>
        <p:spPr>
          <a:xfrm>
            <a:off x="9004300" y="5327650"/>
            <a:ext cx="22987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 08</a:t>
            </a:r>
            <a:endParaRPr lang="ko-KR" sz="900" dirty="0"/>
          </a:p>
        </p:txBody>
      </p:sp>
      <p:sp>
        <p:nvSpPr>
          <p:cNvPr id="31" name="Text 18"/>
          <p:cNvSpPr/>
          <p:nvPr>
            <p:ph idx="129" hasCustomPrompt="1"/>
          </p:nvPr>
        </p:nvSpPr>
        <p:spPr>
          <a:xfrm>
            <a:off x="8877300" y="3820795"/>
            <a:ext cx="2552700" cy="1811655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sp>
        <p:nvSpPr>
          <p:cNvPr id="32" name="Text 18"/>
          <p:cNvSpPr/>
          <p:nvPr>
            <p:ph idx="130" type="body" hasCustomPrompt="1"/>
          </p:nvPr>
        </p:nvSpPr>
        <p:spPr>
          <a:xfrm>
            <a:off x="762000" y="5784850"/>
            <a:ext cx="10668000" cy="2095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1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1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캡션 한 줄 — 모델, 해상도, 스텝 수, 비교 기준.</a:t>
            </a:r>
            <a:endParaRPr lang="ko-KR" sz="1100" dirty="0"/>
          </a:p>
        </p:txBody>
      </p:sp>
      <p:sp>
        <p:nvSpPr>
          <p:cNvPr id="33" name="Shape 18"/>
          <p:cNvSpPr/>
          <p:nvPr/>
        </p:nvSpPr>
        <p:spPr>
          <a:xfrm>
            <a:off x="762000" y="6197600"/>
            <a:ext cx="106680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34" name="Text 19"/>
          <p:cNvSpPr txBox="1"/>
          <p:nvPr/>
        </p:nvSpPr>
        <p:spPr>
          <a:xfrm>
            <a:off x="762000" y="6350000"/>
            <a:ext cx="508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Dongseo University · Smart Generation Lab</a:t>
            </a:r>
            <a:endParaRPr lang="ko-KR" sz="1000" dirty="0"/>
          </a:p>
        </p:txBody>
      </p:sp>
      <p:pic>
        <p:nvPicPr>
          <p:cNvPr id="35" name="Image 1" descr="/home/runner/work/sglab-brand/sglab-brand/dist/png/dot-ligh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09300" y="6413500"/>
            <a:ext cx="50800" cy="508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73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ACT">
    <p:bg>
      <p:bgPr>
        <a:solidFill>
          <a:srgbClr val="F4F3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runner/work/sglab-brand/sglab-brand/dist/png/sgl-mark-light-512@2x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2000" y="355600"/>
            <a:ext cx="254000" cy="254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130300" y="393700"/>
            <a:ext cx="381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SMART GENERATION LAB</a:t>
            </a:r>
            <a:endParaRPr lang="ko-KR" sz="10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CONTACT</a:t>
            </a:r>
            <a:endParaRPr lang="ko-KR" sz="1000" dirty="0"/>
          </a:p>
        </p:txBody>
      </p:sp>
      <p:sp>
        <p:nvSpPr>
          <p:cNvPr id="5" name="Shape 1"/>
          <p:cNvSpPr/>
          <p:nvPr/>
        </p:nvSpPr>
        <p:spPr>
          <a:xfrm>
            <a:off x="762000" y="787400"/>
            <a:ext cx="106680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pic>
        <p:nvPicPr>
          <p:cNvPr id="6" name="Image 1" descr="/home/runner/work/sglab-brand/sglab-brand/dist/png/sgl-mark-light-512@2x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2000" y="1778000"/>
            <a:ext cx="1016000" cy="1016000"/>
          </a:xfrm>
          <a:prstGeom prst="rect">
            <a:avLst/>
          </a:prstGeom>
        </p:spPr>
      </p:pic>
      <p:sp>
        <p:nvSpPr>
          <p:cNvPr id="7" name="Text 2"/>
          <p:cNvSpPr/>
          <p:nvPr>
            <p:ph idx="105" type="title" hasCustomPrompt="1"/>
          </p:nvPr>
        </p:nvSpPr>
        <p:spPr>
          <a:xfrm>
            <a:off x="762000" y="4470400"/>
            <a:ext cx="6159500" cy="11366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12000"/>
              </a:lnSpc>
              <a:buNone/>
              <a:defRPr lang="ko-KR" altLang="en-US" sz="4000" spc="-14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12000"/>
              </a:lnSpc>
              <a:buNone/>
            </a:pPr>
            <a:r>
              <a:rPr lang="ko-KR" altLang="en-US" sz="4000" spc="-14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함께 만들 사람과</a:t>
            </a:r>
            <a:endParaRPr lang="ko-KR" sz="4000" dirty="0"/>
          </a:p>
          <a:p>
            <a:pPr algn="l" indent="0" marL="0">
              <a:lnSpc>
                <a:spcPct val="112000"/>
              </a:lnSpc>
              <a:buNone/>
            </a:pPr>
            <a:r>
              <a:rPr lang="ko-KR" altLang="en-US" sz="4000" spc="-14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함께 풀 문제를 찾습니다.</a:t>
            </a:r>
            <a:endParaRPr lang="ko-KR" sz="4000" dirty="0"/>
          </a:p>
        </p:txBody>
      </p:sp>
      <p:sp>
        <p:nvSpPr>
          <p:cNvPr id="8" name="Text 2"/>
          <p:cNvSpPr/>
          <p:nvPr>
            <p:ph idx="106" type="body" hasCustomPrompt="1"/>
          </p:nvPr>
        </p:nvSpPr>
        <p:spPr>
          <a:xfrm>
            <a:off x="762000" y="5810250"/>
            <a:ext cx="6159500" cy="2857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5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5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대학원·학부연구생 지원, 산학 협력, 공동 연구 제안</a:t>
            </a:r>
            <a:endParaRPr lang="ko-KR" sz="1500" dirty="0"/>
          </a:p>
        </p:txBody>
      </p:sp>
      <p:sp>
        <p:nvSpPr>
          <p:cNvPr id="9" name="Shape 2"/>
          <p:cNvSpPr/>
          <p:nvPr/>
        </p:nvSpPr>
        <p:spPr>
          <a:xfrm>
            <a:off x="7975600" y="4978400"/>
            <a:ext cx="34544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10" name="Text 3"/>
          <p:cNvSpPr txBox="1"/>
          <p:nvPr/>
        </p:nvSpPr>
        <p:spPr>
          <a:xfrm>
            <a:off x="7975600" y="5156200"/>
            <a:ext cx="76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ko-KR" altLang="en-US" sz="13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Email</a:t>
            </a:r>
            <a:endParaRPr lang="ko-KR" sz="1300" dirty="0"/>
          </a:p>
        </p:txBody>
      </p:sp>
      <p:sp>
        <p:nvSpPr>
          <p:cNvPr id="11" name="Text 4"/>
          <p:cNvSpPr/>
          <p:nvPr>
            <p:ph idx="109" type="body" hasCustomPrompt="1"/>
          </p:nvPr>
        </p:nvSpPr>
        <p:spPr>
          <a:xfrm>
            <a:off x="8864600" y="5156200"/>
            <a:ext cx="2565400" cy="228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40000"/>
              </a:lnSpc>
              <a:buNone/>
              <a:defRPr lang="ko-KR" altLang="en-US" sz="1300" dirty="0">
                <a:solidFill>
                  <a:srgbClr val="A8863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40000"/>
              </a:lnSpc>
              <a:buNone/>
            </a:pPr>
            <a:r>
              <a:rPr lang="ko-KR" altLang="en-US" sz="1300" dirty="0">
                <a:solidFill>
                  <a:srgbClr val="A8863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이메일 주소 자리</a:t>
            </a:r>
            <a:endParaRPr lang="ko-KR" sz="1300" dirty="0"/>
          </a:p>
        </p:txBody>
      </p:sp>
      <p:sp>
        <p:nvSpPr>
          <p:cNvPr id="12" name="Text 4"/>
          <p:cNvSpPr txBox="1"/>
          <p:nvPr/>
        </p:nvSpPr>
        <p:spPr>
          <a:xfrm>
            <a:off x="7975600" y="5511800"/>
            <a:ext cx="76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ko-KR" altLang="en-US" sz="13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Phone</a:t>
            </a:r>
            <a:endParaRPr lang="ko-KR" sz="1300" dirty="0"/>
          </a:p>
        </p:txBody>
      </p:sp>
      <p:sp>
        <p:nvSpPr>
          <p:cNvPr id="13" name="Text 5"/>
          <p:cNvSpPr/>
          <p:nvPr>
            <p:ph idx="111" type="body" hasCustomPrompt="1"/>
          </p:nvPr>
        </p:nvSpPr>
        <p:spPr>
          <a:xfrm>
            <a:off x="8864600" y="5511800"/>
            <a:ext cx="2565400" cy="228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40000"/>
              </a:lnSpc>
              <a:buNone/>
              <a:def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40000"/>
              </a:lnSpc>
              <a:buNone/>
            </a:pPr>
            <a:r>
              <a: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전화번호 자리</a:t>
            </a:r>
            <a:endParaRPr lang="ko-KR" sz="1300" dirty="0"/>
          </a:p>
        </p:txBody>
      </p:sp>
      <p:sp>
        <p:nvSpPr>
          <p:cNvPr id="14" name="Text 5"/>
          <p:cNvSpPr txBox="1"/>
          <p:nvPr/>
        </p:nvSpPr>
        <p:spPr>
          <a:xfrm>
            <a:off x="7975600" y="5867400"/>
            <a:ext cx="76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ko-KR" altLang="en-US" sz="13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Web</a:t>
            </a:r>
            <a:endParaRPr lang="ko-KR" sz="1300" dirty="0"/>
          </a:p>
        </p:txBody>
      </p:sp>
      <p:sp>
        <p:nvSpPr>
          <p:cNvPr id="15" name="Text 6"/>
          <p:cNvSpPr/>
          <p:nvPr>
            <p:ph idx="113" type="body" hasCustomPrompt="1"/>
          </p:nvPr>
        </p:nvSpPr>
        <p:spPr>
          <a:xfrm>
            <a:off x="8864600" y="5867400"/>
            <a:ext cx="2565400" cy="228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40000"/>
              </a:lnSpc>
              <a:buNone/>
              <a:def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40000"/>
              </a:lnSpc>
              <a:buNone/>
            </a:pPr>
            <a:r>
              <a: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홈페이지 주소 자리</a:t>
            </a:r>
            <a:endParaRPr lang="ko-KR" sz="1300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GENDA">
    <p:bg>
      <p:bgPr>
        <a:solidFill>
          <a:srgbClr val="F4F3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runner/work/sglab-brand/sglab-brand/dist/png/sgl-mark-light-512@2x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2000" y="355600"/>
            <a:ext cx="254000" cy="254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130300" y="393700"/>
            <a:ext cx="381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SMART GENERATION LAB</a:t>
            </a:r>
            <a:endParaRPr lang="ko-KR" sz="10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  AGENDA</a:t>
            </a:r>
            <a:endParaRPr lang="ko-KR" sz="1000" dirty="0"/>
          </a:p>
        </p:txBody>
      </p:sp>
      <p:sp>
        <p:nvSpPr>
          <p:cNvPr id="5" name="Shape 1"/>
          <p:cNvSpPr/>
          <p:nvPr/>
        </p:nvSpPr>
        <p:spPr>
          <a:xfrm>
            <a:off x="762000" y="787400"/>
            <a:ext cx="106680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6" name="Text 2"/>
          <p:cNvSpPr/>
          <p:nvPr>
            <p:ph idx="104" type="title" hasCustomPrompt="1"/>
          </p:nvPr>
        </p:nvSpPr>
        <p:spPr>
          <a:xfrm>
            <a:off x="762000" y="1193800"/>
            <a:ext cx="7061200" cy="4381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15000"/>
              </a:lnSpc>
              <a:buNone/>
              <a:defRPr lang="ko-KR" altLang="en-US" sz="3000" spc="-9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15000"/>
              </a:lnSpc>
              <a:buNone/>
            </a:pPr>
            <a:r>
              <a:rPr lang="ko-KR" altLang="en-US" sz="3000" spc="-9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목차</a:t>
            </a:r>
            <a:endParaRPr lang="ko-KR" sz="3000" dirty="0"/>
          </a:p>
        </p:txBody>
      </p:sp>
      <p:sp>
        <p:nvSpPr>
          <p:cNvPr id="7" name="Text 2"/>
          <p:cNvSpPr/>
          <p:nvPr>
            <p:ph idx="105" type="body" hasCustomPrompt="1"/>
          </p:nvPr>
        </p:nvSpPr>
        <p:spPr>
          <a:xfrm>
            <a:off x="7975600" y="939800"/>
            <a:ext cx="3454400" cy="6540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3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 다룰 다섯 가지</a:t>
            </a:r>
            <a:endParaRPr lang="ko-KR" sz="1300" dirty="0"/>
          </a:p>
        </p:txBody>
      </p:sp>
      <p:sp>
        <p:nvSpPr>
          <p:cNvPr id="8" name="Shape 2"/>
          <p:cNvSpPr/>
          <p:nvPr/>
        </p:nvSpPr>
        <p:spPr>
          <a:xfrm>
            <a:off x="762000" y="2038350"/>
            <a:ext cx="61595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9" name="Text 3"/>
          <p:cNvSpPr txBox="1"/>
          <p:nvPr/>
        </p:nvSpPr>
        <p:spPr>
          <a:xfrm>
            <a:off x="762000" y="2216150"/>
            <a:ext cx="4064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1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ko-KR" sz="1100" dirty="0"/>
          </a:p>
        </p:txBody>
      </p:sp>
      <p:sp>
        <p:nvSpPr>
          <p:cNvPr id="10" name="Text 4"/>
          <p:cNvSpPr/>
          <p:nvPr>
            <p:ph idx="108" type="body" hasCustomPrompt="1"/>
          </p:nvPr>
        </p:nvSpPr>
        <p:spPr>
          <a:xfrm>
            <a:off x="1295400" y="2178050"/>
            <a:ext cx="5626100" cy="2476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30000"/>
              </a:lnSpc>
              <a:buNone/>
              <a:defRPr lang="ko-KR" altLang="en-US" sz="15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30000"/>
              </a:lnSpc>
              <a:buNone/>
            </a:pPr>
            <a:r>
              <a:rPr lang="ko-KR" altLang="en-US" sz="15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항목 1 제목 자리</a:t>
            </a:r>
            <a:endParaRPr lang="ko-KR" sz="1500" dirty="0"/>
          </a:p>
        </p:txBody>
      </p:sp>
      <p:sp>
        <p:nvSpPr>
          <p:cNvPr id="11" name="Shape 4"/>
          <p:cNvSpPr/>
          <p:nvPr/>
        </p:nvSpPr>
        <p:spPr>
          <a:xfrm>
            <a:off x="762000" y="2565400"/>
            <a:ext cx="61595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12" name="Text 5"/>
          <p:cNvSpPr txBox="1"/>
          <p:nvPr/>
        </p:nvSpPr>
        <p:spPr>
          <a:xfrm>
            <a:off x="762000" y="2743200"/>
            <a:ext cx="4064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1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ko-KR" sz="1100" dirty="0"/>
          </a:p>
        </p:txBody>
      </p:sp>
      <p:sp>
        <p:nvSpPr>
          <p:cNvPr id="13" name="Text 6"/>
          <p:cNvSpPr/>
          <p:nvPr>
            <p:ph idx="111" type="body" hasCustomPrompt="1"/>
          </p:nvPr>
        </p:nvSpPr>
        <p:spPr>
          <a:xfrm>
            <a:off x="1295400" y="2705100"/>
            <a:ext cx="5626100" cy="2476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30000"/>
              </a:lnSpc>
              <a:buNone/>
              <a:defRPr lang="ko-KR" altLang="en-US" sz="15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30000"/>
              </a:lnSpc>
              <a:buNone/>
            </a:pPr>
            <a:r>
              <a:rPr lang="ko-KR" altLang="en-US" sz="15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항목 2 제목 자리</a:t>
            </a:r>
            <a:endParaRPr lang="ko-KR" sz="1500" dirty="0"/>
          </a:p>
        </p:txBody>
      </p:sp>
      <p:sp>
        <p:nvSpPr>
          <p:cNvPr id="14" name="Shape 6"/>
          <p:cNvSpPr/>
          <p:nvPr/>
        </p:nvSpPr>
        <p:spPr>
          <a:xfrm>
            <a:off x="762000" y="3092450"/>
            <a:ext cx="61595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15" name="Text 7"/>
          <p:cNvSpPr txBox="1"/>
          <p:nvPr/>
        </p:nvSpPr>
        <p:spPr>
          <a:xfrm>
            <a:off x="762000" y="3270250"/>
            <a:ext cx="4064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1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ko-KR" sz="1100" dirty="0"/>
          </a:p>
        </p:txBody>
      </p:sp>
      <p:sp>
        <p:nvSpPr>
          <p:cNvPr id="16" name="Text 8"/>
          <p:cNvSpPr/>
          <p:nvPr>
            <p:ph idx="114" type="body" hasCustomPrompt="1"/>
          </p:nvPr>
        </p:nvSpPr>
        <p:spPr>
          <a:xfrm>
            <a:off x="1295400" y="3232150"/>
            <a:ext cx="5626100" cy="2476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30000"/>
              </a:lnSpc>
              <a:buNone/>
              <a:defRPr lang="ko-KR" altLang="en-US" sz="15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30000"/>
              </a:lnSpc>
              <a:buNone/>
            </a:pPr>
            <a:r>
              <a:rPr lang="ko-KR" altLang="en-US" sz="15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항목 3 제목 자리</a:t>
            </a:r>
            <a:endParaRPr lang="ko-KR" sz="1500" dirty="0"/>
          </a:p>
        </p:txBody>
      </p:sp>
      <p:sp>
        <p:nvSpPr>
          <p:cNvPr id="17" name="Shape 8"/>
          <p:cNvSpPr/>
          <p:nvPr/>
        </p:nvSpPr>
        <p:spPr>
          <a:xfrm>
            <a:off x="762000" y="3619500"/>
            <a:ext cx="61595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18" name="Text 9"/>
          <p:cNvSpPr txBox="1"/>
          <p:nvPr/>
        </p:nvSpPr>
        <p:spPr>
          <a:xfrm>
            <a:off x="762000" y="3797300"/>
            <a:ext cx="4064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1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</a:t>
            </a:r>
            <a:endParaRPr lang="ko-KR" sz="1100" dirty="0"/>
          </a:p>
        </p:txBody>
      </p:sp>
      <p:sp>
        <p:nvSpPr>
          <p:cNvPr id="19" name="Text 10"/>
          <p:cNvSpPr/>
          <p:nvPr>
            <p:ph idx="117" type="body" hasCustomPrompt="1"/>
          </p:nvPr>
        </p:nvSpPr>
        <p:spPr>
          <a:xfrm>
            <a:off x="1295400" y="3759200"/>
            <a:ext cx="5626100" cy="2476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30000"/>
              </a:lnSpc>
              <a:buNone/>
              <a:defRPr lang="ko-KR" altLang="en-US" sz="15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30000"/>
              </a:lnSpc>
              <a:buNone/>
            </a:pPr>
            <a:r>
              <a:rPr lang="ko-KR" altLang="en-US" sz="15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항목 4 제목 자리</a:t>
            </a:r>
            <a:endParaRPr lang="ko-KR" sz="1500" dirty="0"/>
          </a:p>
        </p:txBody>
      </p:sp>
      <p:sp>
        <p:nvSpPr>
          <p:cNvPr id="20" name="Shape 10"/>
          <p:cNvSpPr/>
          <p:nvPr/>
        </p:nvSpPr>
        <p:spPr>
          <a:xfrm>
            <a:off x="762000" y="4146550"/>
            <a:ext cx="61595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21" name="Text 11"/>
          <p:cNvSpPr txBox="1"/>
          <p:nvPr/>
        </p:nvSpPr>
        <p:spPr>
          <a:xfrm>
            <a:off x="762000" y="4324350"/>
            <a:ext cx="4064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1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</a:t>
            </a:r>
            <a:endParaRPr lang="ko-KR" sz="1100" dirty="0"/>
          </a:p>
        </p:txBody>
      </p:sp>
      <p:sp>
        <p:nvSpPr>
          <p:cNvPr id="22" name="Text 12"/>
          <p:cNvSpPr/>
          <p:nvPr>
            <p:ph idx="120" type="body" hasCustomPrompt="1"/>
          </p:nvPr>
        </p:nvSpPr>
        <p:spPr>
          <a:xfrm>
            <a:off x="1295400" y="4286250"/>
            <a:ext cx="5626100" cy="2476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30000"/>
              </a:lnSpc>
              <a:buNone/>
              <a:defRPr lang="ko-KR" altLang="en-US" sz="15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30000"/>
              </a:lnSpc>
              <a:buNone/>
            </a:pPr>
            <a:r>
              <a:rPr lang="ko-KR" altLang="en-US" sz="15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항목 5 제목 자리</a:t>
            </a:r>
            <a:endParaRPr lang="ko-KR" sz="1500" dirty="0"/>
          </a:p>
        </p:txBody>
      </p:sp>
      <p:sp>
        <p:nvSpPr>
          <p:cNvPr id="23" name="Shape 12"/>
          <p:cNvSpPr/>
          <p:nvPr/>
        </p:nvSpPr>
        <p:spPr>
          <a:xfrm>
            <a:off x="762000" y="4673600"/>
            <a:ext cx="61595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24" name="Text 13"/>
          <p:cNvSpPr/>
          <p:nvPr>
            <p:ph idx="122" type="body" hasCustomPrompt="1"/>
          </p:nvPr>
        </p:nvSpPr>
        <p:spPr>
          <a:xfrm>
            <a:off x="7975600" y="2178050"/>
            <a:ext cx="3454400" cy="1905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오른쪽 메모 자리 — 발표 맥락, 소요 시간, 자료 링크</a:t>
            </a:r>
            <a:endParaRPr lang="ko-KR" sz="1200" dirty="0"/>
          </a:p>
        </p:txBody>
      </p:sp>
      <p:sp>
        <p:nvSpPr>
          <p:cNvPr id="25" name="Shape 13"/>
          <p:cNvSpPr/>
          <p:nvPr/>
        </p:nvSpPr>
        <p:spPr>
          <a:xfrm>
            <a:off x="762000" y="6197600"/>
            <a:ext cx="106680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26" name="Text 14"/>
          <p:cNvSpPr txBox="1"/>
          <p:nvPr/>
        </p:nvSpPr>
        <p:spPr>
          <a:xfrm>
            <a:off x="762000" y="6350000"/>
            <a:ext cx="508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Dongseo University · Smart Generation Lab</a:t>
            </a:r>
            <a:endParaRPr lang="ko-KR" sz="1000" dirty="0"/>
          </a:p>
        </p:txBody>
      </p:sp>
      <p:pic>
        <p:nvPicPr>
          <p:cNvPr id="27" name="Image 1" descr="/home/runner/work/sglab-brand/sglab-brand/dist/png/dot-ligh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09300" y="6413500"/>
            <a:ext cx="50800" cy="508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73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1007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FULLBLEED">
    <p:bg>
      <p:bgPr>
        <a:solidFill>
          <a:srgbClr val="F4F3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E6E5E0"/>
          </a:solidFill>
          <a:ln w="12700">
            <a:solidFill>
              <a:srgbClr val="E6E5E0"/>
            </a:solidFill>
            <a:prstDash val="solid"/>
          </a:ln>
        </p:spPr>
      </p:sp>
      <p:sp>
        <p:nvSpPr>
          <p:cNvPr id="3" name="Text 1"/>
          <p:cNvSpPr/>
          <p:nvPr>
            <p:ph idx="101" hasCustomPrompt="1"/>
          </p:nvPr>
        </p:nvSpPr>
        <p:spPr>
          <a:xfrm>
            <a:off x="0" y="0"/>
            <a:ext cx="12192000" cy="68580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pic>
        <p:nvPicPr>
          <p:cNvPr id="4" name="Image 0" descr="/home/runner/work/sglab-brand/sglab-brand/dist/png/sgl-mark-light-512@2x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2000" y="355600"/>
            <a:ext cx="254000" cy="254000"/>
          </a:xfrm>
          <a:prstGeom prst="rect">
            <a:avLst/>
          </a:prstGeom>
        </p:spPr>
      </p:pic>
      <p:sp>
        <p:nvSpPr>
          <p:cNvPr id="5" name="Text 1"/>
          <p:cNvSpPr/>
          <p:nvPr>
            <p:ph idx="103" type="title" hasCustomPrompt="1"/>
          </p:nvPr>
        </p:nvSpPr>
        <p:spPr>
          <a:xfrm>
            <a:off x="762000" y="5257800"/>
            <a:ext cx="7620000" cy="3302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15000"/>
              </a:lnSpc>
              <a:buNone/>
              <a:defRPr lang="ko-KR" altLang="en-US" sz="2200" spc="-66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15000"/>
              </a:lnSpc>
              <a:buNone/>
            </a:pPr>
            <a:r>
              <a:rPr lang="ko-KR" altLang="en-US" sz="2200" spc="-66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전면 이미지 제목 자리</a:t>
            </a:r>
            <a:endParaRPr lang="ko-KR" sz="2200" dirty="0"/>
          </a:p>
        </p:txBody>
      </p:sp>
      <p:sp>
        <p:nvSpPr>
          <p:cNvPr id="6" name="Text 1"/>
          <p:cNvSpPr/>
          <p:nvPr>
            <p:ph idx="104" type="body" hasCustomPrompt="1"/>
          </p:nvPr>
        </p:nvSpPr>
        <p:spPr>
          <a:xfrm>
            <a:off x="762000" y="5765800"/>
            <a:ext cx="7620000" cy="228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캡션 — 모델, 해상도, 출처</a:t>
            </a:r>
            <a:endParaRPr lang="ko-KR" sz="1200" dirty="0"/>
          </a:p>
        </p:txBody>
      </p:sp>
      <p:sp>
        <p:nvSpPr>
          <p:cNvPr id="7" name="Shape 1"/>
          <p:cNvSpPr/>
          <p:nvPr/>
        </p:nvSpPr>
        <p:spPr>
          <a:xfrm>
            <a:off x="762000" y="6197600"/>
            <a:ext cx="106680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8" name="Text 2"/>
          <p:cNvSpPr txBox="1"/>
          <p:nvPr/>
        </p:nvSpPr>
        <p:spPr>
          <a:xfrm>
            <a:off x="762000" y="6350000"/>
            <a:ext cx="508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Dongseo University · Smart Generation Lab</a:t>
            </a:r>
            <a:endParaRPr lang="ko-KR" sz="1000" dirty="0"/>
          </a:p>
        </p:txBody>
      </p:sp>
      <p:pic>
        <p:nvPicPr>
          <p:cNvPr id="9" name="Image 1" descr="/home/runner/work/sglab-brand/sglab-brand/dist/png/dot-ligh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09300" y="6413500"/>
            <a:ext cx="50800" cy="508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73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1008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MPARE">
    <p:bg>
      <p:bgPr>
        <a:solidFill>
          <a:srgbClr val="F4F3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runner/work/sglab-brand/sglab-brand/dist/png/sgl-mark-light-512@2x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2000" y="355600"/>
            <a:ext cx="254000" cy="254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130300" y="393700"/>
            <a:ext cx="381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SMART GENERATION LAB</a:t>
            </a:r>
            <a:endParaRPr lang="ko-KR" sz="10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  PROJECTS</a:t>
            </a:r>
            <a:endParaRPr lang="ko-KR" sz="1000" dirty="0"/>
          </a:p>
        </p:txBody>
      </p:sp>
      <p:sp>
        <p:nvSpPr>
          <p:cNvPr id="5" name="Shape 1"/>
          <p:cNvSpPr/>
          <p:nvPr/>
        </p:nvSpPr>
        <p:spPr>
          <a:xfrm>
            <a:off x="762000" y="787400"/>
            <a:ext cx="106680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6" name="Text 2"/>
          <p:cNvSpPr/>
          <p:nvPr>
            <p:ph idx="104" type="title" hasCustomPrompt="1"/>
          </p:nvPr>
        </p:nvSpPr>
        <p:spPr>
          <a:xfrm>
            <a:off x="762000" y="1193800"/>
            <a:ext cx="7061200" cy="4381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15000"/>
              </a:lnSpc>
              <a:buNone/>
              <a:defRPr lang="ko-KR" altLang="en-US" sz="3000" spc="-9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15000"/>
              </a:lnSpc>
              <a:buNone/>
            </a:pPr>
            <a:r>
              <a:rPr lang="ko-KR" altLang="en-US" sz="3000" spc="-9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영상 합성 · 시간 일관성 비교</a:t>
            </a:r>
            <a:endParaRPr lang="ko-KR" sz="3000" dirty="0"/>
          </a:p>
        </p:txBody>
      </p:sp>
      <p:sp>
        <p:nvSpPr>
          <p:cNvPr id="7" name="Text 2"/>
          <p:cNvSpPr/>
          <p:nvPr>
            <p:ph idx="105" type="body" hasCustomPrompt="1"/>
          </p:nvPr>
        </p:nvSpPr>
        <p:spPr>
          <a:xfrm>
            <a:off x="7975600" y="939800"/>
            <a:ext cx="3454400" cy="6540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3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동일 프롬프트·시드, 제안 방법 적용 전후</a:t>
            </a:r>
            <a:endParaRPr lang="ko-KR" sz="1300" dirty="0"/>
          </a:p>
        </p:txBody>
      </p:sp>
      <p:sp>
        <p:nvSpPr>
          <p:cNvPr id="8" name="Text 2"/>
          <p:cNvSpPr/>
          <p:nvPr>
            <p:ph idx="106" type="body" hasCustomPrompt="1"/>
          </p:nvPr>
        </p:nvSpPr>
        <p:spPr>
          <a:xfrm>
            <a:off x="762000" y="2038350"/>
            <a:ext cx="5257800" cy="177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BEFORE</a:t>
            </a:r>
            <a:endParaRPr lang="ko-KR" sz="1000" dirty="0"/>
          </a:p>
        </p:txBody>
      </p:sp>
      <p:sp>
        <p:nvSpPr>
          <p:cNvPr id="9" name="Shape 2"/>
          <p:cNvSpPr/>
          <p:nvPr/>
        </p:nvSpPr>
        <p:spPr>
          <a:xfrm>
            <a:off x="762000" y="2292350"/>
            <a:ext cx="5257800" cy="3286125"/>
          </a:xfrm>
          <a:prstGeom prst="rect">
            <a:avLst/>
          </a:prstGeom>
          <a:solidFill>
            <a:srgbClr val="E6E5E0"/>
          </a:solidFill>
          <a:ln w="12700">
            <a:solidFill>
              <a:srgbClr val="E6E5E0"/>
            </a:solidFill>
            <a:prstDash val="solid"/>
          </a:ln>
        </p:spPr>
      </p:sp>
      <p:sp>
        <p:nvSpPr>
          <p:cNvPr id="10" name="Text 3"/>
          <p:cNvSpPr txBox="1"/>
          <p:nvPr/>
        </p:nvSpPr>
        <p:spPr>
          <a:xfrm>
            <a:off x="889000" y="5273675"/>
            <a:ext cx="50038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이전 결과 (16:10)</a:t>
            </a:r>
            <a:endParaRPr lang="ko-KR" sz="900" dirty="0"/>
          </a:p>
        </p:txBody>
      </p:sp>
      <p:sp>
        <p:nvSpPr>
          <p:cNvPr id="11" name="Text 4"/>
          <p:cNvSpPr/>
          <p:nvPr>
            <p:ph idx="109" hasCustomPrompt="1"/>
          </p:nvPr>
        </p:nvSpPr>
        <p:spPr>
          <a:xfrm>
            <a:off x="762000" y="2292350"/>
            <a:ext cx="5257800" cy="3286125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sp>
        <p:nvSpPr>
          <p:cNvPr id="12" name="Text 4"/>
          <p:cNvSpPr/>
          <p:nvPr>
            <p:ph idx="110" type="body" hasCustomPrompt="1"/>
          </p:nvPr>
        </p:nvSpPr>
        <p:spPr>
          <a:xfrm>
            <a:off x="762000" y="5705475"/>
            <a:ext cx="5257800" cy="228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캡션 한 줄</a:t>
            </a:r>
            <a:endParaRPr lang="ko-KR" sz="1200" dirty="0"/>
          </a:p>
        </p:txBody>
      </p:sp>
      <p:sp>
        <p:nvSpPr>
          <p:cNvPr id="13" name="Text 4"/>
          <p:cNvSpPr/>
          <p:nvPr>
            <p:ph idx="111" type="body" hasCustomPrompt="1"/>
          </p:nvPr>
        </p:nvSpPr>
        <p:spPr>
          <a:xfrm>
            <a:off x="6172200" y="2038350"/>
            <a:ext cx="5257800" cy="177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AFTER</a:t>
            </a:r>
            <a:endParaRPr lang="ko-KR" sz="1000" dirty="0"/>
          </a:p>
        </p:txBody>
      </p:sp>
      <p:sp>
        <p:nvSpPr>
          <p:cNvPr id="14" name="Shape 4"/>
          <p:cNvSpPr/>
          <p:nvPr/>
        </p:nvSpPr>
        <p:spPr>
          <a:xfrm>
            <a:off x="6172200" y="2292350"/>
            <a:ext cx="5257800" cy="3286125"/>
          </a:xfrm>
          <a:prstGeom prst="rect">
            <a:avLst/>
          </a:prstGeom>
          <a:solidFill>
            <a:srgbClr val="E6E5E0"/>
          </a:solidFill>
          <a:ln w="12700">
            <a:solidFill>
              <a:srgbClr val="E6E5E0"/>
            </a:solidFill>
            <a:prstDash val="solid"/>
          </a:ln>
        </p:spPr>
      </p:sp>
      <p:sp>
        <p:nvSpPr>
          <p:cNvPr id="15" name="Text 5"/>
          <p:cNvSpPr txBox="1"/>
          <p:nvPr/>
        </p:nvSpPr>
        <p:spPr>
          <a:xfrm>
            <a:off x="6299200" y="5273675"/>
            <a:ext cx="50038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이후 결과 (16:10)</a:t>
            </a:r>
            <a:endParaRPr lang="ko-KR" sz="900" dirty="0"/>
          </a:p>
        </p:txBody>
      </p:sp>
      <p:sp>
        <p:nvSpPr>
          <p:cNvPr id="16" name="Text 6"/>
          <p:cNvSpPr/>
          <p:nvPr>
            <p:ph idx="114" hasCustomPrompt="1"/>
          </p:nvPr>
        </p:nvSpPr>
        <p:spPr>
          <a:xfrm>
            <a:off x="6172200" y="2292350"/>
            <a:ext cx="5257800" cy="3286125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sp>
        <p:nvSpPr>
          <p:cNvPr id="17" name="Text 6"/>
          <p:cNvSpPr/>
          <p:nvPr>
            <p:ph idx="115" type="body" hasCustomPrompt="1"/>
          </p:nvPr>
        </p:nvSpPr>
        <p:spPr>
          <a:xfrm>
            <a:off x="6172200" y="5705475"/>
            <a:ext cx="5257800" cy="228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캡션 한 줄</a:t>
            </a:r>
            <a:endParaRPr lang="ko-KR" sz="1200" dirty="0"/>
          </a:p>
        </p:txBody>
      </p:sp>
      <p:sp>
        <p:nvSpPr>
          <p:cNvPr id="18" name="Shape 6"/>
          <p:cNvSpPr/>
          <p:nvPr/>
        </p:nvSpPr>
        <p:spPr>
          <a:xfrm>
            <a:off x="762000" y="6197600"/>
            <a:ext cx="106680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19" name="Text 7"/>
          <p:cNvSpPr txBox="1"/>
          <p:nvPr/>
        </p:nvSpPr>
        <p:spPr>
          <a:xfrm>
            <a:off x="762000" y="6350000"/>
            <a:ext cx="508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Dongseo University · Smart Generation Lab</a:t>
            </a:r>
            <a:endParaRPr lang="ko-KR" sz="1000" dirty="0"/>
          </a:p>
        </p:txBody>
      </p:sp>
      <p:pic>
        <p:nvPicPr>
          <p:cNvPr id="20" name="Image 1" descr="/home/runner/work/sglab-brand/sglab-brand/dist/png/dot-ligh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09300" y="6413500"/>
            <a:ext cx="50800" cy="508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73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1009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TATS">
    <p:bg>
      <p:bgPr>
        <a:solidFill>
          <a:srgbClr val="F4F3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runner/work/sglab-brand/sglab-brand/dist/png/sgl-mark-light-512@2x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2000" y="355600"/>
            <a:ext cx="254000" cy="254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130300" y="393700"/>
            <a:ext cx="381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SMART GENERATION LAB</a:t>
            </a:r>
            <a:endParaRPr lang="ko-KR" sz="10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  RESULTS</a:t>
            </a:r>
            <a:endParaRPr lang="ko-KR" sz="1000" dirty="0"/>
          </a:p>
        </p:txBody>
      </p:sp>
      <p:sp>
        <p:nvSpPr>
          <p:cNvPr id="5" name="Shape 1"/>
          <p:cNvSpPr/>
          <p:nvPr/>
        </p:nvSpPr>
        <p:spPr>
          <a:xfrm>
            <a:off x="762000" y="787400"/>
            <a:ext cx="106680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6" name="Text 2"/>
          <p:cNvSpPr/>
          <p:nvPr>
            <p:ph idx="104" type="title" hasCustomPrompt="1"/>
          </p:nvPr>
        </p:nvSpPr>
        <p:spPr>
          <a:xfrm>
            <a:off x="762000" y="1193800"/>
            <a:ext cx="7061200" cy="4381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15000"/>
              </a:lnSpc>
              <a:buNone/>
              <a:defRPr lang="ko-KR" altLang="en-US" sz="3000" spc="-9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15000"/>
              </a:lnSpc>
              <a:buNone/>
            </a:pPr>
            <a:r>
              <a:rPr lang="ko-KR" altLang="en-US" sz="3000" spc="-9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핵심 수치</a:t>
            </a:r>
            <a:endParaRPr lang="ko-KR" sz="3000" dirty="0"/>
          </a:p>
        </p:txBody>
      </p:sp>
      <p:sp>
        <p:nvSpPr>
          <p:cNvPr id="7" name="Text 2"/>
          <p:cNvSpPr/>
          <p:nvPr>
            <p:ph idx="105" type="body" hasCustomPrompt="1"/>
          </p:nvPr>
        </p:nvSpPr>
        <p:spPr>
          <a:xfrm>
            <a:off x="7975600" y="939800"/>
            <a:ext cx="3454400" cy="6540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3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비교 대상 하나, 지표 셋</a:t>
            </a:r>
            <a:endParaRPr lang="ko-KR" sz="1300" dirty="0"/>
          </a:p>
        </p:txBody>
      </p:sp>
      <p:sp>
        <p:nvSpPr>
          <p:cNvPr id="8" name="Shape 2"/>
          <p:cNvSpPr/>
          <p:nvPr/>
        </p:nvSpPr>
        <p:spPr>
          <a:xfrm>
            <a:off x="762000" y="2292350"/>
            <a:ext cx="33020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9" name="Text 3"/>
          <p:cNvSpPr/>
          <p:nvPr>
            <p:ph idx="107" type="body" hasCustomPrompt="1"/>
          </p:nvPr>
        </p:nvSpPr>
        <p:spPr>
          <a:xfrm>
            <a:off x="762000" y="2495550"/>
            <a:ext cx="3302000" cy="9525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00000"/>
              </a:lnSpc>
              <a:buNone/>
              <a:defRPr lang="ko-KR" altLang="en-US" sz="7500" spc="-375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00000"/>
              </a:lnSpc>
              <a:buNone/>
            </a:pPr>
            <a:r>
              <a:rPr lang="ko-KR" altLang="en-US" sz="7500" spc="-375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0.92</a:t>
            </a:r>
            <a:endParaRPr lang="ko-KR" sz="7500" dirty="0"/>
          </a:p>
        </p:txBody>
      </p:sp>
      <p:sp>
        <p:nvSpPr>
          <p:cNvPr id="10" name="Text 3"/>
          <p:cNvSpPr/>
          <p:nvPr>
            <p:ph idx="108" type="body" hasCustomPrompt="1"/>
          </p:nvPr>
        </p:nvSpPr>
        <p:spPr>
          <a:xfrm>
            <a:off x="762000" y="3600450"/>
            <a:ext cx="3302000" cy="177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FVD ↓</a:t>
            </a:r>
            <a:endParaRPr lang="ko-KR" sz="1000" dirty="0"/>
          </a:p>
        </p:txBody>
      </p:sp>
      <p:sp>
        <p:nvSpPr>
          <p:cNvPr id="11" name="Text 3"/>
          <p:cNvSpPr/>
          <p:nvPr>
            <p:ph idx="109" type="body" hasCustomPrompt="1"/>
          </p:nvPr>
        </p:nvSpPr>
        <p:spPr>
          <a:xfrm>
            <a:off x="762000" y="3879850"/>
            <a:ext cx="3302000" cy="508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지표 설명 한 줄 — 기준, 데이터셋, 조건.</a:t>
            </a:r>
            <a:endParaRPr lang="ko-KR" sz="1200" dirty="0"/>
          </a:p>
        </p:txBody>
      </p:sp>
      <p:sp>
        <p:nvSpPr>
          <p:cNvPr id="12" name="Shape 3"/>
          <p:cNvSpPr/>
          <p:nvPr/>
        </p:nvSpPr>
        <p:spPr>
          <a:xfrm>
            <a:off x="4368800" y="2292350"/>
            <a:ext cx="33020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13" name="Text 4"/>
          <p:cNvSpPr/>
          <p:nvPr>
            <p:ph idx="111" type="body" hasCustomPrompt="1"/>
          </p:nvPr>
        </p:nvSpPr>
        <p:spPr>
          <a:xfrm>
            <a:off x="4368800" y="2495550"/>
            <a:ext cx="3302000" cy="9525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00000"/>
              </a:lnSpc>
              <a:buNone/>
              <a:defRPr lang="ko-KR" altLang="en-US" sz="7500" spc="-375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00000"/>
              </a:lnSpc>
              <a:buNone/>
            </a:pPr>
            <a:r>
              <a:rPr lang="ko-KR" altLang="en-US" sz="7500" spc="-375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−38%</a:t>
            </a:r>
            <a:endParaRPr lang="ko-KR" sz="7500" dirty="0"/>
          </a:p>
        </p:txBody>
      </p:sp>
      <p:sp>
        <p:nvSpPr>
          <p:cNvPr id="14" name="Text 4"/>
          <p:cNvSpPr/>
          <p:nvPr>
            <p:ph idx="112" type="body" hasCustomPrompt="1"/>
          </p:nvPr>
        </p:nvSpPr>
        <p:spPr>
          <a:xfrm>
            <a:off x="4368800" y="3600450"/>
            <a:ext cx="3302000" cy="177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INFERENCE TIME</a:t>
            </a:r>
            <a:endParaRPr lang="ko-KR" sz="1000" dirty="0"/>
          </a:p>
        </p:txBody>
      </p:sp>
      <p:sp>
        <p:nvSpPr>
          <p:cNvPr id="15" name="Text 4"/>
          <p:cNvSpPr/>
          <p:nvPr>
            <p:ph idx="113" type="body" hasCustomPrompt="1"/>
          </p:nvPr>
        </p:nvSpPr>
        <p:spPr>
          <a:xfrm>
            <a:off x="4368800" y="3879850"/>
            <a:ext cx="3302000" cy="508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지표 설명 한 줄 — 기준, 데이터셋, 조건.</a:t>
            </a:r>
            <a:endParaRPr lang="ko-KR" sz="1200" dirty="0"/>
          </a:p>
        </p:txBody>
      </p:sp>
      <p:sp>
        <p:nvSpPr>
          <p:cNvPr id="16" name="Shape 4"/>
          <p:cNvSpPr/>
          <p:nvPr/>
        </p:nvSpPr>
        <p:spPr>
          <a:xfrm>
            <a:off x="7975600" y="2292350"/>
            <a:ext cx="33020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17" name="Text 5"/>
          <p:cNvSpPr/>
          <p:nvPr>
            <p:ph idx="115" type="body" hasCustomPrompt="1"/>
          </p:nvPr>
        </p:nvSpPr>
        <p:spPr>
          <a:xfrm>
            <a:off x="7975600" y="2495550"/>
            <a:ext cx="3302000" cy="9525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00000"/>
              </a:lnSpc>
              <a:buNone/>
              <a:defRPr lang="ko-KR" altLang="en-US" sz="7500" spc="-375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00000"/>
              </a:lnSpc>
              <a:buNone/>
            </a:pPr>
            <a:r>
              <a:rPr lang="ko-KR" altLang="en-US" sz="7500" spc="-375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4×</a:t>
            </a:r>
            <a:endParaRPr lang="ko-KR" sz="7500" dirty="0"/>
          </a:p>
        </p:txBody>
      </p:sp>
      <p:sp>
        <p:nvSpPr>
          <p:cNvPr id="18" name="Text 5"/>
          <p:cNvSpPr/>
          <p:nvPr>
            <p:ph idx="116" type="body" hasCustomPrompt="1"/>
          </p:nvPr>
        </p:nvSpPr>
        <p:spPr>
          <a:xfrm>
            <a:off x="7975600" y="3600450"/>
            <a:ext cx="3302000" cy="177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THROUGHPUT</a:t>
            </a:r>
            <a:endParaRPr lang="ko-KR" sz="1000" dirty="0"/>
          </a:p>
        </p:txBody>
      </p:sp>
      <p:sp>
        <p:nvSpPr>
          <p:cNvPr id="19" name="Text 5"/>
          <p:cNvSpPr/>
          <p:nvPr>
            <p:ph idx="117" type="body" hasCustomPrompt="1"/>
          </p:nvPr>
        </p:nvSpPr>
        <p:spPr>
          <a:xfrm>
            <a:off x="7975600" y="3879850"/>
            <a:ext cx="3302000" cy="508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지표 설명 한 줄 — 기준, 데이터셋, 조건.</a:t>
            </a:r>
            <a:endParaRPr lang="ko-KR" sz="1200" dirty="0"/>
          </a:p>
        </p:txBody>
      </p:sp>
      <p:sp>
        <p:nvSpPr>
          <p:cNvPr id="20" name="Shape 5"/>
          <p:cNvSpPr/>
          <p:nvPr/>
        </p:nvSpPr>
        <p:spPr>
          <a:xfrm>
            <a:off x="762000" y="6197600"/>
            <a:ext cx="106680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21" name="Text 6"/>
          <p:cNvSpPr txBox="1"/>
          <p:nvPr/>
        </p:nvSpPr>
        <p:spPr>
          <a:xfrm>
            <a:off x="762000" y="6350000"/>
            <a:ext cx="508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Dongseo University · Smart Generation Lab</a:t>
            </a:r>
            <a:endParaRPr lang="ko-KR" sz="1000" dirty="0"/>
          </a:p>
        </p:txBody>
      </p:sp>
      <p:pic>
        <p:nvPicPr>
          <p:cNvPr id="22" name="Image 1" descr="/home/runner/work/sglab-brand/sglab-brand/dist/png/dot-ligh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09300" y="6413500"/>
            <a:ext cx="50800" cy="508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73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1010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TATEMENT">
    <p:bg>
      <p:bgPr>
        <a:solidFill>
          <a:srgbClr val="F4F3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runner/work/sglab-brand/sglab-brand/dist/png/sgl-mark-light-512@2x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2000" y="355600"/>
            <a:ext cx="254000" cy="254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130300" y="393700"/>
            <a:ext cx="381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SMART GENERATION LAB</a:t>
            </a:r>
            <a:endParaRPr lang="ko-KR" sz="10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STATEMENT</a:t>
            </a:r>
            <a:endParaRPr lang="ko-KR" sz="1000" dirty="0"/>
          </a:p>
        </p:txBody>
      </p:sp>
      <p:sp>
        <p:nvSpPr>
          <p:cNvPr id="5" name="Shape 1"/>
          <p:cNvSpPr/>
          <p:nvPr/>
        </p:nvSpPr>
        <p:spPr>
          <a:xfrm>
            <a:off x="762000" y="787400"/>
            <a:ext cx="106680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6" name="Text 2"/>
          <p:cNvSpPr/>
          <p:nvPr>
            <p:ph idx="104" type="body" hasCustomPrompt="1"/>
          </p:nvPr>
        </p:nvSpPr>
        <p:spPr>
          <a:xfrm>
            <a:off x="762000" y="2286000"/>
            <a:ext cx="3810000" cy="2095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ko-KR" altLang="en-US" sz="1100" spc="11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buNone/>
            </a:pPr>
            <a:r>
              <a:rPr lang="ko-KR" altLang="en-US" sz="1100" spc="11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  KEY IDEA</a:t>
            </a:r>
            <a:endParaRPr lang="ko-KR" sz="1100" dirty="0"/>
          </a:p>
        </p:txBody>
      </p:sp>
      <p:sp>
        <p:nvSpPr>
          <p:cNvPr id="7" name="Text 2"/>
          <p:cNvSpPr/>
          <p:nvPr>
            <p:ph idx="105" type="title" hasCustomPrompt="1"/>
          </p:nvPr>
        </p:nvSpPr>
        <p:spPr>
          <a:xfrm>
            <a:off x="762000" y="2774950"/>
            <a:ext cx="8890000" cy="1285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10000"/>
              </a:lnSpc>
              <a:buNone/>
              <a:defRPr lang="ko-KR" altLang="en-US" sz="4600" spc="-161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10000"/>
              </a:lnSpc>
              <a:buNone/>
            </a:pPr>
            <a:r>
              <a:rPr lang="ko-KR" altLang="en-US" sz="4600" spc="-161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Generation,</a:t>
            </a:r>
            <a:endParaRPr lang="ko-KR" sz="46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ko-KR" altLang="en-US" sz="4600" spc="-161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두 가지 뜻.</a:t>
            </a:r>
            <a:endParaRPr lang="ko-KR" sz="4600" dirty="0"/>
          </a:p>
        </p:txBody>
      </p:sp>
      <p:sp>
        <p:nvSpPr>
          <p:cNvPr id="8" name="Text 2"/>
          <p:cNvSpPr/>
          <p:nvPr>
            <p:ph idx="106" type="body" hasCustomPrompt="1"/>
          </p:nvPr>
        </p:nvSpPr>
        <p:spPr>
          <a:xfrm>
            <a:off x="762000" y="4343400"/>
            <a:ext cx="7620000" cy="304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6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6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모델이 만드는 생성과, 그것을 배우는 세대. 둘 다 이 랩의 일입니다.</a:t>
            </a:r>
            <a:endParaRPr lang="ko-KR" sz="1600" dirty="0"/>
          </a:p>
        </p:txBody>
      </p:sp>
      <p:sp>
        <p:nvSpPr>
          <p:cNvPr id="9" name="Shape 2"/>
          <p:cNvSpPr/>
          <p:nvPr/>
        </p:nvSpPr>
        <p:spPr>
          <a:xfrm>
            <a:off x="762000" y="6197600"/>
            <a:ext cx="106680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10" name="Text 3"/>
          <p:cNvSpPr txBox="1"/>
          <p:nvPr/>
        </p:nvSpPr>
        <p:spPr>
          <a:xfrm>
            <a:off x="762000" y="6350000"/>
            <a:ext cx="508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Dongseo University · Smart Generation Lab</a:t>
            </a:r>
            <a:endParaRPr lang="ko-KR" sz="1000" dirty="0"/>
          </a:p>
        </p:txBody>
      </p:sp>
      <p:pic>
        <p:nvPicPr>
          <p:cNvPr id="11" name="Image 1" descr="/home/runner/work/sglab-brand/sglab-brand/dist/png/dot-ligh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09300" y="6413500"/>
            <a:ext cx="50800" cy="508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73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1011</a:t>
            </a:fld>
            <a:endParaRPr lang="en-US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ABLE">
    <p:bg>
      <p:bgPr>
        <a:solidFill>
          <a:srgbClr val="F4F3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runner/work/sglab-brand/sglab-brand/dist/png/sgl-mark-light-512@2x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2000" y="355600"/>
            <a:ext cx="254000" cy="254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130300" y="393700"/>
            <a:ext cx="381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SMART GENERATION LAB</a:t>
            </a:r>
            <a:endParaRPr lang="ko-KR" sz="10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  RESULTS</a:t>
            </a:r>
            <a:endParaRPr lang="ko-KR" sz="1000" dirty="0"/>
          </a:p>
        </p:txBody>
      </p:sp>
      <p:sp>
        <p:nvSpPr>
          <p:cNvPr id="5" name="Shape 1"/>
          <p:cNvSpPr/>
          <p:nvPr/>
        </p:nvSpPr>
        <p:spPr>
          <a:xfrm>
            <a:off x="762000" y="787400"/>
            <a:ext cx="106680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6" name="Text 2"/>
          <p:cNvSpPr/>
          <p:nvPr>
            <p:ph idx="104" type="title" hasCustomPrompt="1"/>
          </p:nvPr>
        </p:nvSpPr>
        <p:spPr>
          <a:xfrm>
            <a:off x="762000" y="1193800"/>
            <a:ext cx="7061200" cy="4381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15000"/>
              </a:lnSpc>
              <a:buNone/>
              <a:defRPr lang="ko-KR" altLang="en-US" sz="3000" spc="-9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15000"/>
              </a:lnSpc>
              <a:buNone/>
            </a:pPr>
            <a:r>
              <a:rPr lang="ko-KR" altLang="en-US" sz="3000" spc="-9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정량 비교</a:t>
            </a:r>
            <a:endParaRPr lang="ko-KR" sz="3000" dirty="0"/>
          </a:p>
        </p:txBody>
      </p:sp>
      <p:sp>
        <p:nvSpPr>
          <p:cNvPr id="7" name="Text 2"/>
          <p:cNvSpPr/>
          <p:nvPr>
            <p:ph idx="105" type="body" hasCustomPrompt="1"/>
          </p:nvPr>
        </p:nvSpPr>
        <p:spPr>
          <a:xfrm>
            <a:off x="7975600" y="939800"/>
            <a:ext cx="3454400" cy="6540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3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표는 룰만 사용 — 셀 채움 없음</a:t>
            </a:r>
            <a:endParaRPr lang="ko-KR" sz="1300" dirty="0"/>
          </a:p>
        </p:txBody>
      </p:sp>
      <p:sp>
        <p:nvSpPr>
          <p:cNvPr id="8" name="Text 2"/>
          <p:cNvSpPr/>
          <p:nvPr>
            <p:ph idx="106" type="body" hasCustomPrompt="1"/>
          </p:nvPr>
        </p:nvSpPr>
        <p:spPr>
          <a:xfrm>
            <a:off x="762000" y="5784850"/>
            <a:ext cx="10668000" cy="2095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1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1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 캡션 — 데이터셋, 측정 조건, 굵게 = 최고 성능</a:t>
            </a:r>
            <a:endParaRPr lang="ko-KR" sz="1100" dirty="0"/>
          </a:p>
        </p:txBody>
      </p:sp>
      <p:sp>
        <p:nvSpPr>
          <p:cNvPr id="9" name="Shape 2"/>
          <p:cNvSpPr/>
          <p:nvPr/>
        </p:nvSpPr>
        <p:spPr>
          <a:xfrm>
            <a:off x="762000" y="6197600"/>
            <a:ext cx="106680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10" name="Text 3"/>
          <p:cNvSpPr txBox="1"/>
          <p:nvPr/>
        </p:nvSpPr>
        <p:spPr>
          <a:xfrm>
            <a:off x="762000" y="6350000"/>
            <a:ext cx="508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Dongseo University · Smart Generation Lab</a:t>
            </a:r>
            <a:endParaRPr lang="ko-KR" sz="1000" dirty="0"/>
          </a:p>
        </p:txBody>
      </p:sp>
      <p:pic>
        <p:nvPicPr>
          <p:cNvPr id="11" name="Image 1" descr="/home/runner/work/sglab-brand/sglab-brand/dist/png/dot-ligh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09300" y="6413500"/>
            <a:ext cx="50800" cy="508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73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1012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73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slideLayout" Target="../slideLayouts/slideLayout12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body" hasCustomPrompt="1"/>
          </p:nvPr>
        </p:nvSpPr>
        <p:spPr>
          <a:xfrm>
            <a:off x="7975600" y="736600"/>
            <a:ext cx="34544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ko-KR" altLang="en-US" sz="1200" spc="72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2026 · 09</a:t>
            </a:r>
            <a:endParaRPr lang="ko-KR" sz="1200" dirty="0"/>
          </a:p>
        </p:txBody>
      </p:sp>
      <p:sp>
        <p:nvSpPr>
          <p:cNvPr id="3" name="Text 2"/>
          <p:cNvSpPr/>
          <p:nvPr>
            <p:ph idx="105" type="body" hasCustomPrompt="1"/>
          </p:nvPr>
        </p:nvSpPr>
        <p:spPr>
          <a:xfrm>
            <a:off x="762000" y="2950210"/>
            <a:ext cx="38100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100" spc="110" kern="0" dirty="0">
                <a:solidFill>
                  <a:srgbClr val="A8863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</a:t>
            </a:r>
            <a:pPr algn="l" indent="0" marL="0">
              <a:buNone/>
            </a:pPr>
            <a:r>
              <a:rPr lang="ko-KR" altLang="en-US" sz="1100" spc="11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LAB INTRODUCTION</a:t>
            </a:r>
            <a:endParaRPr lang="ko-KR" sz="1100" dirty="0"/>
          </a:p>
        </p:txBody>
      </p:sp>
      <p:sp>
        <p:nvSpPr>
          <p:cNvPr id="4" name="Text 2"/>
          <p:cNvSpPr/>
          <p:nvPr>
            <p:ph idx="106" type="title" hasCustomPrompt="1"/>
          </p:nvPr>
        </p:nvSpPr>
        <p:spPr>
          <a:xfrm>
            <a:off x="762000" y="3439160"/>
            <a:ext cx="6858000" cy="1285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ko-KR" altLang="en-US" sz="4600" spc="-161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From seeing</a:t>
            </a:r>
            <a:endParaRPr lang="ko-KR" sz="46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ko-KR" altLang="en-US" sz="4600" spc="-161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to making.</a:t>
            </a:r>
            <a:endParaRPr lang="ko-KR" sz="4600" dirty="0"/>
          </a:p>
        </p:txBody>
      </p:sp>
      <p:sp>
        <p:nvSpPr>
          <p:cNvPr id="5" name="Text 2"/>
          <p:cNvSpPr/>
          <p:nvPr>
            <p:ph idx="107" type="body" hasCustomPrompt="1"/>
          </p:nvPr>
        </p:nvSpPr>
        <p:spPr>
          <a:xfrm>
            <a:off x="762000" y="5003800"/>
            <a:ext cx="6858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6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Dongseo University · Department of Computer Engineering</a:t>
            </a:r>
            <a:endParaRPr lang="ko-KR" sz="1600" dirty="0"/>
          </a:p>
        </p:txBody>
      </p:sp>
      <p:sp>
        <p:nvSpPr>
          <p:cNvPr id="6" name="Text 3"/>
          <p:cNvSpPr/>
          <p:nvPr>
            <p:ph idx="109" type="body" hasCustomPrompt="1"/>
          </p:nvPr>
        </p:nvSpPr>
        <p:spPr>
          <a:xfrm>
            <a:off x="762000" y="5867400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ko-KR" altLang="en-US" sz="1300" dirty="0">
                <a:solidFill>
                  <a:srgbClr val="2E2E3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Sang-Geol Lee, Ph.D.</a:t>
            </a:r>
            <a:pPr algn="l" indent="0" marL="0">
              <a:lnSpc>
                <a:spcPct val="140000"/>
              </a:lnSpc>
              <a:buNone/>
            </a:pPr>
            <a:r>
              <a:rPr lang="ko-KR" altLang="en-US" sz="13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 Principal Investigator</a:t>
            </a:r>
            <a:endParaRPr lang="ko-KR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ABOUT</a:t>
            </a:r>
            <a:endParaRPr lang="ko-KR" sz="1000" dirty="0"/>
          </a:p>
        </p:txBody>
      </p:sp>
      <p:sp>
        <p:nvSpPr>
          <p:cNvPr id="3" name="Text 2"/>
          <p:cNvSpPr/>
          <p:nvPr>
            <p:ph idx="104" type="body" hasCustomPrompt="1"/>
          </p:nvPr>
        </p:nvSpPr>
        <p:spPr>
          <a:xfrm>
            <a:off x="762000" y="2286000"/>
            <a:ext cx="38100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100" spc="110" kern="0" dirty="0">
                <a:solidFill>
                  <a:srgbClr val="A8863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pPr algn="l" indent="0" marL="0">
              <a:buNone/>
            </a:pPr>
            <a:r>
              <a:rPr lang="ko-KR" altLang="en-US" sz="1100" spc="11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WHO WE ARE</a:t>
            </a:r>
            <a:endParaRPr lang="ko-KR" sz="1100" dirty="0"/>
          </a:p>
        </p:txBody>
      </p:sp>
      <p:sp>
        <p:nvSpPr>
          <p:cNvPr id="4" name="Text 2"/>
          <p:cNvSpPr/>
          <p:nvPr>
            <p:ph idx="105" type="title" hasCustomPrompt="1"/>
          </p:nvPr>
        </p:nvSpPr>
        <p:spPr>
          <a:xfrm>
            <a:off x="762000" y="2774950"/>
            <a:ext cx="8890000" cy="1285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ko-KR" altLang="en-US" sz="4600" spc="-161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From seeing</a:t>
            </a:r>
            <a:endParaRPr lang="ko-KR" sz="46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ko-KR" altLang="en-US" sz="4600" spc="-161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to making.</a:t>
            </a:r>
            <a:endParaRPr lang="ko-KR" sz="4600" dirty="0"/>
          </a:p>
        </p:txBody>
      </p:sp>
      <p:sp>
        <p:nvSpPr>
          <p:cNvPr id="5" name="Text 2"/>
          <p:cNvSpPr/>
          <p:nvPr>
            <p:ph idx="106" type="body" hasCustomPrompt="1"/>
          </p:nvPr>
        </p:nvSpPr>
        <p:spPr>
          <a:xfrm>
            <a:off x="762000" y="4343400"/>
            <a:ext cx="7620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6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 read the world with computer vision and rewrite it with generative models. Starting from models that understand images and video, we build the models that create them — training, deploying, and teaching them ourselves.</a:t>
            </a:r>
            <a:endParaRPr lang="ko-KR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73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A8863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pPr algn="r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RESEARCH</a:t>
            </a:r>
            <a:endParaRPr lang="ko-KR" sz="1000" dirty="0"/>
          </a:p>
        </p:txBody>
      </p:sp>
      <p:sp>
        <p:nvSpPr>
          <p:cNvPr id="3" name="Text 2"/>
          <p:cNvSpPr/>
          <p:nvPr>
            <p:ph idx="104" type="body" hasCustomPrompt="1"/>
          </p:nvPr>
        </p:nvSpPr>
        <p:spPr>
          <a:xfrm>
            <a:off x="762000" y="1905000"/>
            <a:ext cx="25527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0000"/>
              </a:lnSpc>
              <a:buNone/>
            </a:pPr>
            <a:r>
              <a:rPr lang="ko-KR" altLang="en-US" sz="10000" spc="-50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01</a:t>
            </a:r>
            <a:endParaRPr lang="ko-KR" sz="10000" dirty="0"/>
          </a:p>
        </p:txBody>
      </p:sp>
      <p:sp>
        <p:nvSpPr>
          <p:cNvPr id="4" name="Text 2"/>
          <p:cNvSpPr/>
          <p:nvPr>
            <p:ph idx="105" type="title" hasCustomPrompt="1"/>
          </p:nvPr>
        </p:nvSpPr>
        <p:spPr>
          <a:xfrm>
            <a:off x="4368800" y="2057400"/>
            <a:ext cx="70612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ko-KR" altLang="en-US" sz="4000" spc="-14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Computer Vision</a:t>
            </a:r>
            <a:endParaRPr lang="ko-KR" sz="4000" dirty="0"/>
          </a:p>
        </p:txBody>
      </p:sp>
      <p:sp>
        <p:nvSpPr>
          <p:cNvPr id="5" name="Text 2"/>
          <p:cNvSpPr/>
          <p:nvPr>
            <p:ph idx="106" type="body" hasCustomPrompt="1"/>
          </p:nvPr>
        </p:nvSpPr>
        <p:spPr>
          <a:xfrm>
            <a:off x="4368800" y="2857500"/>
            <a:ext cx="5715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6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Where the lab began. 25 related papers.</a:t>
            </a:r>
            <a:endParaRPr lang="ko-KR" sz="1600" dirty="0"/>
          </a:p>
        </p:txBody>
      </p:sp>
      <p:sp>
        <p:nvSpPr>
          <p:cNvPr id="6" name="Text 3"/>
          <p:cNvSpPr/>
          <p:nvPr>
            <p:ph idx="108" type="body" hasCustomPrompt="1"/>
          </p:nvPr>
        </p:nvSpPr>
        <p:spPr>
          <a:xfrm>
            <a:off x="4368800" y="3657600"/>
            <a:ext cx="34036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1.1</a:t>
            </a:r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Image and video analysis</a:t>
            </a:r>
            <a:endParaRPr lang="ko-KR" sz="1300" dirty="0"/>
          </a:p>
        </p:txBody>
      </p:sp>
      <p:sp>
        <p:nvSpPr>
          <p:cNvPr id="7" name="Text 4"/>
          <p:cNvSpPr/>
          <p:nvPr>
            <p:ph idx="110" type="body" hasCustomPrompt="1"/>
          </p:nvPr>
        </p:nvSpPr>
        <p:spPr>
          <a:xfrm>
            <a:off x="8026400" y="3657600"/>
            <a:ext cx="34036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1.2</a:t>
            </a:r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object recognition and tracking</a:t>
            </a:r>
            <a:endParaRPr lang="ko-KR" sz="1300" dirty="0"/>
          </a:p>
        </p:txBody>
      </p:sp>
      <p:sp>
        <p:nvSpPr>
          <p:cNvPr id="8" name="Text 5"/>
          <p:cNvSpPr/>
          <p:nvPr>
            <p:ph idx="112" type="body" hasCustomPrompt="1"/>
          </p:nvPr>
        </p:nvSpPr>
        <p:spPr>
          <a:xfrm>
            <a:off x="4368800" y="4184650"/>
            <a:ext cx="34036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1.3</a:t>
            </a:r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character recognition</a:t>
            </a:r>
            <a:endParaRPr lang="ko-KR" sz="1300" dirty="0"/>
          </a:p>
        </p:txBody>
      </p:sp>
      <p:sp>
        <p:nvSpPr>
          <p:cNvPr id="9" name="Text 7"/>
          <p:cNvSpPr/>
          <p:nvPr>
            <p:ph idx="115" type="body" hasCustomPrompt="1"/>
          </p:nvPr>
        </p:nvSpPr>
        <p:spPr>
          <a:xfrm>
            <a:off x="8026400" y="4184650"/>
            <a:ext cx="34036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1.4</a:t>
            </a:r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medical imaging</a:t>
            </a:r>
            <a:endParaRPr lang="ko-KR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73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A8863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pPr algn="r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RESEARCH</a:t>
            </a:r>
            <a:endParaRPr lang="ko-KR" sz="1000" dirty="0"/>
          </a:p>
        </p:txBody>
      </p:sp>
      <p:sp>
        <p:nvSpPr>
          <p:cNvPr id="3" name="Text 2"/>
          <p:cNvSpPr/>
          <p:nvPr>
            <p:ph idx="104" type="body" hasCustomPrompt="1"/>
          </p:nvPr>
        </p:nvSpPr>
        <p:spPr>
          <a:xfrm>
            <a:off x="762000" y="1905000"/>
            <a:ext cx="25527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0000"/>
              </a:lnSpc>
              <a:buNone/>
            </a:pPr>
            <a:r>
              <a:rPr lang="ko-KR" altLang="en-US" sz="10000" spc="-50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02</a:t>
            </a:r>
            <a:endParaRPr lang="ko-KR" sz="10000" dirty="0"/>
          </a:p>
        </p:txBody>
      </p:sp>
      <p:sp>
        <p:nvSpPr>
          <p:cNvPr id="4" name="Text 2"/>
          <p:cNvSpPr/>
          <p:nvPr>
            <p:ph idx="105" type="title" hasCustomPrompt="1"/>
          </p:nvPr>
        </p:nvSpPr>
        <p:spPr>
          <a:xfrm>
            <a:off x="4368800" y="2057400"/>
            <a:ext cx="70612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ko-KR" altLang="en-US" sz="4000" spc="-14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Generative AI</a:t>
            </a:r>
            <a:endParaRPr lang="ko-KR" sz="4000" dirty="0"/>
          </a:p>
        </p:txBody>
      </p:sp>
      <p:sp>
        <p:nvSpPr>
          <p:cNvPr id="5" name="Text 2"/>
          <p:cNvSpPr/>
          <p:nvPr>
            <p:ph idx="106" type="body" hasCustomPrompt="1"/>
          </p:nvPr>
        </p:nvSpPr>
        <p:spPr>
          <a:xfrm>
            <a:off x="4368800" y="2857500"/>
            <a:ext cx="5715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6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 work directly on open-source generative models and fix what needs fixing. 4 related papers.</a:t>
            </a:r>
            <a:endParaRPr lang="ko-KR" sz="1600" dirty="0"/>
          </a:p>
        </p:txBody>
      </p:sp>
      <p:sp>
        <p:nvSpPr>
          <p:cNvPr id="6" name="Text 3"/>
          <p:cNvSpPr/>
          <p:nvPr>
            <p:ph idx="108" type="body" hasCustomPrompt="1"/>
          </p:nvPr>
        </p:nvSpPr>
        <p:spPr>
          <a:xfrm>
            <a:off x="4368800" y="3657600"/>
            <a:ext cx="34036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2.1</a:t>
            </a:r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Image and video generation and editing</a:t>
            </a:r>
            <a:endParaRPr lang="ko-KR" sz="1300" dirty="0"/>
          </a:p>
        </p:txBody>
      </p:sp>
      <p:sp>
        <p:nvSpPr>
          <p:cNvPr id="7" name="Text 4"/>
          <p:cNvSpPr/>
          <p:nvPr>
            <p:ph idx="110" type="body" hasCustomPrompt="1"/>
          </p:nvPr>
        </p:nvSpPr>
        <p:spPr>
          <a:xfrm>
            <a:off x="8026400" y="3657600"/>
            <a:ext cx="34036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2.2</a:t>
            </a:r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diffusion models</a:t>
            </a:r>
            <a:endParaRPr lang="ko-KR" sz="1300" dirty="0"/>
          </a:p>
        </p:txBody>
      </p:sp>
      <p:sp>
        <p:nvSpPr>
          <p:cNvPr id="8" name="Text 5"/>
          <p:cNvSpPr/>
          <p:nvPr>
            <p:ph idx="112" type="body" hasCustomPrompt="1"/>
          </p:nvPr>
        </p:nvSpPr>
        <p:spPr>
          <a:xfrm>
            <a:off x="4368800" y="4184650"/>
            <a:ext cx="34036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2.3</a:t>
            </a:r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GANs</a:t>
            </a:r>
            <a:endParaRPr lang="ko-KR" sz="1300" dirty="0"/>
          </a:p>
        </p:txBody>
      </p:sp>
      <p:sp>
        <p:nvSpPr>
          <p:cNvPr id="9" name="Text 7"/>
          <p:cNvSpPr/>
          <p:nvPr>
            <p:ph idx="115" type="body" hasCustomPrompt="1"/>
          </p:nvPr>
        </p:nvSpPr>
        <p:spPr>
          <a:xfrm>
            <a:off x="8026400" y="4184650"/>
            <a:ext cx="34036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2.4</a:t>
            </a:r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media synthesis pipelines</a:t>
            </a:r>
            <a:endParaRPr lang="ko-KR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73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A8863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pPr algn="r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RESEARCH</a:t>
            </a:r>
            <a:endParaRPr lang="ko-KR" sz="1000" dirty="0"/>
          </a:p>
        </p:txBody>
      </p:sp>
      <p:sp>
        <p:nvSpPr>
          <p:cNvPr id="3" name="Text 2"/>
          <p:cNvSpPr/>
          <p:nvPr>
            <p:ph idx="104" type="body" hasCustomPrompt="1"/>
          </p:nvPr>
        </p:nvSpPr>
        <p:spPr>
          <a:xfrm>
            <a:off x="762000" y="1905000"/>
            <a:ext cx="25527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0000"/>
              </a:lnSpc>
              <a:buNone/>
            </a:pPr>
            <a:r>
              <a:rPr lang="ko-KR" altLang="en-US" sz="10000" spc="-50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03</a:t>
            </a:r>
            <a:endParaRPr lang="ko-KR" sz="10000" dirty="0"/>
          </a:p>
        </p:txBody>
      </p:sp>
      <p:sp>
        <p:nvSpPr>
          <p:cNvPr id="4" name="Text 2"/>
          <p:cNvSpPr/>
          <p:nvPr>
            <p:ph idx="105" type="title" hasCustomPrompt="1"/>
          </p:nvPr>
        </p:nvSpPr>
        <p:spPr>
          <a:xfrm>
            <a:off x="4368800" y="2057400"/>
            <a:ext cx="70612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ko-KR" altLang="en-US" sz="4000" spc="-14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Others</a:t>
            </a:r>
            <a:endParaRPr lang="ko-KR" sz="4000" dirty="0"/>
          </a:p>
        </p:txBody>
      </p:sp>
      <p:sp>
        <p:nvSpPr>
          <p:cNvPr id="5" name="Text 2"/>
          <p:cNvSpPr/>
          <p:nvPr>
            <p:ph idx="106" type="body" hasCustomPrompt="1"/>
          </p:nvPr>
        </p:nvSpPr>
        <p:spPr>
          <a:xfrm>
            <a:off x="4368800" y="2857500"/>
            <a:ext cx="5715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6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 push language models beyond text: 11 related papers.</a:t>
            </a:r>
            <a:endParaRPr lang="ko-KR" sz="1600" dirty="0"/>
          </a:p>
        </p:txBody>
      </p:sp>
      <p:sp>
        <p:nvSpPr>
          <p:cNvPr id="6" name="Text 3"/>
          <p:cNvSpPr/>
          <p:nvPr>
            <p:ph idx="108" type="body" hasCustomPrompt="1"/>
          </p:nvPr>
        </p:nvSpPr>
        <p:spPr>
          <a:xfrm>
            <a:off x="4368800" y="3657600"/>
            <a:ext cx="34036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3.1</a:t>
            </a:r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Local LLMs and agents</a:t>
            </a:r>
            <a:endParaRPr lang="ko-KR" sz="1300" dirty="0"/>
          </a:p>
        </p:txBody>
      </p:sp>
      <p:sp>
        <p:nvSpPr>
          <p:cNvPr id="7" name="Text 4"/>
          <p:cNvSpPr/>
          <p:nvPr>
            <p:ph idx="110" type="body" hasCustomPrompt="1"/>
          </p:nvPr>
        </p:nvSpPr>
        <p:spPr>
          <a:xfrm>
            <a:off x="8026400" y="3657600"/>
            <a:ext cx="34036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3.2</a:t>
            </a:r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reinforcement learning applications</a:t>
            </a:r>
            <a:endParaRPr lang="ko-KR" sz="1300" dirty="0"/>
          </a:p>
        </p:txBody>
      </p:sp>
      <p:sp>
        <p:nvSpPr>
          <p:cNvPr id="8" name="Text 5"/>
          <p:cNvSpPr/>
          <p:nvPr>
            <p:ph idx="112" type="body" hasCustomPrompt="1"/>
          </p:nvPr>
        </p:nvSpPr>
        <p:spPr>
          <a:xfrm>
            <a:off x="4368800" y="4184650"/>
            <a:ext cx="34036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3.3</a:t>
            </a:r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signal processing</a:t>
            </a:r>
            <a:endParaRPr lang="ko-KR" sz="1300" dirty="0"/>
          </a:p>
        </p:txBody>
      </p:sp>
      <p:sp>
        <p:nvSpPr>
          <p:cNvPr id="9" name="Text 7"/>
          <p:cNvSpPr/>
          <p:nvPr>
            <p:ph idx="115" type="body" hasCustomPrompt="1"/>
          </p:nvPr>
        </p:nvSpPr>
        <p:spPr>
          <a:xfrm>
            <a:off x="8026400" y="4184650"/>
            <a:ext cx="34036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3.4</a:t>
            </a:r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AI education</a:t>
            </a:r>
            <a:endParaRPr lang="ko-KR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73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A8863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pPr algn="r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PROJECTS</a:t>
            </a:r>
            <a:endParaRPr lang="ko-KR" sz="1000" dirty="0"/>
          </a:p>
        </p:txBody>
      </p:sp>
      <p:sp>
        <p:nvSpPr>
          <p:cNvPr id="3" name="Text 2"/>
          <p:cNvSpPr/>
          <p:nvPr>
            <p:ph idx="104" type="title" hasCustomPrompt="1"/>
          </p:nvPr>
        </p:nvSpPr>
        <p:spPr>
          <a:xfrm>
            <a:off x="762000" y="1193800"/>
            <a:ext cx="706120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15000"/>
              </a:lnSpc>
              <a:buNone/>
            </a:pPr>
            <a:r>
              <a:rPr lang="ko-KR" altLang="en-US" sz="3000" spc="-9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Research projects · systems</a:t>
            </a:r>
            <a:endParaRPr lang="ko-KR" sz="3000" dirty="0"/>
          </a:p>
        </p:txBody>
      </p:sp>
      <p:sp>
        <p:nvSpPr>
          <p:cNvPr id="4" name="Text 2"/>
          <p:cNvSpPr/>
          <p:nvPr>
            <p:ph idx="105" type="body" hasCustomPrompt="1"/>
          </p:nvPr>
        </p:nvSpPr>
        <p:spPr>
          <a:xfrm>
            <a:off x="7975600" y="939800"/>
            <a:ext cx="3454400" cy="65405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Ongoing R&amp;D projects and systems the lab built</a:t>
            </a:r>
            <a:endParaRPr lang="ko-KR" sz="1300" dirty="0"/>
          </a:p>
        </p:txBody>
      </p:sp>
      <p:sp>
        <p:nvSpPr>
          <p:cNvPr id="5" name="Text 2"/>
          <p:cNvSpPr/>
          <p:nvPr>
            <p:ph idx="106" type="body" hasCustomPrompt="1"/>
          </p:nvPr>
        </p:nvSpPr>
        <p:spPr>
          <a:xfrm>
            <a:off x="762000" y="5784850"/>
            <a:ext cx="106680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1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 research results are listed with the papers · smartgenerationlab.github.io/en/projects.html</a:t>
            </a:r>
            <a:endParaRPr lang="ko-KR" sz="11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62000" y="2038350"/>
          <a:ext cx="10668000" cy="914400"/>
        </p:xfrm>
        <a:graphic>
          <a:graphicData uri="http://schemas.openxmlformats.org/drawingml/2006/table">
            <a:tbl>
              <a:tblPr/>
              <a:tblGrid>
                <a:gridCol w="5257800"/>
                <a:gridCol w="2552700"/>
                <a:gridCol w="1200150"/>
                <a:gridCol w="1200150"/>
              </a:tblGrid>
              <a:tr h="4953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altLang="en-US" sz="1000" spc="100" kern="0" dirty="0">
                          <a:solidFill>
                            <a:srgbClr val="6B6B7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Project · system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73152" marB="73152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altLang="en-US" sz="1000" spc="100" kern="0" dirty="0">
                          <a:solidFill>
                            <a:srgbClr val="6B6B7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Type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73152" marB="73152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altLang="en-US" sz="1000" spc="100" kern="0" dirty="0">
                          <a:solidFill>
                            <a:srgbClr val="6B6B7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Period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73152" marB="73152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altLang="en-US" sz="1000" spc="100" kern="0" dirty="0">
                          <a:solidFill>
                            <a:srgbClr val="6B6B7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Status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73152" marB="73152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</a:tr>
              <a:tr h="4953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altLang="en-US" sz="1100" dirty="0">
                          <a:solidFill>
                            <a:srgbClr val="111113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Improving Generative AI Models for Cultural Content Production</a:t>
                      </a:r>
                      <a:endParaRPr lang="en-US" sz="11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0" marR="0" marT="73152" marB="73152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altLang="en-US" sz="1100" dirty="0">
                          <a:solidFill>
                            <a:srgbClr val="2E2E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Virtual Convergence Technology Research Institute R&amp;D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73152" marB="73152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altLang="en-US" sz="1100" dirty="0">
                          <a:solidFill>
                            <a:srgbClr val="2E2E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2025 –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73152" marB="73152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altLang="en-US" sz="1100" dirty="0">
                          <a:solidFill>
                            <a:srgbClr val="2E2E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Ongoing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73152" marB="73152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</a:tr>
              <a:tr h="4953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altLang="en-US" sz="1100" dirty="0">
                          <a:solidFill>
                            <a:srgbClr val="111113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Generative AI for Content Production Workflows</a:t>
                      </a:r>
                      <a:endParaRPr lang="en-US" sz="11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0" marR="0" marT="73152" marB="73152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altLang="en-US" sz="1100" dirty="0">
                          <a:solidFill>
                            <a:srgbClr val="2E2E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Industry–academia joint R&amp;D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73152" marB="73152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altLang="en-US" sz="1100" dirty="0">
                          <a:solidFill>
                            <a:srgbClr val="2E2E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2026 –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73152" marB="73152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altLang="en-US" sz="1100" dirty="0">
                          <a:solidFill>
                            <a:srgbClr val="2E2E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Ongoing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73152" marB="73152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</a:tr>
              <a:tr h="4953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altLang="en-US" sz="1100" dirty="0">
                          <a:solidFill>
                            <a:srgbClr val="111113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Local LLM Multi-Agent System</a:t>
                      </a:r>
                      <a:endParaRPr lang="en-US" sz="11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0" marR="0" marT="73152" marB="73152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altLang="en-US" sz="1100" dirty="0">
                          <a:solidFill>
                            <a:srgbClr val="2E2E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Lab project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73152" marB="73152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altLang="en-US" sz="1100" dirty="0">
                          <a:solidFill>
                            <a:srgbClr val="2E2E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2026 –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73152" marB="73152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altLang="en-US" sz="1100" dirty="0">
                          <a:solidFill>
                            <a:srgbClr val="2E2E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Ongoing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73152" marB="73152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</a:tr>
              <a:tr h="4953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altLang="en-US" sz="1100" dirty="0">
                          <a:solidFill>
                            <a:srgbClr val="111113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ComfyUI Content Generation Pipeline</a:t>
                      </a:r>
                      <a:endParaRPr lang="en-US" sz="11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0" marR="0" marT="73152" marB="73152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altLang="en-US" sz="1100" dirty="0">
                          <a:solidFill>
                            <a:srgbClr val="2E2E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Lab project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73152" marB="73152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altLang="en-US" sz="1100" dirty="0">
                          <a:solidFill>
                            <a:srgbClr val="2E2E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2026 –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73152" marB="73152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altLang="en-US" sz="1100" dirty="0">
                          <a:solidFill>
                            <a:srgbClr val="2E2E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Ongoing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73152" marB="73152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</a:tr>
              <a:tr h="4953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altLang="en-US" sz="1100" dirty="0">
                          <a:solidFill>
                            <a:srgbClr val="111113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Lab AI Server</a:t>
                      </a:r>
                      <a:endParaRPr lang="en-US" sz="11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0" marR="0" marT="73152" marB="73152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altLang="en-US" sz="1100" dirty="0">
                          <a:solidFill>
                            <a:srgbClr val="2E2E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Lab project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73152" marB="73152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altLang="en-US" sz="1100" dirty="0">
                          <a:solidFill>
                            <a:srgbClr val="2E2E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2026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73152" marB="73152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altLang="en-US" sz="1100" dirty="0">
                          <a:solidFill>
                            <a:srgbClr val="2E2E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Completed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73152" marB="73152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73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A8863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pPr algn="r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PUBLICATIONS</a:t>
            </a:r>
            <a:endParaRPr lang="ko-KR" sz="1000" dirty="0"/>
          </a:p>
        </p:txBody>
      </p:sp>
      <p:sp>
        <p:nvSpPr>
          <p:cNvPr id="3" name="Text 2"/>
          <p:cNvSpPr/>
          <p:nvPr>
            <p:ph idx="104" type="title" hasCustomPrompt="1"/>
          </p:nvPr>
        </p:nvSpPr>
        <p:spPr>
          <a:xfrm>
            <a:off x="762000" y="1193800"/>
            <a:ext cx="706120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15000"/>
              </a:lnSpc>
              <a:buNone/>
            </a:pPr>
            <a:r>
              <a:rPr lang="ko-KR" altLang="en-US" sz="3000" spc="-9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Publications</a:t>
            </a:r>
            <a:endParaRPr lang="ko-KR" sz="3000" dirty="0"/>
          </a:p>
        </p:txBody>
      </p:sp>
      <p:sp>
        <p:nvSpPr>
          <p:cNvPr id="4" name="Text 2"/>
          <p:cNvSpPr/>
          <p:nvPr>
            <p:ph idx="105" type="body" hasCustomPrompt="1"/>
          </p:nvPr>
        </p:nvSpPr>
        <p:spPr>
          <a:xfrm>
            <a:off x="7975600" y="939800"/>
            <a:ext cx="3454400" cy="65405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2003–2026 · Google Scholar</a:t>
            </a:r>
            <a:endParaRPr lang="ko-KR" sz="1300" dirty="0"/>
          </a:p>
        </p:txBody>
      </p:sp>
      <p:sp>
        <p:nvSpPr>
          <p:cNvPr id="5" name="Text 3"/>
          <p:cNvSpPr/>
          <p:nvPr>
            <p:ph idx="107" type="body" hasCustomPrompt="1"/>
          </p:nvPr>
        </p:nvSpPr>
        <p:spPr>
          <a:xfrm>
            <a:off x="762000" y="2495550"/>
            <a:ext cx="33020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7500" spc="-375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40</a:t>
            </a:r>
            <a:endParaRPr lang="ko-KR" sz="7500" dirty="0"/>
          </a:p>
        </p:txBody>
      </p:sp>
      <p:sp>
        <p:nvSpPr>
          <p:cNvPr id="6" name="Text 3"/>
          <p:cNvSpPr/>
          <p:nvPr>
            <p:ph idx="108" type="body" hasCustomPrompt="1"/>
          </p:nvPr>
        </p:nvSpPr>
        <p:spPr>
          <a:xfrm>
            <a:off x="762000" y="3600450"/>
            <a:ext cx="3302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PUBLICATIONS</a:t>
            </a:r>
            <a:endParaRPr lang="ko-KR" sz="1000" dirty="0"/>
          </a:p>
        </p:txBody>
      </p:sp>
      <p:sp>
        <p:nvSpPr>
          <p:cNvPr id="7" name="Text 3"/>
          <p:cNvSpPr/>
          <p:nvPr>
            <p:ph idx="109" type="body" hasCustomPrompt="1"/>
          </p:nvPr>
        </p:nvSpPr>
        <p:spPr>
          <a:xfrm>
            <a:off x="762000" y="3879850"/>
            <a:ext cx="33020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Journal and conference papers</a:t>
            </a:r>
            <a:endParaRPr lang="ko-KR" sz="1200" dirty="0"/>
          </a:p>
        </p:txBody>
      </p:sp>
      <p:sp>
        <p:nvSpPr>
          <p:cNvPr id="8" name="Text 4"/>
          <p:cNvSpPr/>
          <p:nvPr>
            <p:ph idx="111" type="body" hasCustomPrompt="1"/>
          </p:nvPr>
        </p:nvSpPr>
        <p:spPr>
          <a:xfrm>
            <a:off x="4368800" y="2495550"/>
            <a:ext cx="33020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7500" spc="-375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26</a:t>
            </a:r>
            <a:endParaRPr lang="ko-KR" sz="7500" dirty="0"/>
          </a:p>
        </p:txBody>
      </p:sp>
      <p:sp>
        <p:nvSpPr>
          <p:cNvPr id="9" name="Text 4"/>
          <p:cNvSpPr/>
          <p:nvPr>
            <p:ph idx="112" type="body" hasCustomPrompt="1"/>
          </p:nvPr>
        </p:nvSpPr>
        <p:spPr>
          <a:xfrm>
            <a:off x="4368800" y="3600450"/>
            <a:ext cx="3302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JOURNAL</a:t>
            </a:r>
            <a:endParaRPr lang="ko-KR" sz="1000" dirty="0"/>
          </a:p>
        </p:txBody>
      </p:sp>
      <p:sp>
        <p:nvSpPr>
          <p:cNvPr id="10" name="Text 4"/>
          <p:cNvSpPr/>
          <p:nvPr>
            <p:ph idx="113" type="body" hasCustomPrompt="1"/>
          </p:nvPr>
        </p:nvSpPr>
        <p:spPr>
          <a:xfrm>
            <a:off x="4368800" y="3879850"/>
            <a:ext cx="33020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Journal papers</a:t>
            </a:r>
            <a:endParaRPr lang="ko-KR" sz="1200" dirty="0"/>
          </a:p>
        </p:txBody>
      </p:sp>
      <p:sp>
        <p:nvSpPr>
          <p:cNvPr id="11" name="Text 5"/>
          <p:cNvSpPr/>
          <p:nvPr>
            <p:ph idx="115" type="body" hasCustomPrompt="1"/>
          </p:nvPr>
        </p:nvSpPr>
        <p:spPr>
          <a:xfrm>
            <a:off x="7975600" y="2495550"/>
            <a:ext cx="33020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7500" spc="-375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10</a:t>
            </a:r>
            <a:endParaRPr lang="ko-KR" sz="7500" dirty="0"/>
          </a:p>
        </p:txBody>
      </p:sp>
      <p:sp>
        <p:nvSpPr>
          <p:cNvPr id="12" name="Text 5"/>
          <p:cNvSpPr/>
          <p:nvPr>
            <p:ph idx="116" type="body" hasCustomPrompt="1"/>
          </p:nvPr>
        </p:nvSpPr>
        <p:spPr>
          <a:xfrm>
            <a:off x="7975600" y="3600450"/>
            <a:ext cx="3302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SINCE 2024</a:t>
            </a:r>
            <a:endParaRPr lang="ko-KR" sz="1000" dirty="0"/>
          </a:p>
        </p:txBody>
      </p:sp>
      <p:sp>
        <p:nvSpPr>
          <p:cNvPr id="13" name="Text 5"/>
          <p:cNvSpPr/>
          <p:nvPr>
            <p:ph idx="117" type="body" hasCustomPrompt="1"/>
          </p:nvPr>
        </p:nvSpPr>
        <p:spPr>
          <a:xfrm>
            <a:off x="7975600" y="3879850"/>
            <a:ext cx="33020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Generative AI · LLM · agents (2024–)</a:t>
            </a:r>
            <a:endParaRPr lang="ko-KR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73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A8863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</a:t>
            </a:r>
            <a:pPr algn="r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ACTIVITIES</a:t>
            </a:r>
            <a:endParaRPr lang="ko-KR" sz="1000" dirty="0"/>
          </a:p>
        </p:txBody>
      </p:sp>
      <p:sp>
        <p:nvSpPr>
          <p:cNvPr id="3" name="Text 2"/>
          <p:cNvSpPr/>
          <p:nvPr>
            <p:ph idx="104" type="title" hasCustomPrompt="1"/>
          </p:nvPr>
        </p:nvSpPr>
        <p:spPr>
          <a:xfrm>
            <a:off x="762000" y="1193800"/>
            <a:ext cx="706120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15000"/>
              </a:lnSpc>
              <a:buNone/>
            </a:pPr>
            <a:r>
              <a:rPr lang="ko-KR" altLang="en-US" sz="3000" spc="-9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Recent activities</a:t>
            </a:r>
            <a:endParaRPr lang="ko-KR" sz="3000" dirty="0"/>
          </a:p>
        </p:txBody>
      </p:sp>
      <p:sp>
        <p:nvSpPr>
          <p:cNvPr id="4" name="Text 2"/>
          <p:cNvSpPr/>
          <p:nvPr>
            <p:ph idx="105" type="body" hasCustomPrompt="1"/>
          </p:nvPr>
        </p:nvSpPr>
        <p:spPr>
          <a:xfrm>
            <a:off x="7975600" y="939800"/>
            <a:ext cx="3454400" cy="65405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Academic · Teaching · Lab</a:t>
            </a:r>
            <a:endParaRPr lang="ko-KR" sz="1300" dirty="0"/>
          </a:p>
        </p:txBody>
      </p:sp>
      <p:sp>
        <p:nvSpPr>
          <p:cNvPr id="5" name="Text 4"/>
          <p:cNvSpPr/>
          <p:nvPr>
            <p:ph idx="108" type="body" hasCustomPrompt="1"/>
          </p:nvPr>
        </p:nvSpPr>
        <p:spPr>
          <a:xfrm>
            <a:off x="1295400" y="2178050"/>
            <a:ext cx="56261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ko-KR" altLang="en-US" sz="130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Website Relaunch</a:t>
            </a:r>
            <a:pPr algn="l" indent="0" marL="0">
              <a:lnSpc>
                <a:spcPct val="130000"/>
              </a:lnSpc>
              <a:buNone/>
            </a:pPr>
            <a:r>
              <a:rPr lang="ko-KR" altLang="en-US" sz="1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2026.09 · Lab</a:t>
            </a:r>
            <a:endParaRPr lang="ko-KR" sz="1500" dirty="0"/>
          </a:p>
        </p:txBody>
      </p:sp>
      <p:sp>
        <p:nvSpPr>
          <p:cNvPr id="6" name="Text 6"/>
          <p:cNvSpPr/>
          <p:nvPr>
            <p:ph idx="111" type="body" hasCustomPrompt="1"/>
          </p:nvPr>
        </p:nvSpPr>
        <p:spPr>
          <a:xfrm>
            <a:off x="1295400" y="2705100"/>
            <a:ext cx="56261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ko-KR" altLang="en-US" sz="130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ISPACS 2026 Web Chair</a:t>
            </a:r>
            <a:pPr algn="l" indent="0" marL="0">
              <a:lnSpc>
                <a:spcPct val="130000"/>
              </a:lnSpc>
              <a:buNone/>
            </a:pPr>
            <a:r>
              <a:rPr lang="ko-KR" altLang="en-US" sz="1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2026.08 · Academic</a:t>
            </a:r>
            <a:endParaRPr lang="ko-KR" sz="1500" dirty="0"/>
          </a:p>
        </p:txBody>
      </p:sp>
      <p:sp>
        <p:nvSpPr>
          <p:cNvPr id="7" name="Text 8"/>
          <p:cNvSpPr/>
          <p:nvPr>
            <p:ph idx="114" type="body" hasCustomPrompt="1"/>
          </p:nvPr>
        </p:nvSpPr>
        <p:spPr>
          <a:xfrm>
            <a:off x="1295400" y="3232150"/>
            <a:ext cx="56261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ko-KR" altLang="en-US" sz="130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SG Lab Brand Finalised</a:t>
            </a:r>
            <a:pPr algn="l" indent="0" marL="0">
              <a:lnSpc>
                <a:spcPct val="130000"/>
              </a:lnSpc>
              <a:buNone/>
            </a:pPr>
            <a:r>
              <a:rPr lang="ko-KR" altLang="en-US" sz="1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2026.07 · Lab</a:t>
            </a:r>
            <a:endParaRPr lang="ko-KR" sz="1500" dirty="0"/>
          </a:p>
        </p:txBody>
      </p:sp>
      <p:sp>
        <p:nvSpPr>
          <p:cNvPr id="8" name="Text 10"/>
          <p:cNvSpPr/>
          <p:nvPr>
            <p:ph idx="117" type="body" hasCustomPrompt="1"/>
          </p:nvPr>
        </p:nvSpPr>
        <p:spPr>
          <a:xfrm>
            <a:off x="1295400" y="3759200"/>
            <a:ext cx="56261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ko-KR" altLang="en-US" sz="130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Generative AI Workshop for University Staff</a:t>
            </a:r>
            <a:pPr algn="l" indent="0" marL="0">
              <a:lnSpc>
                <a:spcPct val="130000"/>
              </a:lnSpc>
              <a:buNone/>
            </a:pPr>
            <a:r>
              <a:rPr lang="ko-KR" altLang="en-US" sz="1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2026.06 · Teaching</a:t>
            </a:r>
            <a:endParaRPr lang="ko-KR" sz="1500" dirty="0"/>
          </a:p>
        </p:txBody>
      </p:sp>
      <p:sp>
        <p:nvSpPr>
          <p:cNvPr id="9" name="Text 12"/>
          <p:cNvSpPr/>
          <p:nvPr>
            <p:ph idx="120" type="body" hasCustomPrompt="1"/>
          </p:nvPr>
        </p:nvSpPr>
        <p:spPr>
          <a:xfrm>
            <a:off x="1295400" y="4286250"/>
            <a:ext cx="56261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ko-KR" altLang="en-US" sz="110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Computer Vision System Design · Software Studio 1 · Advanced Programming</a:t>
            </a:r>
            <a:pPr algn="l" indent="0" marL="0">
              <a:lnSpc>
                <a:spcPct val="130000"/>
              </a:lnSpc>
              <a:buNone/>
            </a:pPr>
            <a:r>
              <a:rPr lang="ko-KR" altLang="en-US" sz="1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2026.03 · Teaching</a:t>
            </a:r>
            <a:endParaRPr lang="ko-KR" sz="1500" dirty="0"/>
          </a:p>
        </p:txBody>
      </p:sp>
      <p:sp>
        <p:nvSpPr>
          <p:cNvPr id="10" name="Text 13"/>
          <p:cNvSpPr/>
          <p:nvPr>
            <p:ph idx="122" type="body" hasCustomPrompt="1"/>
          </p:nvPr>
        </p:nvSpPr>
        <p:spPr>
          <a:xfrm>
            <a:off x="7975600" y="2178050"/>
            <a:ext cx="3454400" cy="1905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 activities in total</a:t>
            </a:r>
            <a:endParaRPr lang="ko-KR" sz="1200" dirty="0"/>
          </a:p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smartgenerationlab.github.io/en/activities.html</a:t>
            </a:r>
            <a:endParaRPr lang="ko-KR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73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A8863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</a:t>
            </a:r>
            <a:pPr algn="r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PEOPLE</a:t>
            </a:r>
            <a:endParaRPr lang="ko-KR" sz="1000" dirty="0"/>
          </a:p>
        </p:txBody>
      </p:sp>
      <p:sp>
        <p:nvSpPr>
          <p:cNvPr id="3" name="Text 2"/>
          <p:cNvSpPr/>
          <p:nvPr>
            <p:ph idx="104" type="title" hasCustomPrompt="1"/>
          </p:nvPr>
        </p:nvSpPr>
        <p:spPr>
          <a:xfrm>
            <a:off x="762000" y="1193800"/>
            <a:ext cx="706120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15000"/>
              </a:lnSpc>
              <a:buNone/>
            </a:pPr>
            <a:r>
              <a:rPr lang="ko-KR" altLang="en-US" sz="3000" spc="-9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Sang-Geol Lee, Ph.D.</a:t>
            </a:r>
            <a:endParaRPr lang="ko-KR" sz="3000" dirty="0"/>
          </a:p>
        </p:txBody>
      </p:sp>
      <p:sp>
        <p:nvSpPr>
          <p:cNvPr id="4" name="Text 2"/>
          <p:cNvSpPr/>
          <p:nvPr>
            <p:ph idx="105" type="body" hasCustomPrompt="1"/>
          </p:nvPr>
        </p:nvSpPr>
        <p:spPr>
          <a:xfrm>
            <a:off x="7975600" y="939800"/>
            <a:ext cx="3454400" cy="65405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  <a:endParaRPr lang="ko-KR" sz="1300" dirty="0"/>
          </a:p>
        </p:txBody>
      </p:sp>
      <p:sp>
        <p:nvSpPr>
          <p:cNvPr id="5" name="Text 2"/>
          <p:cNvSpPr/>
          <p:nvPr>
            <p:ph idx="106" type="body" hasCustomPrompt="1"/>
          </p:nvPr>
        </p:nvSpPr>
        <p:spPr>
          <a:xfrm>
            <a:off x="762000" y="5784850"/>
            <a:ext cx="106680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1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leesg@dongseo.ac.kr · smartgenerationlab.github.io</a:t>
            </a:r>
            <a:endParaRPr lang="ko-KR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762000" y="2038350"/>
            <a:ext cx="5257800" cy="355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spcAft>
                <a:spcPts val="1000"/>
              </a:spcAft>
              <a:buNone/>
            </a:pPr>
            <a:r>
              <a:rPr lang="en-US" altLang="en-US" sz="11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이상걸 · Principal Investigator</a:t>
            </a:r>
            <a:endParaRPr lang="en-US" sz="1100" dirty="0"/>
          </a:p>
          <a:p>
            <a:pPr indent="0" marL="0">
              <a:lnSpc>
                <a:spcPct val="140000"/>
              </a:lnSpc>
              <a:spcBef>
                <a:spcPts val="1800"/>
              </a:spcBef>
              <a:buNone/>
            </a:pPr>
            <a:r>
              <a:rPr lang="en-US" altLang="en-US" sz="120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Education</a:t>
            </a:r>
            <a:endParaRPr lang="en-US" sz="1100" dirty="0"/>
          </a:p>
          <a:p>
            <a:pPr indent="0" marL="0">
              <a:lnSpc>
                <a:spcPct val="140000"/>
              </a:lnSpc>
              <a:buNone/>
            </a:pPr>
            <a:r>
              <a:rPr lang="en-US" altLang="en-US" sz="11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Ph.D. in Electrical, Electronic and Computer Engineering, Pusan National University</a:t>
            </a:r>
            <a:endParaRPr lang="en-US" sz="1100" dirty="0"/>
          </a:p>
          <a:p>
            <a:pPr indent="0" marL="0">
              <a:lnSpc>
                <a:spcPct val="140000"/>
              </a:lnSpc>
              <a:buNone/>
            </a:pPr>
            <a:r>
              <a:rPr lang="en-US" altLang="en-US" sz="11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M.S. in Computer Engineering, Pusan National University</a:t>
            </a:r>
            <a:endParaRPr lang="en-US" sz="1100" dirty="0"/>
          </a:p>
          <a:p>
            <a:pPr indent="0" marL="0">
              <a:lnSpc>
                <a:spcPct val="140000"/>
              </a:lnSpc>
              <a:buNone/>
            </a:pPr>
            <a:r>
              <a:rPr lang="en-US" altLang="en-US" sz="11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B.S. in Information and Computer Engineering, Pusan National University</a:t>
            </a:r>
            <a:endParaRPr lang="en-US" sz="1100" dirty="0"/>
          </a:p>
          <a:p>
            <a:pPr indent="0" marL="0">
              <a:lnSpc>
                <a:spcPct val="140000"/>
              </a:lnSpc>
              <a:spcBef>
                <a:spcPts val="1800"/>
              </a:spcBef>
              <a:buNone/>
            </a:pPr>
            <a:r>
              <a:rPr lang="en-US" altLang="en-US" sz="120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Career</a:t>
            </a:r>
            <a:endParaRPr lang="en-US" sz="1100" dirty="0"/>
          </a:p>
          <a:p>
            <a:pPr indent="0" marL="0">
              <a:lnSpc>
                <a:spcPct val="140000"/>
              </a:lnSpc>
              <a:buNone/>
            </a:pPr>
            <a:r>
              <a:rPr lang="en-US" altLang="en-US" sz="11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Associate Professor, Department of Software, Dongseo University (current)</a:t>
            </a:r>
            <a:endParaRPr lang="en-US" sz="1100" dirty="0"/>
          </a:p>
          <a:p>
            <a:pPr indent="0" marL="0">
              <a:lnSpc>
                <a:spcPct val="140000"/>
              </a:lnSpc>
              <a:buNone/>
            </a:pPr>
            <a:r>
              <a:rPr lang="en-US" altLang="en-US" sz="11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Research Professor, WE-UP Programme, Dongguk University</a:t>
            </a:r>
            <a:endParaRPr lang="en-US" sz="1100" dirty="0"/>
          </a:p>
          <a:p>
            <a:pPr indent="0" marL="0">
              <a:lnSpc>
                <a:spcPct val="140000"/>
              </a:lnSpc>
              <a:buNone/>
            </a:pPr>
            <a:r>
              <a:rPr lang="en-US" altLang="en-US" sz="11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Research Fellow, BK21+ Programme, Pusan National University</a:t>
            </a:r>
            <a:endParaRPr lang="en-US" sz="1100" dirty="0"/>
          </a:p>
          <a:p>
            <a:pPr indent="0" marL="0">
              <a:lnSpc>
                <a:spcPct val="140000"/>
              </a:lnSpc>
              <a:spcBef>
                <a:spcPts val="1800"/>
              </a:spcBef>
              <a:buNone/>
            </a:pPr>
            <a:r>
              <a:rPr lang="en-US" altLang="en-US" sz="120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Interests</a:t>
            </a:r>
            <a:endParaRPr lang="en-US" sz="1100" dirty="0"/>
          </a:p>
          <a:p>
            <a:pPr indent="0" marL="0">
              <a:lnSpc>
                <a:spcPct val="140000"/>
              </a:lnSpc>
              <a:buNone/>
            </a:pPr>
            <a:r>
              <a:rPr lang="en-US" altLang="en-US" sz="11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deep learning, machine learning, neural networks, computer vision, image processing.</a:t>
            </a:r>
            <a:endParaRPr lang="en-US" sz="1100" dirty="0"/>
          </a:p>
        </p:txBody>
      </p:sp>
      <p:pic>
        <p:nvPicPr>
          <p:cNvPr id="7" name="Image 0" descr="/home/runner/work/sglab-brand/sglab-brand/web/images/lee-sang-geol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62850" y="2038350"/>
            <a:ext cx="2476500" cy="33020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73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JOIN US</a:t>
            </a:r>
            <a:endParaRPr lang="ko-KR" sz="1000" dirty="0"/>
          </a:p>
        </p:txBody>
      </p:sp>
      <p:sp>
        <p:nvSpPr>
          <p:cNvPr id="3" name="Text 2"/>
          <p:cNvSpPr/>
          <p:nvPr>
            <p:ph idx="105" type="title" hasCustomPrompt="1"/>
          </p:nvPr>
        </p:nvSpPr>
        <p:spPr>
          <a:xfrm>
            <a:off x="762000" y="4470400"/>
            <a:ext cx="6159500" cy="1136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ko-KR" altLang="en-US" sz="4000" spc="-14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Looking for people to</a:t>
            </a:r>
            <a:endParaRPr lang="ko-KR" sz="4000" dirty="0"/>
          </a:p>
          <a:p>
            <a:pPr algn="l" indent="0" marL="0">
              <a:lnSpc>
                <a:spcPct val="112000"/>
              </a:lnSpc>
              <a:buNone/>
            </a:pPr>
            <a:r>
              <a:rPr lang="ko-KR" altLang="en-US" sz="4000" spc="-14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build with.</a:t>
            </a:r>
            <a:endParaRPr lang="ko-KR" sz="4000" dirty="0"/>
          </a:p>
        </p:txBody>
      </p:sp>
      <p:sp>
        <p:nvSpPr>
          <p:cNvPr id="4" name="Text 2"/>
          <p:cNvSpPr/>
          <p:nvPr>
            <p:ph idx="106" type="body" hasCustomPrompt="1"/>
          </p:nvPr>
        </p:nvSpPr>
        <p:spPr>
          <a:xfrm>
            <a:off x="762000" y="5810250"/>
            <a:ext cx="6159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5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Graduate and undergraduate applications, industry collaboration, and joint research proposals are all welcome by email.</a:t>
            </a:r>
            <a:endParaRPr lang="ko-KR" sz="1500" dirty="0"/>
          </a:p>
        </p:txBody>
      </p:sp>
      <p:sp>
        <p:nvSpPr>
          <p:cNvPr id="5" name="Text 4"/>
          <p:cNvSpPr/>
          <p:nvPr>
            <p:ph idx="109" type="body" hasCustomPrompt="1"/>
          </p:nvPr>
        </p:nvSpPr>
        <p:spPr>
          <a:xfrm>
            <a:off x="8864600" y="5156200"/>
            <a:ext cx="2565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ko-KR" altLang="en-US" sz="1300" dirty="0">
                <a:solidFill>
                  <a:srgbClr val="A8863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leesg@dongseo.ac.kr</a:t>
            </a:r>
            <a:endParaRPr lang="ko-KR" sz="1300" dirty="0"/>
          </a:p>
        </p:txBody>
      </p:sp>
      <p:sp>
        <p:nvSpPr>
          <p:cNvPr id="6" name="Text 5"/>
          <p:cNvSpPr/>
          <p:nvPr>
            <p:ph idx="111" type="body" hasCustomPrompt="1"/>
          </p:nvPr>
        </p:nvSpPr>
        <p:spPr>
          <a:xfrm>
            <a:off x="8864600" y="5511800"/>
            <a:ext cx="2565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+82-51-320-2135</a:t>
            </a:r>
            <a:endParaRPr lang="ko-KR" sz="1300" dirty="0"/>
          </a:p>
        </p:txBody>
      </p:sp>
      <p:sp>
        <p:nvSpPr>
          <p:cNvPr id="7" name="Text 6"/>
          <p:cNvSpPr/>
          <p:nvPr>
            <p:ph idx="113" type="body" hasCustomPrompt="1"/>
          </p:nvPr>
        </p:nvSpPr>
        <p:spPr>
          <a:xfrm>
            <a:off x="8864600" y="5867400"/>
            <a:ext cx="2565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smartgenerationlab.github.io/en/</a:t>
            </a:r>
            <a:endParaRPr lang="ko-KR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동서대학교 컴퓨터공학부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Smart Generation Lab — Lab Introduction</dc:title>
  <dc:subject>PptxGenJS Presentation</dc:subject>
  <dc:creator>Smart Generation Lab</dc:creator>
  <cp:lastModifiedBy>Smart Generation Lab</cp:lastModifiedBy>
  <cp:revision>1</cp:revision>
  <dcterms:created xsi:type="dcterms:W3CDTF">2026-09-21T15:39:53Z</dcterms:created>
  <dcterms:modified xsi:type="dcterms:W3CDTF">2026-09-21T15:39:53Z</dcterms:modified>
</cp:coreProperties>
</file>