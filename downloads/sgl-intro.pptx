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embeddedFontLst>
    <p:embeddedFont>
      <p:font typeface="Pretendard" panose="02000503000000020004" pitchFamily="34" charset="0"/>
      <p:regular r:id="rIdFont1"/>
      <p:bold r:id="rIdFont2"/>
    </p:embeddedFont>
    <p:embeddedFont>
      <p:font typeface="Pretendard SemiBold" panose="02000703000000020004" pitchFamily="34" charset="0"/>
      <p:regular r:id="rIdFont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Relationship Id="rIdFont3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cover-field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00" y="952500"/>
            <a:ext cx="5588000" cy="5588000"/>
          </a:xfrm>
          <a:prstGeom prst="rect">
            <a:avLst/>
          </a:prstGeom>
        </p:spPr>
      </p:pic>
      <p:pic>
        <p:nvPicPr>
          <p:cNvPr id="3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609600"/>
            <a:ext cx="457200" cy="4572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358900" y="736600"/>
            <a:ext cx="444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200" spc="12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6" name="Shape 1"/>
          <p:cNvSpPr/>
          <p:nvPr/>
        </p:nvSpPr>
        <p:spPr>
          <a:xfrm>
            <a:off x="762000" y="1295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TITLE</a:t>
            </a:r>
            <a:endParaRPr lang="ko-KR" sz="1100" dirty="0"/>
          </a:p>
        </p:txBody>
      </p:sp>
      <p:sp>
        <p:nvSpPr>
          <p:cNvPr id="8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발표 제목 자리: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 만드는 것으로</a:t>
            </a:r>
            <a:endParaRPr lang="ko-KR" sz="4600" dirty="0"/>
          </a:p>
        </p:txBody>
      </p:sp>
      <p:sp>
        <p:nvSpPr>
          <p:cNvPr id="9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부제 또는 발표 맥락 한 줄 — 산학 미팅, 학생 세미나, 학회 발표</a:t>
            </a:r>
            <a:endParaRPr lang="ko-KR" sz="1600" dirty="0"/>
          </a:p>
        </p:txBody>
      </p:sp>
      <p:sp>
        <p:nvSpPr>
          <p:cNvPr id="10" name="Shape 2"/>
          <p:cNvSpPr/>
          <p:nvPr/>
        </p:nvSpPr>
        <p:spPr>
          <a:xfrm>
            <a:off x="762000" y="5638800"/>
            <a:ext cx="685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이름   동서대학교 컴퓨터공학부(소프트웨어전공)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RESEARCH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확산 모델의 역과정을 수업으로 옮기기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기본형 — 좌 텍스트 6칼럼, 우 이미지 6칼럼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669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정의 — 한 줄 설명 자리. 30px, 최대 두 줄.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6797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908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 방법 — 모델 구조와 학습 설정을 한 줄로.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32105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5496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— 핵심 수치 하나, 비교 대상 하나.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962400"/>
            <a:ext cx="52578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6172200" y="2038350"/>
            <a:ext cx="5257800" cy="2667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9" name="Text 10"/>
          <p:cNvSpPr txBox="1"/>
          <p:nvPr/>
        </p:nvSpPr>
        <p:spPr>
          <a:xfrm>
            <a:off x="6172200" y="3276600"/>
            <a:ext cx="5257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결과 이미지 · 도표 자리 (16:10)</a:t>
            </a:r>
            <a:endParaRPr lang="ko-KR" sz="1000" dirty="0"/>
          </a:p>
        </p:txBody>
      </p:sp>
      <p:sp>
        <p:nvSpPr>
          <p:cNvPr id="20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1" name="Shape 1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3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SECTION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0000"/>
              </a:lnSpc>
              <a:buNone/>
              <a:def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섹션 제목 — 프로젝트 데모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섹션 요약 한 줄 — 이 섹션이 답하는 질문 하나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43688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   하위 항목 1</a:t>
            </a:r>
            <a:endParaRPr lang="ko-KR" sz="1300" dirty="0"/>
          </a:p>
        </p:txBody>
      </p:sp>
      <p:sp>
        <p:nvSpPr>
          <p:cNvPr id="11" name="Shape 3"/>
          <p:cNvSpPr/>
          <p:nvPr/>
        </p:nvSpPr>
        <p:spPr>
          <a:xfrm>
            <a:off x="8026400" y="35179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   하위 항목 2</a:t>
            </a:r>
            <a:endParaRPr lang="ko-KR" sz="1300" dirty="0"/>
          </a:p>
        </p:txBody>
      </p:sp>
      <p:sp>
        <p:nvSpPr>
          <p:cNvPr id="13" name="Shape 4"/>
          <p:cNvSpPr/>
          <p:nvPr/>
        </p:nvSpPr>
        <p:spPr>
          <a:xfrm>
            <a:off x="43688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4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   하위 항목 3</a:t>
            </a:r>
            <a:endParaRPr lang="ko-KR" sz="1300" dirty="0"/>
          </a:p>
        </p:txBody>
      </p:sp>
      <p:sp>
        <p:nvSpPr>
          <p:cNvPr id="15" name="Shape 5"/>
          <p:cNvSpPr/>
          <p:nvPr/>
        </p:nvSpPr>
        <p:spPr>
          <a:xfrm>
            <a:off x="43688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6" name="Shape 6"/>
          <p:cNvSpPr/>
          <p:nvPr/>
        </p:nvSpPr>
        <p:spPr>
          <a:xfrm>
            <a:off x="8026400" y="404495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   하위 항목 4</a:t>
            </a:r>
            <a:endParaRPr lang="ko-KR" sz="1300" dirty="0"/>
          </a:p>
        </p:txBody>
      </p:sp>
      <p:sp>
        <p:nvSpPr>
          <p:cNvPr id="18" name="Shape 7"/>
          <p:cNvSpPr/>
          <p:nvPr/>
        </p:nvSpPr>
        <p:spPr>
          <a:xfrm>
            <a:off x="8026400" y="4572000"/>
            <a:ext cx="34036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Shape 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0" name="Text 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43000"/>
            <a:ext cx="6159500" cy="4089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800" spc="-84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텍스트→영상 확산 모델 · 생성 결과</a:t>
            </a:r>
            <a:endParaRPr lang="ko-KR" sz="28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073900" y="1143000"/>
            <a:ext cx="4356100" cy="370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4종, 각 16프레임 · 동일 시드 비교</a:t>
            </a:r>
            <a:endParaRPr lang="ko-KR" sz="1200" dirty="0"/>
          </a:p>
        </p:txBody>
      </p:sp>
      <p:sp>
        <p:nvSpPr>
          <p:cNvPr id="8" name="Shape 2"/>
          <p:cNvSpPr/>
          <p:nvPr/>
        </p:nvSpPr>
        <p:spPr>
          <a:xfrm>
            <a:off x="7620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8890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01 · 16:10</a:t>
            </a:r>
            <a:endParaRPr lang="ko-KR" sz="900" dirty="0"/>
          </a:p>
        </p:txBody>
      </p:sp>
      <p:sp>
        <p:nvSpPr>
          <p:cNvPr id="10" name="Text 4"/>
          <p:cNvSpPr/>
          <p:nvPr>
            <p:ph idx="108" hasCustomPrompt="1"/>
          </p:nvPr>
        </p:nvSpPr>
        <p:spPr>
          <a:xfrm>
            <a:off x="7620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1" name="Shape 4"/>
          <p:cNvSpPr/>
          <p:nvPr/>
        </p:nvSpPr>
        <p:spPr>
          <a:xfrm>
            <a:off x="34671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35941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02</a:t>
            </a:r>
            <a:endParaRPr lang="ko-KR" sz="900" dirty="0"/>
          </a:p>
        </p:txBody>
      </p:sp>
      <p:sp>
        <p:nvSpPr>
          <p:cNvPr id="13" name="Text 6"/>
          <p:cNvSpPr/>
          <p:nvPr>
            <p:ph idx="111" hasCustomPrompt="1"/>
          </p:nvPr>
        </p:nvSpPr>
        <p:spPr>
          <a:xfrm>
            <a:off x="34671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4" name="Shape 6"/>
          <p:cNvSpPr/>
          <p:nvPr/>
        </p:nvSpPr>
        <p:spPr>
          <a:xfrm>
            <a:off x="61722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62992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03</a:t>
            </a:r>
            <a:endParaRPr lang="ko-KR" sz="900" dirty="0"/>
          </a:p>
        </p:txBody>
      </p:sp>
      <p:sp>
        <p:nvSpPr>
          <p:cNvPr id="16" name="Text 8"/>
          <p:cNvSpPr/>
          <p:nvPr>
            <p:ph idx="114" hasCustomPrompt="1"/>
          </p:nvPr>
        </p:nvSpPr>
        <p:spPr>
          <a:xfrm>
            <a:off x="61722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Shape 8"/>
          <p:cNvSpPr/>
          <p:nvPr/>
        </p:nvSpPr>
        <p:spPr>
          <a:xfrm>
            <a:off x="8877300" y="1856740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9004300" y="3363595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04</a:t>
            </a:r>
            <a:endParaRPr lang="ko-KR" sz="900" dirty="0"/>
          </a:p>
        </p:txBody>
      </p:sp>
      <p:sp>
        <p:nvSpPr>
          <p:cNvPr id="19" name="Text 10"/>
          <p:cNvSpPr/>
          <p:nvPr>
            <p:ph idx="117" hasCustomPrompt="1"/>
          </p:nvPr>
        </p:nvSpPr>
        <p:spPr>
          <a:xfrm>
            <a:off x="8877300" y="1856740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0" name="Shape 10"/>
          <p:cNvSpPr/>
          <p:nvPr/>
        </p:nvSpPr>
        <p:spPr>
          <a:xfrm>
            <a:off x="7620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8890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05</a:t>
            </a:r>
            <a:endParaRPr lang="ko-KR" sz="900" dirty="0"/>
          </a:p>
        </p:txBody>
      </p:sp>
      <p:sp>
        <p:nvSpPr>
          <p:cNvPr id="22" name="Text 12"/>
          <p:cNvSpPr/>
          <p:nvPr>
            <p:ph idx="120" hasCustomPrompt="1"/>
          </p:nvPr>
        </p:nvSpPr>
        <p:spPr>
          <a:xfrm>
            <a:off x="7620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3" name="Shape 12"/>
          <p:cNvSpPr/>
          <p:nvPr/>
        </p:nvSpPr>
        <p:spPr>
          <a:xfrm>
            <a:off x="34671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4" name="Text 13"/>
          <p:cNvSpPr txBox="1"/>
          <p:nvPr/>
        </p:nvSpPr>
        <p:spPr>
          <a:xfrm>
            <a:off x="35941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06</a:t>
            </a:r>
            <a:endParaRPr lang="ko-KR" sz="900" dirty="0"/>
          </a:p>
        </p:txBody>
      </p:sp>
      <p:sp>
        <p:nvSpPr>
          <p:cNvPr id="25" name="Text 14"/>
          <p:cNvSpPr/>
          <p:nvPr>
            <p:ph idx="123" hasCustomPrompt="1"/>
          </p:nvPr>
        </p:nvSpPr>
        <p:spPr>
          <a:xfrm>
            <a:off x="34671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6" name="Shape 14"/>
          <p:cNvSpPr/>
          <p:nvPr/>
        </p:nvSpPr>
        <p:spPr>
          <a:xfrm>
            <a:off x="61722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27" name="Text 15"/>
          <p:cNvSpPr txBox="1"/>
          <p:nvPr/>
        </p:nvSpPr>
        <p:spPr>
          <a:xfrm>
            <a:off x="62992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07</a:t>
            </a:r>
            <a:endParaRPr lang="ko-KR" sz="900" dirty="0"/>
          </a:p>
        </p:txBody>
      </p:sp>
      <p:sp>
        <p:nvSpPr>
          <p:cNvPr id="28" name="Text 16"/>
          <p:cNvSpPr/>
          <p:nvPr>
            <p:ph idx="126" hasCustomPrompt="1"/>
          </p:nvPr>
        </p:nvSpPr>
        <p:spPr>
          <a:xfrm>
            <a:off x="61722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29" name="Shape 16"/>
          <p:cNvSpPr/>
          <p:nvPr/>
        </p:nvSpPr>
        <p:spPr>
          <a:xfrm>
            <a:off x="8877300" y="3820795"/>
            <a:ext cx="2552700" cy="181165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0" name="Text 17"/>
          <p:cNvSpPr txBox="1"/>
          <p:nvPr/>
        </p:nvSpPr>
        <p:spPr>
          <a:xfrm>
            <a:off x="9004300" y="5327650"/>
            <a:ext cx="22987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08</a:t>
            </a:r>
            <a:endParaRPr lang="ko-KR" sz="900" dirty="0"/>
          </a:p>
        </p:txBody>
      </p:sp>
      <p:sp>
        <p:nvSpPr>
          <p:cNvPr id="31" name="Text 18"/>
          <p:cNvSpPr/>
          <p:nvPr>
            <p:ph idx="129" hasCustomPrompt="1"/>
          </p:nvPr>
        </p:nvSpPr>
        <p:spPr>
          <a:xfrm>
            <a:off x="8877300" y="3820795"/>
            <a:ext cx="2552700" cy="181165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2" name="Text 18"/>
          <p:cNvSpPr/>
          <p:nvPr>
            <p:ph idx="130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 — 모델, 해상도, 스텝 수, 비교 기준.</a:t>
            </a:r>
            <a:endParaRPr lang="ko-KR" sz="1100" dirty="0"/>
          </a:p>
        </p:txBody>
      </p:sp>
      <p:sp>
        <p:nvSpPr>
          <p:cNvPr id="33" name="Shape 18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34" name="Text 19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35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AC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CONTACT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pic>
        <p:nvPicPr>
          <p:cNvPr id="6" name="Image 1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778000"/>
            <a:ext cx="1016000" cy="1016000"/>
          </a:xfrm>
          <a:prstGeom prst="rect">
            <a:avLst/>
          </a:prstGeom>
        </p:spPr>
      </p:pic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2000"/>
              </a:lnSpc>
              <a:buNone/>
              <a:def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사람과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풀 문제를 찾습니다.</a:t>
            </a:r>
            <a:endParaRPr lang="ko-KR" sz="40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대학원·학부연구생 지원, 산학 협력, 공동 연구 제안</a:t>
            </a:r>
            <a:endParaRPr lang="ko-KR" sz="1500" dirty="0"/>
          </a:p>
        </p:txBody>
      </p:sp>
      <p:sp>
        <p:nvSpPr>
          <p:cNvPr id="9" name="Shape 2"/>
          <p:cNvSpPr/>
          <p:nvPr/>
        </p:nvSpPr>
        <p:spPr>
          <a:xfrm>
            <a:off x="7975600" y="4978400"/>
            <a:ext cx="34544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975600" y="51562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ko-KR" sz="1300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주소 자리</a:t>
            </a:r>
            <a:endParaRPr lang="ko-KR" sz="1300" dirty="0"/>
          </a:p>
        </p:txBody>
      </p:sp>
      <p:sp>
        <p:nvSpPr>
          <p:cNvPr id="12" name="Text 4"/>
          <p:cNvSpPr txBox="1"/>
          <p:nvPr/>
        </p:nvSpPr>
        <p:spPr>
          <a:xfrm>
            <a:off x="7975600" y="55118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웹</a:t>
            </a:r>
            <a:endParaRPr lang="ko-KR" sz="1300" dirty="0"/>
          </a:p>
        </p:txBody>
      </p:sp>
      <p:sp>
        <p:nvSpPr>
          <p:cNvPr id="13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주소 자리</a:t>
            </a:r>
            <a:endParaRPr lang="ko-KR" sz="1300" dirty="0"/>
          </a:p>
        </p:txBody>
      </p:sp>
      <p:sp>
        <p:nvSpPr>
          <p:cNvPr id="14" name="Text 5"/>
          <p:cNvSpPr txBox="1"/>
          <p:nvPr/>
        </p:nvSpPr>
        <p:spPr>
          <a:xfrm>
            <a:off x="7975600" y="5867400"/>
            <a:ext cx="76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연구실</a:t>
            </a:r>
            <a:endParaRPr lang="ko-KR" sz="1300" dirty="0"/>
          </a:p>
        </p:txBody>
      </p:sp>
      <p:sp>
        <p:nvSpPr>
          <p:cNvPr id="15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40000"/>
              </a:lnSpc>
              <a:buNone/>
              <a:def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· 건물·호수 자리</a:t>
            </a:r>
            <a:endParaRPr lang="ko-KR" sz="13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AGENDA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다섯 가지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0383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 txBox="1"/>
          <p:nvPr/>
        </p:nvSpPr>
        <p:spPr>
          <a:xfrm>
            <a:off x="762000" y="22161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ko-KR" sz="1100" dirty="0"/>
          </a:p>
        </p:txBody>
      </p:sp>
      <p:sp>
        <p:nvSpPr>
          <p:cNvPr id="10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1 제목 자리</a:t>
            </a:r>
            <a:endParaRPr lang="ko-KR" sz="1500" dirty="0"/>
          </a:p>
        </p:txBody>
      </p:sp>
      <p:sp>
        <p:nvSpPr>
          <p:cNvPr id="11" name="Shape 4"/>
          <p:cNvSpPr/>
          <p:nvPr/>
        </p:nvSpPr>
        <p:spPr>
          <a:xfrm>
            <a:off x="762000" y="25654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2" name="Text 5"/>
          <p:cNvSpPr txBox="1"/>
          <p:nvPr/>
        </p:nvSpPr>
        <p:spPr>
          <a:xfrm>
            <a:off x="762000" y="27432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ko-KR" sz="1100" dirty="0"/>
          </a:p>
        </p:txBody>
      </p:sp>
      <p:sp>
        <p:nvSpPr>
          <p:cNvPr id="13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2 제목 자리</a:t>
            </a:r>
            <a:endParaRPr lang="ko-KR" sz="1500" dirty="0"/>
          </a:p>
        </p:txBody>
      </p:sp>
      <p:sp>
        <p:nvSpPr>
          <p:cNvPr id="14" name="Shape 6"/>
          <p:cNvSpPr/>
          <p:nvPr/>
        </p:nvSpPr>
        <p:spPr>
          <a:xfrm>
            <a:off x="762000" y="30924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5" name="Text 7"/>
          <p:cNvSpPr txBox="1"/>
          <p:nvPr/>
        </p:nvSpPr>
        <p:spPr>
          <a:xfrm>
            <a:off x="762000" y="32702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ko-KR" sz="1100" dirty="0"/>
          </a:p>
        </p:txBody>
      </p:sp>
      <p:sp>
        <p:nvSpPr>
          <p:cNvPr id="16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3 제목 자리</a:t>
            </a:r>
            <a:endParaRPr lang="ko-KR" sz="1500" dirty="0"/>
          </a:p>
        </p:txBody>
      </p:sp>
      <p:sp>
        <p:nvSpPr>
          <p:cNvPr id="17" name="Shape 8"/>
          <p:cNvSpPr/>
          <p:nvPr/>
        </p:nvSpPr>
        <p:spPr>
          <a:xfrm>
            <a:off x="762000" y="36195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8" name="Text 9"/>
          <p:cNvSpPr txBox="1"/>
          <p:nvPr/>
        </p:nvSpPr>
        <p:spPr>
          <a:xfrm>
            <a:off x="762000" y="379730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ko-KR" sz="1100" dirty="0"/>
          </a:p>
        </p:txBody>
      </p:sp>
      <p:sp>
        <p:nvSpPr>
          <p:cNvPr id="19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4 제목 자리</a:t>
            </a:r>
            <a:endParaRPr lang="ko-KR" sz="1500" dirty="0"/>
          </a:p>
        </p:txBody>
      </p:sp>
      <p:sp>
        <p:nvSpPr>
          <p:cNvPr id="20" name="Shape 10"/>
          <p:cNvSpPr/>
          <p:nvPr/>
        </p:nvSpPr>
        <p:spPr>
          <a:xfrm>
            <a:off x="762000" y="414655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11"/>
          <p:cNvSpPr txBox="1"/>
          <p:nvPr/>
        </p:nvSpPr>
        <p:spPr>
          <a:xfrm>
            <a:off x="762000" y="4324350"/>
            <a:ext cx="406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ko-KR" sz="1100" dirty="0"/>
          </a:p>
        </p:txBody>
      </p:sp>
      <p:sp>
        <p:nvSpPr>
          <p:cNvPr id="22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30000"/>
              </a:lnSpc>
              <a:buNone/>
              <a:def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 5 제목 자리</a:t>
            </a:r>
            <a:endParaRPr lang="ko-KR" sz="1500" dirty="0"/>
          </a:p>
        </p:txBody>
      </p:sp>
      <p:sp>
        <p:nvSpPr>
          <p:cNvPr id="23" name="Shape 12"/>
          <p:cNvSpPr/>
          <p:nvPr/>
        </p:nvSpPr>
        <p:spPr>
          <a:xfrm>
            <a:off x="762000" y="4673600"/>
            <a:ext cx="61595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4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오른쪽 메모 자리 — 발표 맥락, 소요 시간, 자료 링크</a:t>
            </a:r>
            <a:endParaRPr lang="ko-KR" sz="1200" dirty="0"/>
          </a:p>
        </p:txBody>
      </p:sp>
      <p:sp>
        <p:nvSpPr>
          <p:cNvPr id="25" name="Shape 13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6" name="Text 14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7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BLEED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pic>
        <p:nvPicPr>
          <p:cNvPr id="4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5" name="Text 1"/>
          <p:cNvSpPr/>
          <p:nvPr>
            <p:ph idx="103" type="title" hasCustomPrompt="1"/>
          </p:nvPr>
        </p:nvSpPr>
        <p:spPr>
          <a:xfrm>
            <a:off x="762000" y="5257800"/>
            <a:ext cx="7620000" cy="33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2200" spc="-66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전면 이미지 제목 자리</a:t>
            </a:r>
            <a:endParaRPr lang="ko-KR" sz="22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762000" y="5765800"/>
            <a:ext cx="76200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— 모델, 해상도, 출처</a:t>
            </a:r>
            <a:endParaRPr lang="ko-KR" sz="1200" dirty="0"/>
          </a:p>
        </p:txBody>
      </p:sp>
      <p:sp>
        <p:nvSpPr>
          <p:cNvPr id="7" name="Shape 1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8" name="Text 2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9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PROJECTS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합성 · 시간 일관성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프롬프트·시드, 제안 방법 적용 전후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</a:t>
            </a:r>
            <a:endParaRPr lang="ko-KR" sz="1000" dirty="0"/>
          </a:p>
        </p:txBody>
      </p:sp>
      <p:sp>
        <p:nvSpPr>
          <p:cNvPr id="9" name="Shape 2"/>
          <p:cNvSpPr/>
          <p:nvPr/>
        </p:nvSpPr>
        <p:spPr>
          <a:xfrm>
            <a:off x="7620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8890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결과 (16:10)</a:t>
            </a:r>
            <a:endParaRPr lang="ko-KR" sz="900" dirty="0"/>
          </a:p>
        </p:txBody>
      </p:sp>
      <p:sp>
        <p:nvSpPr>
          <p:cNvPr id="11" name="Text 4"/>
          <p:cNvSpPr/>
          <p:nvPr>
            <p:ph idx="109" hasCustomPrompt="1"/>
          </p:nvPr>
        </p:nvSpPr>
        <p:spPr>
          <a:xfrm>
            <a:off x="7620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2" name="Text 4"/>
          <p:cNvSpPr/>
          <p:nvPr>
            <p:ph idx="110" type="body" hasCustomPrompt="1"/>
          </p:nvPr>
        </p:nvSpPr>
        <p:spPr>
          <a:xfrm>
            <a:off x="7620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172200" y="2038350"/>
            <a:ext cx="52578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ko-KR" sz="1000" dirty="0"/>
          </a:p>
        </p:txBody>
      </p:sp>
      <p:sp>
        <p:nvSpPr>
          <p:cNvPr id="14" name="Shape 4"/>
          <p:cNvSpPr/>
          <p:nvPr/>
        </p:nvSpPr>
        <p:spPr>
          <a:xfrm>
            <a:off x="6172200" y="2292350"/>
            <a:ext cx="5257800" cy="3286125"/>
          </a:xfrm>
          <a:prstGeom prst="rect">
            <a:avLst/>
          </a:prstGeom>
          <a:solidFill>
            <a:srgbClr val="E6E5E0"/>
          </a:solidFill>
          <a:ln w="12700">
            <a:solidFill>
              <a:srgbClr val="E6E5E0"/>
            </a:solidFill>
            <a:prstDash val="solid"/>
          </a:ln>
        </p:spPr>
      </p:sp>
      <p:sp>
        <p:nvSpPr>
          <p:cNvPr id="15" name="Text 5"/>
          <p:cNvSpPr txBox="1"/>
          <p:nvPr/>
        </p:nvSpPr>
        <p:spPr>
          <a:xfrm>
            <a:off x="6299200" y="5273675"/>
            <a:ext cx="50038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9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결과 (16:10)</a:t>
            </a:r>
            <a:endParaRPr lang="ko-KR" sz="900" dirty="0"/>
          </a:p>
        </p:txBody>
      </p:sp>
      <p:sp>
        <p:nvSpPr>
          <p:cNvPr id="16" name="Text 6"/>
          <p:cNvSpPr/>
          <p:nvPr>
            <p:ph idx="114" hasCustomPrompt="1"/>
          </p:nvPr>
        </p:nvSpPr>
        <p:spPr>
          <a:xfrm>
            <a:off x="6172200" y="2292350"/>
            <a:ext cx="5257800" cy="328612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17" name="Text 6"/>
          <p:cNvSpPr/>
          <p:nvPr>
            <p:ph idx="115" type="body" hasCustomPrompt="1"/>
          </p:nvPr>
        </p:nvSpPr>
        <p:spPr>
          <a:xfrm>
            <a:off x="6172200" y="5705475"/>
            <a:ext cx="52578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캡션 한 줄</a:t>
            </a:r>
            <a:endParaRPr lang="ko-KR" sz="1200" dirty="0"/>
          </a:p>
        </p:txBody>
      </p:sp>
      <p:sp>
        <p:nvSpPr>
          <p:cNvPr id="18" name="Shape 6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9" name="Text 7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0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수치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대상 하나, 지표 셋</a:t>
            </a:r>
            <a:endParaRPr lang="ko-KR" sz="1300" dirty="0"/>
          </a:p>
        </p:txBody>
      </p:sp>
      <p:sp>
        <p:nvSpPr>
          <p:cNvPr id="8" name="Shape 2"/>
          <p:cNvSpPr/>
          <p:nvPr/>
        </p:nvSpPr>
        <p:spPr>
          <a:xfrm>
            <a:off x="7620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9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0.92</a:t>
            </a:r>
            <a:endParaRPr lang="ko-KR" sz="7500" dirty="0"/>
          </a:p>
        </p:txBody>
      </p:sp>
      <p:sp>
        <p:nvSpPr>
          <p:cNvPr id="10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FVD ↓</a:t>
            </a:r>
            <a:endParaRPr lang="ko-KR" sz="1000" dirty="0"/>
          </a:p>
        </p:txBody>
      </p:sp>
      <p:sp>
        <p:nvSpPr>
          <p:cNvPr id="11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2" name="Shape 3"/>
          <p:cNvSpPr/>
          <p:nvPr/>
        </p:nvSpPr>
        <p:spPr>
          <a:xfrm>
            <a:off x="43688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−38%</a:t>
            </a:r>
            <a:endParaRPr lang="ko-KR" sz="7500" dirty="0"/>
          </a:p>
        </p:txBody>
      </p:sp>
      <p:sp>
        <p:nvSpPr>
          <p:cNvPr id="14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INFERENCE TIME</a:t>
            </a:r>
            <a:endParaRPr lang="ko-KR" sz="1000" dirty="0"/>
          </a:p>
        </p:txBody>
      </p:sp>
      <p:sp>
        <p:nvSpPr>
          <p:cNvPr id="15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16" name="Shape 4"/>
          <p:cNvSpPr/>
          <p:nvPr/>
        </p:nvSpPr>
        <p:spPr>
          <a:xfrm>
            <a:off x="7975600" y="2292350"/>
            <a:ext cx="3302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7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4×</a:t>
            </a:r>
            <a:endParaRPr lang="ko-KR" sz="7500" dirty="0"/>
          </a:p>
        </p:txBody>
      </p:sp>
      <p:sp>
        <p:nvSpPr>
          <p:cNvPr id="18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THROUGHPUT</a:t>
            </a:r>
            <a:endParaRPr lang="ko-KR" sz="1000" dirty="0"/>
          </a:p>
        </p:txBody>
      </p:sp>
      <p:sp>
        <p:nvSpPr>
          <p:cNvPr id="19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지표 설명 한 줄 — 기준, 데이터셋, 조건.</a:t>
            </a:r>
            <a:endParaRPr lang="ko-KR" sz="1200" dirty="0"/>
          </a:p>
        </p:txBody>
      </p:sp>
      <p:sp>
        <p:nvSpPr>
          <p:cNvPr id="20" name="Shape 5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21" name="Text 6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22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STATEMENT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  KEY IDEA</a:t>
            </a:r>
            <a:endParaRPr lang="ko-KR" sz="1100" dirty="0"/>
          </a:p>
        </p:txBody>
      </p:sp>
      <p:sp>
        <p:nvSpPr>
          <p:cNvPr id="7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Generation,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두 가지 뜻.</a:t>
            </a:r>
            <a:endParaRPr lang="ko-KR" sz="46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모델이 만드는 생성과, 그것을 배우는 세대. 둘 다 이 랩의 일입니다.</a:t>
            </a:r>
            <a:endParaRPr lang="ko-KR" sz="16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bg>
      <p:bgPr>
        <a:solidFill>
          <a:srgbClr val="F4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unner/work/sglab-brand/sglab-brand/dist/png/sgl-mark-light-512@2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355600"/>
            <a:ext cx="254000" cy="254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30300" y="393700"/>
            <a:ext cx="381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 GENERATION LAB</a:t>
            </a:r>
            <a:endParaRPr lang="ko-KR" sz="1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RESULTS</a:t>
            </a:r>
            <a:endParaRPr lang="ko-KR" sz="1000" dirty="0"/>
          </a:p>
        </p:txBody>
      </p:sp>
      <p:sp>
        <p:nvSpPr>
          <p:cNvPr id="5" name="Shape 1"/>
          <p:cNvSpPr/>
          <p:nvPr/>
        </p:nvSpPr>
        <p:spPr>
          <a:xfrm>
            <a:off x="762000" y="7874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5000"/>
              </a:lnSpc>
              <a:buNone/>
              <a:def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정량 비교</a:t>
            </a:r>
            <a:endParaRPr lang="ko-KR" sz="30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표는 룰만 사용 — 셀 채움 없음</a:t>
            </a:r>
            <a:endParaRPr lang="ko-KR" sz="13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50000"/>
              </a:lnSpc>
              <a:buNone/>
              <a:def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 캡션 — 데이터셋, 측정 조건, 굵게 = 최고 성능</a:t>
            </a:r>
            <a:endParaRPr lang="ko-KR" sz="1100" dirty="0"/>
          </a:p>
        </p:txBody>
      </p:sp>
      <p:sp>
        <p:nvSpPr>
          <p:cNvPr id="9" name="Shape 2"/>
          <p:cNvSpPr/>
          <p:nvPr/>
        </p:nvSpPr>
        <p:spPr>
          <a:xfrm>
            <a:off x="762000" y="6197600"/>
            <a:ext cx="10668000" cy="0"/>
          </a:xfrm>
          <a:prstGeom prst="line">
            <a:avLst/>
          </a:prstGeom>
          <a:noFill/>
          <a:ln w="9525">
            <a:solidFill>
              <a:srgbClr val="D9D8D3"/>
            </a:solidFill>
            <a:prstDash val="solid"/>
          </a:ln>
        </p:spPr>
      </p:sp>
      <p:sp>
        <p:nvSpPr>
          <p:cNvPr id="10" name="Text 3"/>
          <p:cNvSpPr txBox="1"/>
          <p:nvPr/>
        </p:nvSpPr>
        <p:spPr>
          <a:xfrm>
            <a:off x="762000" y="63500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컴퓨터공학부 · Smart Generation Lab</a:t>
            </a:r>
            <a:endParaRPr lang="ko-KR" sz="1000" dirty="0"/>
          </a:p>
        </p:txBody>
      </p:sp>
      <p:pic>
        <p:nvPicPr>
          <p:cNvPr id="11" name="Image 1" descr="/home/runner/work/sglab-brand/sglab-brand/dist/png/dot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0" y="6413500"/>
            <a:ext cx="50800" cy="5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3" type="body" hasCustomPrompt="1"/>
          </p:nvPr>
        </p:nvSpPr>
        <p:spPr>
          <a:xfrm>
            <a:off x="7975600" y="736600"/>
            <a:ext cx="3454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200" spc="72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· 09</a:t>
            </a:r>
            <a:endParaRPr lang="ko-KR" sz="12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762000" y="295021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LAB INTRODUCTION</a:t>
            </a:r>
            <a:endParaRPr lang="ko-KR" sz="1100" dirty="0"/>
          </a:p>
        </p:txBody>
      </p:sp>
      <p:sp>
        <p:nvSpPr>
          <p:cNvPr id="4" name="Text 2"/>
          <p:cNvSpPr/>
          <p:nvPr>
            <p:ph idx="106" type="title" hasCustomPrompt="1"/>
          </p:nvPr>
        </p:nvSpPr>
        <p:spPr>
          <a:xfrm>
            <a:off x="762000" y="3439160"/>
            <a:ext cx="6858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것으로.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7" type="body" hasCustomPrompt="1"/>
          </p:nvPr>
        </p:nvSpPr>
        <p:spPr>
          <a:xfrm>
            <a:off x="762000" y="5003800"/>
            <a:ext cx="685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스마트 제너레이션 랩 · 동서대학교 컴퓨터공학부(소프트웨어전공)</a:t>
            </a:r>
            <a:endParaRPr lang="ko-KR" sz="1600" dirty="0"/>
          </a:p>
        </p:txBody>
      </p:sp>
      <p:sp>
        <p:nvSpPr>
          <p:cNvPr id="6" name="Text 3"/>
          <p:cNvSpPr/>
          <p:nvPr>
            <p:ph idx="109" type="body" hasCustomPrompt="1"/>
          </p:nvPr>
        </p:nvSpPr>
        <p:spPr>
          <a:xfrm>
            <a:off x="762000" y="58674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이상걸 교수</a:t>
            </a:r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지도교수 · Principal Investigator</a:t>
            </a:r>
            <a:endParaRPr lang="ko-KR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ABOUT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2286000"/>
            <a:ext cx="3810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100" spc="11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l" indent="0" marL="0">
              <a:buNone/>
            </a:pPr>
            <a:r>
              <a:rPr lang="ko-KR" altLang="en-US" sz="1100" spc="11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WHO WE ARE</a:t>
            </a:r>
            <a:endParaRPr lang="ko-KR" sz="11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762000" y="2774950"/>
            <a:ext cx="8890000" cy="128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보는 것에서</a:t>
            </a:r>
            <a:endParaRPr lang="ko-KR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ko-KR" altLang="en-US" sz="4600" spc="-161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만드는 것으로.</a:t>
            </a:r>
            <a:endParaRPr lang="ko-KR" sz="46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4343400"/>
            <a:ext cx="762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컴퓨터비전으로 세상을 읽고, 생성 모델로 새로 씁니다. 이미지와 영상을 이해하는 모델에서 출발해 그것을 만들어내는 모델까지, 직접 학습시키고 배포하고 가르칩니다.</a:t>
            </a:r>
            <a:endParaRPr lang="ko-KR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컴퓨터비전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연구실의 출발점입니다. 관련 논문 25편.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이미지·영상 분석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객체 인식과 추적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문자 인식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의료 영상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생성 AI 모델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오픈소스 생성 모델을 직접 다루고 고칩니다. 관련 논문 4편.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이미지·영상 생성과 편집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확산 모델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GAN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미디어 합성 파이프라인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RESEARCH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body" hasCustomPrompt="1"/>
          </p:nvPr>
        </p:nvSpPr>
        <p:spPr>
          <a:xfrm>
            <a:off x="762000" y="1905000"/>
            <a:ext cx="25527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ko-KR" altLang="en-US" sz="10000" spc="-50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03</a:t>
            </a:r>
            <a:endParaRPr lang="ko-KR" sz="10000" dirty="0"/>
          </a:p>
        </p:txBody>
      </p:sp>
      <p:sp>
        <p:nvSpPr>
          <p:cNvPr id="4" name="Text 2"/>
          <p:cNvSpPr/>
          <p:nvPr>
            <p:ph idx="105" type="title" hasCustomPrompt="1"/>
          </p:nvPr>
        </p:nvSpPr>
        <p:spPr>
          <a:xfrm>
            <a:off x="4368800" y="2057400"/>
            <a:ext cx="7061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 외</a:t>
            </a:r>
            <a:endParaRPr lang="ko-KR" sz="40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4368800" y="2857500"/>
            <a:ext cx="571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6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언어모델을 텍스트 밖으로 확장합니다. 관련 논문 11편.</a:t>
            </a:r>
            <a:endParaRPr lang="ko-KR" sz="16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43688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3.1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로컬 LLM과 에이전트</a:t>
            </a:r>
            <a:endParaRPr lang="ko-KR" sz="1300" dirty="0"/>
          </a:p>
        </p:txBody>
      </p:sp>
      <p:sp>
        <p:nvSpPr>
          <p:cNvPr id="7" name="Text 4"/>
          <p:cNvSpPr/>
          <p:nvPr>
            <p:ph idx="110" type="body" hasCustomPrompt="1"/>
          </p:nvPr>
        </p:nvSpPr>
        <p:spPr>
          <a:xfrm>
            <a:off x="8026400" y="365760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3.2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강화학습 응용</a:t>
            </a:r>
            <a:endParaRPr lang="ko-KR" sz="1300" dirty="0"/>
          </a:p>
        </p:txBody>
      </p:sp>
      <p:sp>
        <p:nvSpPr>
          <p:cNvPr id="8" name="Text 5"/>
          <p:cNvSpPr/>
          <p:nvPr>
            <p:ph idx="112" type="body" hasCustomPrompt="1"/>
          </p:nvPr>
        </p:nvSpPr>
        <p:spPr>
          <a:xfrm>
            <a:off x="43688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3.3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신호처리</a:t>
            </a:r>
            <a:endParaRPr lang="ko-KR" sz="1300" dirty="0"/>
          </a:p>
        </p:txBody>
      </p:sp>
      <p:sp>
        <p:nvSpPr>
          <p:cNvPr id="9" name="Text 7"/>
          <p:cNvSpPr/>
          <p:nvPr>
            <p:ph idx="115" type="body" hasCustomPrompt="1"/>
          </p:nvPr>
        </p:nvSpPr>
        <p:spPr>
          <a:xfrm>
            <a:off x="8026400" y="4184650"/>
            <a:ext cx="3403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3.4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AI 교육</a:t>
            </a:r>
            <a:endParaRPr lang="ko-KR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PROJECTS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연구 과제 · 시스템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중인 R&amp;D 과제와 연구실이 직접 구축한 시스템</a:t>
            </a:r>
            <a:endParaRPr lang="ko-KR" sz="1300" dirty="0"/>
          </a:p>
        </p:txBody>
      </p:sp>
      <p:sp>
        <p:nvSpPr>
          <p:cNvPr id="5" name="Text 2"/>
          <p:cNvSpPr/>
          <p:nvPr>
            <p:ph idx="106" type="body" hasCustomPrompt="1"/>
          </p:nvPr>
        </p:nvSpPr>
        <p:spPr>
          <a:xfrm>
            <a:off x="762000" y="5784850"/>
            <a:ext cx="10668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1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연구 결과 9건은 논문 목록 참조 · https://smartgenerationlab.github.io/projects.html</a:t>
            </a:r>
            <a:endParaRPr lang="ko-KR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038350"/>
          <a:ext cx="106680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2552700"/>
                <a:gridCol w="1200150"/>
                <a:gridCol w="120015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과제 · 시스템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기간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000" spc="100" kern="0" dirty="0">
                          <a:solidFill>
                            <a:srgbClr val="6B6B7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상태</a:t>
                      </a:r>
                      <a:endParaRPr lang="ko-KR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문화콘텐츠 제작 기술 혁신을 위한 생성 AI 모델 성능 향상</a:t>
                      </a:r>
                      <a:endParaRPr lang="ko-KR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가상융합기술연구원 R&amp;D 기획발굴 과제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 –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콘텐츠 제작 공정을 위한 생성 AI 기술 개발</a:t>
                      </a:r>
                      <a:endParaRPr lang="ko-KR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산학공동기술개발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로컬 LLM 멀티 에이전트 시스템</a:t>
                      </a:r>
                      <a:endParaRPr lang="ko-KR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연구실 자체 과제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ComfyUI 콘텐츠 생성 파이프라인</a:t>
                      </a:r>
                      <a:endParaRPr lang="ko-KR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연구실 자체 과제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 –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진행 중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111113"/>
                          </a:solidFill>
                          <a:latin typeface="Pretendard SemiBold" pitchFamily="34" charset="0"/>
                          <a:ea typeface="Pretendard SemiBold" pitchFamily="34" charset="-122"/>
                          <a:cs typeface="Pretendard SemiBold" pitchFamily="34" charset="-120"/>
                        </a:rPr>
                        <a:t>연구실 AI 서버 구축</a:t>
                      </a:r>
                      <a:endParaRPr lang="ko-KR" sz="1200" dirty="0">
                        <a:latin typeface="Pretendard SemiBold" charset="0"/>
                        <a:ea typeface="Pretendard SemiBold" charset="0"/>
                        <a:cs typeface="Pretendard SemiBol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연구실 자체 과제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altLang="en-US" sz="1200" dirty="0">
                          <a:solidFill>
                            <a:srgbClr val="2E2E33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완료</a:t>
                      </a:r>
                      <a:endParaRPr lang="ko-KR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0" marR="0" marT="73152" marB="73152" anchor="ctr">
                    <a:lnL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8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0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PUBLICATIONS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논문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2003년부터 2026년까지 · Google Scholar</a:t>
            </a:r>
            <a:endParaRPr lang="ko-KR" sz="1300" dirty="0"/>
          </a:p>
        </p:txBody>
      </p:sp>
      <p:sp>
        <p:nvSpPr>
          <p:cNvPr id="5" name="Text 3"/>
          <p:cNvSpPr/>
          <p:nvPr>
            <p:ph idx="107" type="body" hasCustomPrompt="1"/>
          </p:nvPr>
        </p:nvSpPr>
        <p:spPr>
          <a:xfrm>
            <a:off x="7620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40</a:t>
            </a:r>
            <a:endParaRPr lang="ko-KR" sz="7500" dirty="0"/>
          </a:p>
        </p:txBody>
      </p:sp>
      <p:sp>
        <p:nvSpPr>
          <p:cNvPr id="6" name="Text 3"/>
          <p:cNvSpPr/>
          <p:nvPr>
            <p:ph idx="108" type="body" hasCustomPrompt="1"/>
          </p:nvPr>
        </p:nvSpPr>
        <p:spPr>
          <a:xfrm>
            <a:off x="7620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PUBLICATIONS</a:t>
            </a:r>
            <a:endParaRPr lang="ko-KR" sz="1000" dirty="0"/>
          </a:p>
        </p:txBody>
      </p:sp>
      <p:sp>
        <p:nvSpPr>
          <p:cNvPr id="7" name="Text 3"/>
          <p:cNvSpPr/>
          <p:nvPr>
            <p:ph idx="109" type="body" hasCustomPrompt="1"/>
          </p:nvPr>
        </p:nvSpPr>
        <p:spPr>
          <a:xfrm>
            <a:off x="7620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학술지·학술대회 전체</a:t>
            </a:r>
            <a:endParaRPr lang="ko-KR" sz="1200" dirty="0"/>
          </a:p>
        </p:txBody>
      </p:sp>
      <p:sp>
        <p:nvSpPr>
          <p:cNvPr id="8" name="Text 4"/>
          <p:cNvSpPr/>
          <p:nvPr>
            <p:ph idx="111" type="body" hasCustomPrompt="1"/>
          </p:nvPr>
        </p:nvSpPr>
        <p:spPr>
          <a:xfrm>
            <a:off x="43688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26</a:t>
            </a:r>
            <a:endParaRPr lang="ko-KR" sz="7500" dirty="0"/>
          </a:p>
        </p:txBody>
      </p:sp>
      <p:sp>
        <p:nvSpPr>
          <p:cNvPr id="9" name="Text 4"/>
          <p:cNvSpPr/>
          <p:nvPr>
            <p:ph idx="112" type="body" hasCustomPrompt="1"/>
          </p:nvPr>
        </p:nvSpPr>
        <p:spPr>
          <a:xfrm>
            <a:off x="43688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JOURNAL</a:t>
            </a:r>
            <a:endParaRPr lang="ko-KR" sz="1000" dirty="0"/>
          </a:p>
        </p:txBody>
      </p:sp>
      <p:sp>
        <p:nvSpPr>
          <p:cNvPr id="10" name="Text 4"/>
          <p:cNvSpPr/>
          <p:nvPr>
            <p:ph idx="113" type="body" hasCustomPrompt="1"/>
          </p:nvPr>
        </p:nvSpPr>
        <p:spPr>
          <a:xfrm>
            <a:off x="43688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학술지 논문</a:t>
            </a:r>
            <a:endParaRPr lang="ko-KR" sz="1200" dirty="0"/>
          </a:p>
        </p:txBody>
      </p:sp>
      <p:sp>
        <p:nvSpPr>
          <p:cNvPr id="11" name="Text 5"/>
          <p:cNvSpPr/>
          <p:nvPr>
            <p:ph idx="115" type="body" hasCustomPrompt="1"/>
          </p:nvPr>
        </p:nvSpPr>
        <p:spPr>
          <a:xfrm>
            <a:off x="7975600" y="2495550"/>
            <a:ext cx="330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7500" spc="-375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10</a:t>
            </a:r>
            <a:endParaRPr lang="ko-KR" sz="7500" dirty="0"/>
          </a:p>
        </p:txBody>
      </p:sp>
      <p:sp>
        <p:nvSpPr>
          <p:cNvPr id="12" name="Text 5"/>
          <p:cNvSpPr/>
          <p:nvPr>
            <p:ph idx="116" type="body" hasCustomPrompt="1"/>
          </p:nvPr>
        </p:nvSpPr>
        <p:spPr>
          <a:xfrm>
            <a:off x="7975600" y="3600450"/>
            <a:ext cx="3302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SINCE 2024</a:t>
            </a:r>
            <a:endParaRPr lang="ko-KR" sz="1000" dirty="0"/>
          </a:p>
        </p:txBody>
      </p:sp>
      <p:sp>
        <p:nvSpPr>
          <p:cNvPr id="13" name="Text 5"/>
          <p:cNvSpPr/>
          <p:nvPr>
            <p:ph idx="117" type="body" hasCustomPrompt="1"/>
          </p:nvPr>
        </p:nvSpPr>
        <p:spPr>
          <a:xfrm>
            <a:off x="7975600" y="387985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생성 AI · LLM · 에이전트 (2024–)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ACTIVITIES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최근 활동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학술 · 교육 · 연구실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1780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홈페이지 개편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2026.09 · 연구실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7051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ISPACS 2026 Web Chair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2026.08 · 학술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2321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SG Lab 브랜드 확정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2026.07 · 연구실</a:t>
            </a:r>
            <a:endParaRPr lang="ko-KR" sz="1500" dirty="0"/>
          </a:p>
        </p:txBody>
      </p:sp>
      <p:sp>
        <p:nvSpPr>
          <p:cNvPr id="8" name="Text 10"/>
          <p:cNvSpPr/>
          <p:nvPr>
            <p:ph idx="117" type="body" hasCustomPrompt="1"/>
          </p:nvPr>
        </p:nvSpPr>
        <p:spPr>
          <a:xfrm>
            <a:off x="1295400" y="375920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교직원 대상 생성형 AI 활용 특강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2026.06 · 교육</a:t>
            </a:r>
            <a:endParaRPr lang="ko-KR" sz="1500" dirty="0"/>
          </a:p>
        </p:txBody>
      </p:sp>
      <p:sp>
        <p:nvSpPr>
          <p:cNvPr id="9" name="Text 12"/>
          <p:cNvSpPr/>
          <p:nvPr>
            <p:ph idx="120" type="body" hasCustomPrompt="1"/>
          </p:nvPr>
        </p:nvSpPr>
        <p:spPr>
          <a:xfrm>
            <a:off x="1295400" y="4286250"/>
            <a:ext cx="5626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ko-KR" altLang="en-US" sz="15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컴퓨터비전시스템설계 · 소프트웨어스튜디오1 · 고급프로그래밍</a:t>
            </a:r>
            <a:pPr algn="l" indent="0" marL="0">
              <a:lnSpc>
                <a:spcPct val="13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2026.03 · 교육</a:t>
            </a:r>
            <a:endParaRPr lang="ko-KR" sz="1500" dirty="0"/>
          </a:p>
        </p:txBody>
      </p:sp>
      <p:sp>
        <p:nvSpPr>
          <p:cNvPr id="10" name="Text 13"/>
          <p:cNvSpPr/>
          <p:nvPr>
            <p:ph idx="122" type="body" hasCustomPrompt="1"/>
          </p:nvPr>
        </p:nvSpPr>
        <p:spPr>
          <a:xfrm>
            <a:off x="7975600" y="2178050"/>
            <a:ext cx="3454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활동 11건</a:t>
            </a:r>
            <a:endParaRPr lang="ko-KR" sz="12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https://smartgenerationlab.github.io/activities.html</a:t>
            </a:r>
            <a:endParaRPr lang="ko-KR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PEOPLE</a:t>
            </a:r>
            <a:endParaRPr lang="ko-KR" sz="1000" dirty="0"/>
          </a:p>
        </p:txBody>
      </p:sp>
      <p:sp>
        <p:nvSpPr>
          <p:cNvPr id="3" name="Text 2"/>
          <p:cNvSpPr/>
          <p:nvPr>
            <p:ph idx="104" type="title" hasCustomPrompt="1"/>
          </p:nvPr>
        </p:nvSpPr>
        <p:spPr>
          <a:xfrm>
            <a:off x="762000" y="1193800"/>
            <a:ext cx="70612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15000"/>
              </a:lnSpc>
              <a:buNone/>
            </a:pPr>
            <a:r>
              <a:rPr lang="ko-KR" altLang="en-US" sz="3000" spc="-9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이상걸 교수</a:t>
            </a:r>
            <a:endParaRPr lang="ko-KR" sz="3000" dirty="0"/>
          </a:p>
        </p:txBody>
      </p:sp>
      <p:sp>
        <p:nvSpPr>
          <p:cNvPr id="4" name="Text 2"/>
          <p:cNvSpPr/>
          <p:nvPr>
            <p:ph idx="105" type="body" hasCustomPrompt="1"/>
          </p:nvPr>
        </p:nvSpPr>
        <p:spPr>
          <a:xfrm>
            <a:off x="7975600" y="939800"/>
            <a:ext cx="3454400" cy="65405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3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Sang-Geol Lee, Ph.D. · 지도교수</a:t>
            </a:r>
            <a:endParaRPr lang="ko-KR" sz="1300" dirty="0"/>
          </a:p>
        </p:txBody>
      </p:sp>
      <p:sp>
        <p:nvSpPr>
          <p:cNvPr id="5" name="Text 4"/>
          <p:cNvSpPr/>
          <p:nvPr>
            <p:ph idx="108" type="body" hasCustomPrompt="1"/>
          </p:nvPr>
        </p:nvSpPr>
        <p:spPr>
          <a:xfrm>
            <a:off x="1295400" y="22161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학력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부산대 전기전자컴퓨터공학과 공학박사 · 부산대 컴퓨터공학과 공학석사 · 부산대 정보컴퓨터공학부 공학사</a:t>
            </a:r>
            <a:endParaRPr lang="ko-KR" sz="1500" dirty="0"/>
          </a:p>
        </p:txBody>
      </p:sp>
      <p:sp>
        <p:nvSpPr>
          <p:cNvPr id="6" name="Text 6"/>
          <p:cNvSpPr/>
          <p:nvPr>
            <p:ph idx="111" type="body" hasCustomPrompt="1"/>
          </p:nvPr>
        </p:nvSpPr>
        <p:spPr>
          <a:xfrm>
            <a:off x="1295400" y="285750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경력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(현) 동서대학교 소프트웨어학과 부교수 · (전) 동국대학교 WE-UP 사업단 연구초빙교수 · (전) 부산대 BK21+ 사업단 연수연구원</a:t>
            </a:r>
            <a:endParaRPr lang="ko-KR" sz="1500" dirty="0"/>
          </a:p>
        </p:txBody>
      </p:sp>
      <p:sp>
        <p:nvSpPr>
          <p:cNvPr id="7" name="Text 8"/>
          <p:cNvSpPr/>
          <p:nvPr>
            <p:ph idx="114" type="body" hasCustomPrompt="1"/>
          </p:nvPr>
        </p:nvSpPr>
        <p:spPr>
          <a:xfrm>
            <a:off x="1295400" y="3498850"/>
            <a:ext cx="472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20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관심</a:t>
            </a:r>
            <a:pPr algn="l" indent="0" marL="0">
              <a:lnSpc>
                <a:spcPct val="150000"/>
              </a:lnSpc>
              <a:buNone/>
            </a:pPr>
            <a:r>
              <a:rPr lang="ko-KR" altLang="en-US" sz="10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관심 분야는 딥러닝, 기계학습, 신경망, 컴퓨터 비전, 이미지 처리.</a:t>
            </a:r>
            <a:endParaRPr lang="ko-KR" sz="1500" dirty="0"/>
          </a:p>
        </p:txBody>
      </p:sp>
      <p:pic>
        <p:nvPicPr>
          <p:cNvPr id="8" name="Image 0" descr="/home/runner/work/sglab-brand/sglab-brand/web/images/lee-sang-geo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0975" y="2038350"/>
            <a:ext cx="2000250" cy="2667000"/>
          </a:xfrm>
          <a:prstGeom prst="rect">
            <a:avLst/>
          </a:prstGeom>
        </p:spPr>
      </p:pic>
      <p:sp>
        <p:nvSpPr>
          <p:cNvPr id="9" name="Text 11"/>
          <p:cNvSpPr/>
          <p:nvPr>
            <p:ph idx="118" hasCustomPrompt="1"/>
          </p:nvPr>
        </p:nvSpPr>
        <p:spPr>
          <a:xfrm>
            <a:off x="6172200" y="2038350"/>
            <a:ext cx="5257800" cy="2667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9000" y="6350000"/>
            <a:ext cx="381000" cy="177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73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7975600" y="393700"/>
            <a:ext cx="34544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ko-KR" altLang="en-US" sz="1000" spc="100" kern="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JOIN US</a:t>
            </a:r>
            <a:endParaRPr lang="ko-KR" sz="1000" dirty="0"/>
          </a:p>
        </p:txBody>
      </p:sp>
      <p:sp>
        <p:nvSpPr>
          <p:cNvPr id="3" name="Text 2"/>
          <p:cNvSpPr/>
          <p:nvPr>
            <p:ph idx="105" type="title" hasCustomPrompt="1"/>
          </p:nvPr>
        </p:nvSpPr>
        <p:spPr>
          <a:xfrm>
            <a:off x="762000" y="4470400"/>
            <a:ext cx="6159500" cy="1136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함께 만들 사람을 </a:t>
            </a:r>
            <a:endParaRPr lang="ko-KR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ko-KR" altLang="en-US" sz="4000" spc="-140" kern="0" dirty="0">
                <a:solidFill>
                  <a:srgbClr val="11111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찾습니다.</a:t>
            </a:r>
            <a:endParaRPr lang="ko-KR" sz="40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762000" y="5810250"/>
            <a:ext cx="6159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ko-KR" altLang="en-US" sz="1500" dirty="0">
                <a:solidFill>
                  <a:srgbClr val="6B6B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학부연구생 · 대학원 (석사·박사) · 산학 협력 · 공동 연구 — 대학원·학부연구생 지원, 산학 협력, 공동 연구 제안 모두 이메일로 받습니다.</a:t>
            </a:r>
            <a:endParaRPr lang="ko-KR" sz="1500" dirty="0"/>
          </a:p>
        </p:txBody>
      </p:sp>
      <p:sp>
        <p:nvSpPr>
          <p:cNvPr id="5" name="Text 4"/>
          <p:cNvSpPr/>
          <p:nvPr>
            <p:ph idx="109" type="body" hasCustomPrompt="1"/>
          </p:nvPr>
        </p:nvSpPr>
        <p:spPr>
          <a:xfrm>
            <a:off x="8864600" y="51562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A8863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leesg@dongseo.ac.kr</a:t>
            </a:r>
            <a:endParaRPr lang="ko-KR" sz="1300" dirty="0"/>
          </a:p>
        </p:txBody>
      </p:sp>
      <p:sp>
        <p:nvSpPr>
          <p:cNvPr id="6" name="Text 5"/>
          <p:cNvSpPr/>
          <p:nvPr>
            <p:ph idx="111" type="body" hasCustomPrompt="1"/>
          </p:nvPr>
        </p:nvSpPr>
        <p:spPr>
          <a:xfrm>
            <a:off x="8864600" y="55118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smartgenerationlab.github.io</a:t>
            </a:r>
            <a:endParaRPr lang="ko-KR" sz="1300" dirty="0"/>
          </a:p>
        </p:txBody>
      </p:sp>
      <p:sp>
        <p:nvSpPr>
          <p:cNvPr id="7" name="Text 6"/>
          <p:cNvSpPr/>
          <p:nvPr>
            <p:ph idx="113" type="body" hasCustomPrompt="1"/>
          </p:nvPr>
        </p:nvSpPr>
        <p:spPr>
          <a:xfrm>
            <a:off x="8864600" y="5867400"/>
            <a:ext cx="256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ko-KR" altLang="en-US" sz="1300" dirty="0">
                <a:solidFill>
                  <a:srgbClr val="2E2E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동서대학교 뉴밀레니엄관 903호</a:t>
            </a:r>
            <a:endParaRPr lang="ko-KR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동서대학교 컴퓨터공학부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Generation Lab — 연구실 소개</dc:title>
  <dc:subject>PptxGenJS Presentation</dc:subject>
  <dc:creator>Smart Generation Lab</dc:creator>
  <cp:lastModifiedBy>Smart Generation Lab</cp:lastModifiedBy>
  <cp:revision>1</cp:revision>
  <dcterms:created xsi:type="dcterms:W3CDTF">2026-09-14T00:16:26Z</dcterms:created>
  <dcterms:modified xsi:type="dcterms:W3CDTF">2026-09-14T00:16:26Z</dcterms:modified>
</cp:coreProperties>
</file>