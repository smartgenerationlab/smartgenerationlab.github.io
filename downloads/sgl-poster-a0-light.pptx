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6000" cy="42804000"/>
  <p:notesSz cx="42804000" cy="30276000"/>
  <p:embeddedFontLst>
    <p:embeddedFont>
      <p:font typeface="Pretendard" panose="02000503000000020004" pitchFamily="34" charset="0"/>
      <p:regular r:id="rIdFont1"/>
      <p:bold r:id="rIdFont2"/>
    </p:embeddedFont>
    <p:embeddedFont>
      <p:font typeface="Pretendard SemiBold" panose="02000703000000020004" pitchFamily="34" charset="0"/>
      <p:regular r:id="rIdFont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Relationship Id="rIdFont3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1.png"/><Relationship Id="rId4" Type="http://schemas.openxmlformats.org/officeDocument/2006/relationships/image" Target="../media/image-1002-4.pn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000" y="1440000"/>
            <a:ext cx="864000" cy="86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592000" y="1620000"/>
            <a:ext cx="14400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 · 동서대학교 컴퓨터공학부</a:t>
            </a:r>
            <a:endParaRPr lang="ko-KR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20088000" y="1620000"/>
            <a:ext cx="8748000" cy="43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2400" spc="24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2400" spc="24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CONFERENCE 2026 · POSTER 00</a:t>
            </a:r>
            <a:endParaRPr lang="ko-KR" sz="2400" dirty="0"/>
          </a:p>
        </p:txBody>
      </p:sp>
      <p:sp>
        <p:nvSpPr>
          <p:cNvPr id="5" name="Shape 1"/>
          <p:cNvSpPr/>
          <p:nvPr/>
        </p:nvSpPr>
        <p:spPr>
          <a:xfrm>
            <a:off x="1440000" y="2880000"/>
            <a:ext cx="27396000" cy="0"/>
          </a:xfrm>
          <a:prstGeom prst="line">
            <a:avLst/>
          </a:prstGeom>
          <a:noFill/>
          <a:ln w="19050">
            <a:solidFill>
              <a:srgbClr val="D9D8D3"/>
            </a:solidFill>
            <a:prstDash val="solid"/>
          </a:ln>
        </p:spPr>
      </p:sp>
      <p:pic>
        <p:nvPicPr>
          <p:cNvPr id="6" name="Image 1" descr="/home/runner/work/sglab-brand/sglab-brand/dist/png/poster-field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9379" y="2213379"/>
            <a:ext cx="6445241" cy="6445241"/>
          </a:xfrm>
          <a:prstGeom prst="rect">
            <a:avLst/>
          </a:prstGeom>
        </p:spPr>
      </p:pic>
      <p:sp>
        <p:nvSpPr>
          <p:cNvPr id="7" name="Text 2"/>
          <p:cNvSpPr/>
          <p:nvPr>
            <p:ph idx="105" type="title" hasCustomPrompt="1"/>
          </p:nvPr>
        </p:nvSpPr>
        <p:spPr>
          <a:xfrm>
            <a:off x="1440000" y="3456000"/>
            <a:ext cx="18072000" cy="237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8000"/>
              </a:lnSpc>
              <a:buNone/>
              <a:defRPr lang="ko-KR" altLang="en-US" sz="8800" spc="-264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08000"/>
              </a:lnSpc>
              <a:buNone/>
            </a:pPr>
            <a:r>
              <a:rPr lang="ko-KR" altLang="en-US" sz="8800" spc="-264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포스터 제목 자리: 확산 모델의</a:t>
            </a:r>
            <a:endParaRPr lang="ko-KR" sz="88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ko-KR" altLang="en-US" sz="8800" spc="-264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시간 일관성을 위한 방법</a:t>
            </a:r>
            <a:endParaRPr lang="ko-KR" sz="88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1440000" y="6408000"/>
            <a:ext cx="18072000" cy="57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ko-KR" altLang="en-US" sz="3600" dirty="0">
                <a:solidFill>
                  <a:srgbClr val="1111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ko-KR" altLang="en-US" sz="3600" dirty="0">
                <a:solidFill>
                  <a:srgbClr val="1111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저자 이름¹, 저자 이름¹, 이상걸¹*</a:t>
            </a:r>
            <a:endParaRPr lang="ko-KR" sz="3600" dirty="0"/>
          </a:p>
        </p:txBody>
      </p:sp>
      <p:sp>
        <p:nvSpPr>
          <p:cNvPr id="9" name="Text 2"/>
          <p:cNvSpPr/>
          <p:nvPr>
            <p:ph idx="107" type="body" hasCustomPrompt="1"/>
          </p:nvPr>
        </p:nvSpPr>
        <p:spPr>
          <a:xfrm>
            <a:off x="1440000" y="7200000"/>
            <a:ext cx="18072000" cy="79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2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2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¹ 동서대학교 컴퓨터공학부(소프트웨어전공)   * 교신저자: 이메일 주소 자리</a:t>
            </a:r>
            <a:endParaRPr lang="ko-KR" sz="2600" dirty="0"/>
          </a:p>
        </p:txBody>
      </p:sp>
      <p:sp>
        <p:nvSpPr>
          <p:cNvPr id="10" name="Shape 2"/>
          <p:cNvSpPr/>
          <p:nvPr/>
        </p:nvSpPr>
        <p:spPr>
          <a:xfrm>
            <a:off x="1440000" y="8208000"/>
            <a:ext cx="27396000" cy="0"/>
          </a:xfrm>
          <a:prstGeom prst="line">
            <a:avLst/>
          </a:prstGeom>
          <a:noFill/>
          <a:ln w="19050">
            <a:solidFill>
              <a:srgbClr val="111113"/>
            </a:solidFill>
            <a:prstDash val="solid"/>
          </a:ln>
        </p:spPr>
      </p:sp>
      <p:sp>
        <p:nvSpPr>
          <p:cNvPr id="11" name="Shape 3"/>
          <p:cNvSpPr/>
          <p:nvPr/>
        </p:nvSpPr>
        <p:spPr>
          <a:xfrm>
            <a:off x="1440000" y="8640000"/>
            <a:ext cx="8748000" cy="0"/>
          </a:xfrm>
          <a:prstGeom prst="line">
            <a:avLst/>
          </a:prstGeom>
          <a:noFill/>
          <a:ln w="19050">
            <a:solidFill>
              <a:srgbClr val="111113"/>
            </a:solidFill>
            <a:prstDash val="solid"/>
          </a:ln>
        </p:spPr>
      </p:sp>
      <p:sp>
        <p:nvSpPr>
          <p:cNvPr id="12" name="Text 4"/>
          <p:cNvSpPr/>
          <p:nvPr>
            <p:ph idx="110" type="body" hasCustomPrompt="1"/>
          </p:nvPr>
        </p:nvSpPr>
        <p:spPr>
          <a:xfrm>
            <a:off x="1440000" y="8856000"/>
            <a:ext cx="8748000" cy="36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400" spc="24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INTRODUCTION</a:t>
            </a:r>
            <a:endParaRPr lang="ko-KR" sz="2400" dirty="0"/>
          </a:p>
        </p:txBody>
      </p:sp>
      <p:sp>
        <p:nvSpPr>
          <p:cNvPr id="13" name="Text 4"/>
          <p:cNvSpPr/>
          <p:nvPr>
            <p:ph idx="111" type="body" hasCustomPrompt="1"/>
          </p:nvPr>
        </p:nvSpPr>
        <p:spPr>
          <a:xfrm>
            <a:off x="1440000" y="9252000"/>
            <a:ext cx="8748000" cy="79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2000"/>
              </a:lnSpc>
              <a:buNone/>
              <a:defRPr lang="ko-KR" altLang="en-US" sz="4800" spc="-96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2000"/>
              </a:lnSpc>
              <a:buNone/>
            </a:pPr>
            <a:r>
              <a:rPr lang="ko-KR" altLang="en-US" sz="4800" spc="-96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배경과 문제</a:t>
            </a:r>
            <a:endParaRPr lang="ko-KR" sz="4800" dirty="0"/>
          </a:p>
        </p:txBody>
      </p:sp>
      <p:sp>
        <p:nvSpPr>
          <p:cNvPr id="14" name="Text 4"/>
          <p:cNvSpPr/>
          <p:nvPr>
            <p:ph idx="112" type="body" hasCustomPrompt="1"/>
          </p:nvPr>
        </p:nvSpPr>
        <p:spPr>
          <a:xfrm>
            <a:off x="1440000" y="10224000"/>
            <a:ext cx="8748000" cy="612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5000"/>
              </a:lnSpc>
              <a:buNone/>
              <a:defRPr lang="ko-KR" altLang="en-US" sz="28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5000"/>
              </a:lnSpc>
              <a:buNone/>
            </a:pPr>
            <a:r>
              <a:rPr lang="ko-KR" altLang="en-US" sz="28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 — 무엇이 어렵고 왜 중요한지 세 문장. 기존 방법의 한계 한 문장. 이 연구의 기여 한 줄.</a:t>
            </a:r>
            <a:endParaRPr lang="ko-KR" sz="2800" dirty="0"/>
          </a:p>
        </p:txBody>
      </p:sp>
      <p:sp>
        <p:nvSpPr>
          <p:cNvPr id="15" name="Shape 4"/>
          <p:cNvSpPr/>
          <p:nvPr/>
        </p:nvSpPr>
        <p:spPr>
          <a:xfrm>
            <a:off x="1440000" y="16776000"/>
            <a:ext cx="8748000" cy="5472000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6" name="Text 5"/>
          <p:cNvSpPr txBox="1"/>
          <p:nvPr/>
        </p:nvSpPr>
        <p:spPr>
          <a:xfrm>
            <a:off x="1656000" y="21744000"/>
            <a:ext cx="831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1 · 문제 상황 (16:10)</a:t>
            </a:r>
            <a:endParaRPr lang="ko-KR" sz="2200" dirty="0"/>
          </a:p>
        </p:txBody>
      </p:sp>
      <p:sp>
        <p:nvSpPr>
          <p:cNvPr id="17" name="Text 6"/>
          <p:cNvSpPr/>
          <p:nvPr>
            <p:ph idx="115" hasCustomPrompt="1"/>
          </p:nvPr>
        </p:nvSpPr>
        <p:spPr>
          <a:xfrm>
            <a:off x="1440000" y="16776000"/>
            <a:ext cx="8748000" cy="54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18" name="Text 6"/>
          <p:cNvSpPr/>
          <p:nvPr>
            <p:ph idx="116" type="body" hasCustomPrompt="1"/>
          </p:nvPr>
        </p:nvSpPr>
        <p:spPr>
          <a:xfrm>
            <a:off x="1440000" y="22464000"/>
            <a:ext cx="8748000" cy="72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2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2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1. 캡션 한 줄 — 무엇을 보여주는지.</a:t>
            </a:r>
            <a:endParaRPr lang="ko-KR" sz="2200" dirty="0"/>
          </a:p>
        </p:txBody>
      </p:sp>
      <p:sp>
        <p:nvSpPr>
          <p:cNvPr id="19" name="Shape 6"/>
          <p:cNvSpPr/>
          <p:nvPr/>
        </p:nvSpPr>
        <p:spPr>
          <a:xfrm>
            <a:off x="1440000" y="23616000"/>
            <a:ext cx="8748000" cy="0"/>
          </a:xfrm>
          <a:prstGeom prst="line">
            <a:avLst/>
          </a:prstGeom>
          <a:noFill/>
          <a:ln w="19050">
            <a:solidFill>
              <a:srgbClr val="111113"/>
            </a:solidFill>
            <a:prstDash val="solid"/>
          </a:ln>
        </p:spPr>
      </p:sp>
      <p:sp>
        <p:nvSpPr>
          <p:cNvPr id="20" name="Text 7"/>
          <p:cNvSpPr/>
          <p:nvPr>
            <p:ph idx="118" type="body" hasCustomPrompt="1"/>
          </p:nvPr>
        </p:nvSpPr>
        <p:spPr>
          <a:xfrm>
            <a:off x="1440000" y="23832000"/>
            <a:ext cx="8748000" cy="36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400" spc="24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METHOD</a:t>
            </a:r>
            <a:endParaRPr lang="ko-KR" sz="2400" dirty="0"/>
          </a:p>
        </p:txBody>
      </p:sp>
      <p:sp>
        <p:nvSpPr>
          <p:cNvPr id="21" name="Text 7"/>
          <p:cNvSpPr/>
          <p:nvPr>
            <p:ph idx="119" type="body" hasCustomPrompt="1"/>
          </p:nvPr>
        </p:nvSpPr>
        <p:spPr>
          <a:xfrm>
            <a:off x="1440000" y="24228000"/>
            <a:ext cx="8748000" cy="79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2000"/>
              </a:lnSpc>
              <a:buNone/>
              <a:defRPr lang="ko-KR" altLang="en-US" sz="4800" spc="-96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2000"/>
              </a:lnSpc>
              <a:buNone/>
            </a:pPr>
            <a:r>
              <a:rPr lang="ko-KR" altLang="en-US" sz="4800" spc="-96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방법</a:t>
            </a:r>
            <a:endParaRPr lang="ko-KR" sz="4800" dirty="0"/>
          </a:p>
        </p:txBody>
      </p:sp>
      <p:sp>
        <p:nvSpPr>
          <p:cNvPr id="22" name="Text 7"/>
          <p:cNvSpPr/>
          <p:nvPr>
            <p:ph idx="120" type="body" hasCustomPrompt="1"/>
          </p:nvPr>
        </p:nvSpPr>
        <p:spPr>
          <a:xfrm>
            <a:off x="1440000" y="25200000"/>
            <a:ext cx="8748000" cy="540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5000"/>
              </a:lnSpc>
              <a:buNone/>
              <a:defRPr lang="ko-KR" altLang="en-US" sz="28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5000"/>
              </a:lnSpc>
              <a:buNone/>
            </a:pPr>
            <a:r>
              <a:rPr lang="ko-KR" altLang="en-US" sz="28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구조와 학습 설정을 세 문장으로. 핵심 아이디어 하나를 굵게.</a:t>
            </a:r>
            <a:endParaRPr lang="ko-KR" sz="2800" dirty="0"/>
          </a:p>
        </p:txBody>
      </p:sp>
      <p:sp>
        <p:nvSpPr>
          <p:cNvPr id="23" name="Shape 7"/>
          <p:cNvSpPr/>
          <p:nvPr/>
        </p:nvSpPr>
        <p:spPr>
          <a:xfrm>
            <a:off x="1440000" y="31032000"/>
            <a:ext cx="8748000" cy="5472000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24" name="Text 8"/>
          <p:cNvSpPr txBox="1"/>
          <p:nvPr/>
        </p:nvSpPr>
        <p:spPr>
          <a:xfrm>
            <a:off x="1656000" y="36000000"/>
            <a:ext cx="831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2 · 모델 구조 (16:10)</a:t>
            </a:r>
            <a:endParaRPr lang="ko-KR" sz="2200" dirty="0"/>
          </a:p>
        </p:txBody>
      </p:sp>
      <p:sp>
        <p:nvSpPr>
          <p:cNvPr id="25" name="Text 9"/>
          <p:cNvSpPr/>
          <p:nvPr>
            <p:ph idx="123" hasCustomPrompt="1"/>
          </p:nvPr>
        </p:nvSpPr>
        <p:spPr>
          <a:xfrm>
            <a:off x="1440000" y="31032000"/>
            <a:ext cx="8748000" cy="54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26" name="Text 9"/>
          <p:cNvSpPr/>
          <p:nvPr>
            <p:ph idx="124" type="body" hasCustomPrompt="1"/>
          </p:nvPr>
        </p:nvSpPr>
        <p:spPr>
          <a:xfrm>
            <a:off x="1440000" y="36720000"/>
            <a:ext cx="8748000" cy="72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2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2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2. 캡션 한 줄.</a:t>
            </a:r>
            <a:endParaRPr lang="ko-KR" sz="2200" dirty="0"/>
          </a:p>
        </p:txBody>
      </p:sp>
      <p:sp>
        <p:nvSpPr>
          <p:cNvPr id="27" name="Shape 9"/>
          <p:cNvSpPr/>
          <p:nvPr/>
        </p:nvSpPr>
        <p:spPr>
          <a:xfrm>
            <a:off x="10764000" y="8640000"/>
            <a:ext cx="8748000" cy="0"/>
          </a:xfrm>
          <a:prstGeom prst="line">
            <a:avLst/>
          </a:prstGeom>
          <a:noFill/>
          <a:ln w="19050">
            <a:solidFill>
              <a:srgbClr val="111113"/>
            </a:solidFill>
            <a:prstDash val="solid"/>
          </a:ln>
        </p:spPr>
      </p:sp>
      <p:sp>
        <p:nvSpPr>
          <p:cNvPr id="28" name="Text 10"/>
          <p:cNvSpPr/>
          <p:nvPr>
            <p:ph idx="126" type="body" hasCustomPrompt="1"/>
          </p:nvPr>
        </p:nvSpPr>
        <p:spPr>
          <a:xfrm>
            <a:off x="10764000" y="8856000"/>
            <a:ext cx="8748000" cy="36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400" spc="24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RESULTS</a:t>
            </a:r>
            <a:endParaRPr lang="ko-KR" sz="2400" dirty="0"/>
          </a:p>
        </p:txBody>
      </p:sp>
      <p:sp>
        <p:nvSpPr>
          <p:cNvPr id="29" name="Text 10"/>
          <p:cNvSpPr/>
          <p:nvPr>
            <p:ph idx="127" type="body" hasCustomPrompt="1"/>
          </p:nvPr>
        </p:nvSpPr>
        <p:spPr>
          <a:xfrm>
            <a:off x="10764000" y="9252000"/>
            <a:ext cx="8748000" cy="79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2000"/>
              </a:lnSpc>
              <a:buNone/>
              <a:defRPr lang="ko-KR" altLang="en-US" sz="4800" spc="-96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2000"/>
              </a:lnSpc>
              <a:buNone/>
            </a:pPr>
            <a:r>
              <a:rPr lang="ko-KR" altLang="en-US" sz="4800" spc="-96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</a:t>
            </a:r>
            <a:endParaRPr lang="ko-KR" sz="4800" dirty="0"/>
          </a:p>
        </p:txBody>
      </p:sp>
      <p:sp>
        <p:nvSpPr>
          <p:cNvPr id="30" name="Shape 10"/>
          <p:cNvSpPr/>
          <p:nvPr/>
        </p:nvSpPr>
        <p:spPr>
          <a:xfrm>
            <a:off x="10764000" y="10224000"/>
            <a:ext cx="8748000" cy="6552000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31" name="Text 11"/>
          <p:cNvSpPr txBox="1"/>
          <p:nvPr/>
        </p:nvSpPr>
        <p:spPr>
          <a:xfrm>
            <a:off x="10980000" y="16272000"/>
            <a:ext cx="831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3 · 주요 결과 (4:3)</a:t>
            </a:r>
            <a:endParaRPr lang="ko-KR" sz="2200" dirty="0"/>
          </a:p>
        </p:txBody>
      </p:sp>
      <p:sp>
        <p:nvSpPr>
          <p:cNvPr id="32" name="Text 12"/>
          <p:cNvSpPr/>
          <p:nvPr>
            <p:ph idx="130" hasCustomPrompt="1"/>
          </p:nvPr>
        </p:nvSpPr>
        <p:spPr>
          <a:xfrm>
            <a:off x="10764000" y="10224000"/>
            <a:ext cx="8748000" cy="655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3" name="Text 12"/>
          <p:cNvSpPr/>
          <p:nvPr>
            <p:ph idx="131" type="body" hasCustomPrompt="1"/>
          </p:nvPr>
        </p:nvSpPr>
        <p:spPr>
          <a:xfrm>
            <a:off x="10764000" y="16992000"/>
            <a:ext cx="8748000" cy="72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2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2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3. 캡션 한 줄 — 비교 기준, 데이터셋.</a:t>
            </a:r>
            <a:endParaRPr lang="ko-KR" sz="2200" dirty="0"/>
          </a:p>
        </p:txBody>
      </p:sp>
      <p:sp>
        <p:nvSpPr>
          <p:cNvPr id="34" name="Shape 12"/>
          <p:cNvSpPr/>
          <p:nvPr/>
        </p:nvSpPr>
        <p:spPr>
          <a:xfrm>
            <a:off x="10764000" y="18288000"/>
            <a:ext cx="2628000" cy="0"/>
          </a:xfrm>
          <a:prstGeom prst="line">
            <a:avLst/>
          </a:prstGeom>
          <a:noFill/>
          <a:ln w="19050">
            <a:solidFill>
              <a:srgbClr val="D9D8D3"/>
            </a:solidFill>
            <a:prstDash val="solid"/>
          </a:ln>
        </p:spPr>
      </p:sp>
      <p:sp>
        <p:nvSpPr>
          <p:cNvPr id="35" name="Text 13"/>
          <p:cNvSpPr/>
          <p:nvPr>
            <p:ph idx="133" type="body" hasCustomPrompt="1"/>
          </p:nvPr>
        </p:nvSpPr>
        <p:spPr>
          <a:xfrm>
            <a:off x="10764000" y="18576000"/>
            <a:ext cx="2628000" cy="10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ko-KR" altLang="en-US" sz="6600" spc="-264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r>
              <a:rPr lang="ko-KR" altLang="en-US" sz="6600" spc="-264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0.92</a:t>
            </a:r>
            <a:endParaRPr lang="ko-KR" sz="6600" dirty="0"/>
          </a:p>
        </p:txBody>
      </p:sp>
      <p:sp>
        <p:nvSpPr>
          <p:cNvPr id="36" name="Text 13"/>
          <p:cNvSpPr/>
          <p:nvPr>
            <p:ph idx="134" type="body" hasCustomPrompt="1"/>
          </p:nvPr>
        </p:nvSpPr>
        <p:spPr>
          <a:xfrm>
            <a:off x="10764000" y="19656000"/>
            <a:ext cx="2628000" cy="36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000" spc="2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2000" spc="2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FVD ↓</a:t>
            </a:r>
            <a:endParaRPr lang="ko-KR" sz="2000" dirty="0"/>
          </a:p>
        </p:txBody>
      </p:sp>
      <p:sp>
        <p:nvSpPr>
          <p:cNvPr id="37" name="Shape 13"/>
          <p:cNvSpPr/>
          <p:nvPr/>
        </p:nvSpPr>
        <p:spPr>
          <a:xfrm>
            <a:off x="13824000" y="18288000"/>
            <a:ext cx="2628000" cy="0"/>
          </a:xfrm>
          <a:prstGeom prst="line">
            <a:avLst/>
          </a:prstGeom>
          <a:noFill/>
          <a:ln w="19050">
            <a:solidFill>
              <a:srgbClr val="D9D8D3"/>
            </a:solidFill>
            <a:prstDash val="solid"/>
          </a:ln>
        </p:spPr>
      </p:sp>
      <p:sp>
        <p:nvSpPr>
          <p:cNvPr id="38" name="Text 14"/>
          <p:cNvSpPr/>
          <p:nvPr>
            <p:ph idx="136" type="body" hasCustomPrompt="1"/>
          </p:nvPr>
        </p:nvSpPr>
        <p:spPr>
          <a:xfrm>
            <a:off x="13824000" y="18576000"/>
            <a:ext cx="2628000" cy="10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ko-KR" altLang="en-US" sz="6600" spc="-264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r>
              <a:rPr lang="ko-KR" altLang="en-US" sz="6600" spc="-264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−38%</a:t>
            </a:r>
            <a:endParaRPr lang="ko-KR" sz="6600" dirty="0"/>
          </a:p>
        </p:txBody>
      </p:sp>
      <p:sp>
        <p:nvSpPr>
          <p:cNvPr id="39" name="Text 14"/>
          <p:cNvSpPr/>
          <p:nvPr>
            <p:ph idx="137" type="body" hasCustomPrompt="1"/>
          </p:nvPr>
        </p:nvSpPr>
        <p:spPr>
          <a:xfrm>
            <a:off x="13824000" y="19656000"/>
            <a:ext cx="2628000" cy="36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000" spc="2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2000" spc="2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INFERENCE</a:t>
            </a:r>
            <a:endParaRPr lang="ko-KR" sz="2000" dirty="0"/>
          </a:p>
        </p:txBody>
      </p:sp>
      <p:sp>
        <p:nvSpPr>
          <p:cNvPr id="40" name="Shape 14"/>
          <p:cNvSpPr/>
          <p:nvPr/>
        </p:nvSpPr>
        <p:spPr>
          <a:xfrm>
            <a:off x="16884000" y="18288000"/>
            <a:ext cx="2628000" cy="0"/>
          </a:xfrm>
          <a:prstGeom prst="line">
            <a:avLst/>
          </a:prstGeom>
          <a:noFill/>
          <a:ln w="19050">
            <a:solidFill>
              <a:srgbClr val="D9D8D3"/>
            </a:solidFill>
            <a:prstDash val="solid"/>
          </a:ln>
        </p:spPr>
      </p:sp>
      <p:sp>
        <p:nvSpPr>
          <p:cNvPr id="41" name="Text 15"/>
          <p:cNvSpPr/>
          <p:nvPr>
            <p:ph idx="139" type="body" hasCustomPrompt="1"/>
          </p:nvPr>
        </p:nvSpPr>
        <p:spPr>
          <a:xfrm>
            <a:off x="16884000" y="18576000"/>
            <a:ext cx="2628000" cy="10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ko-KR" altLang="en-US" sz="6600" spc="-264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r>
              <a:rPr lang="ko-KR" altLang="en-US" sz="6600" spc="-264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4×</a:t>
            </a:r>
            <a:endParaRPr lang="ko-KR" sz="6600" dirty="0"/>
          </a:p>
        </p:txBody>
      </p:sp>
      <p:sp>
        <p:nvSpPr>
          <p:cNvPr id="42" name="Text 15"/>
          <p:cNvSpPr/>
          <p:nvPr>
            <p:ph idx="140" type="body" hasCustomPrompt="1"/>
          </p:nvPr>
        </p:nvSpPr>
        <p:spPr>
          <a:xfrm>
            <a:off x="16884000" y="19656000"/>
            <a:ext cx="2628000" cy="36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000" spc="2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2000" spc="2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THROUGHPUT</a:t>
            </a:r>
            <a:endParaRPr lang="ko-KR" sz="2000" dirty="0"/>
          </a:p>
        </p:txBody>
      </p:sp>
      <p:sp>
        <p:nvSpPr>
          <p:cNvPr id="43" name="Text 15"/>
          <p:cNvSpPr txBox="1"/>
          <p:nvPr/>
        </p:nvSpPr>
        <p:spPr>
          <a:xfrm>
            <a:off x="10764000" y="20520000"/>
            <a:ext cx="8748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 1. 정량 비교 (굵게 = 최고 성능)</a:t>
            </a:r>
            <a:endParaRPr lang="ko-KR" sz="2200" dirty="0"/>
          </a:p>
        </p:txBody>
      </p:sp>
      <p:sp>
        <p:nvSpPr>
          <p:cNvPr id="44" name="Shape 16"/>
          <p:cNvSpPr/>
          <p:nvPr/>
        </p:nvSpPr>
        <p:spPr>
          <a:xfrm>
            <a:off x="10764000" y="24876000"/>
            <a:ext cx="8748000" cy="6480000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45" name="Text 17"/>
          <p:cNvSpPr txBox="1"/>
          <p:nvPr/>
        </p:nvSpPr>
        <p:spPr>
          <a:xfrm>
            <a:off x="10980000" y="30852000"/>
            <a:ext cx="8316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4 · 정성 비교 (4:3)</a:t>
            </a:r>
            <a:endParaRPr lang="ko-KR" sz="2200" dirty="0"/>
          </a:p>
        </p:txBody>
      </p:sp>
      <p:sp>
        <p:nvSpPr>
          <p:cNvPr id="46" name="Text 18"/>
          <p:cNvSpPr/>
          <p:nvPr>
            <p:ph idx="144" hasCustomPrompt="1"/>
          </p:nvPr>
        </p:nvSpPr>
        <p:spPr>
          <a:xfrm>
            <a:off x="10764000" y="24876000"/>
            <a:ext cx="8748000" cy="648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7" name="Text 18"/>
          <p:cNvSpPr/>
          <p:nvPr>
            <p:ph idx="145" type="body" hasCustomPrompt="1"/>
          </p:nvPr>
        </p:nvSpPr>
        <p:spPr>
          <a:xfrm>
            <a:off x="10764000" y="31572000"/>
            <a:ext cx="8748000" cy="72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2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2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4. 캡션 한 줄.</a:t>
            </a:r>
            <a:endParaRPr lang="ko-KR" sz="2200" dirty="0"/>
          </a:p>
        </p:txBody>
      </p:sp>
      <p:sp>
        <p:nvSpPr>
          <p:cNvPr id="48" name="Shape 18"/>
          <p:cNvSpPr/>
          <p:nvPr/>
        </p:nvSpPr>
        <p:spPr>
          <a:xfrm>
            <a:off x="20088000" y="8640000"/>
            <a:ext cx="8748000" cy="0"/>
          </a:xfrm>
          <a:prstGeom prst="line">
            <a:avLst/>
          </a:prstGeom>
          <a:noFill/>
          <a:ln w="19050">
            <a:solidFill>
              <a:srgbClr val="111113"/>
            </a:solidFill>
            <a:prstDash val="solid"/>
          </a:ln>
        </p:spPr>
      </p:sp>
      <p:sp>
        <p:nvSpPr>
          <p:cNvPr id="49" name="Text 19"/>
          <p:cNvSpPr/>
          <p:nvPr>
            <p:ph idx="147" type="body" hasCustomPrompt="1"/>
          </p:nvPr>
        </p:nvSpPr>
        <p:spPr>
          <a:xfrm>
            <a:off x="20088000" y="8856000"/>
            <a:ext cx="8748000" cy="36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400" spc="24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DISCUSSION</a:t>
            </a:r>
            <a:endParaRPr lang="ko-KR" sz="2400" dirty="0"/>
          </a:p>
        </p:txBody>
      </p:sp>
      <p:sp>
        <p:nvSpPr>
          <p:cNvPr id="50" name="Text 19"/>
          <p:cNvSpPr/>
          <p:nvPr>
            <p:ph idx="148" type="body" hasCustomPrompt="1"/>
          </p:nvPr>
        </p:nvSpPr>
        <p:spPr>
          <a:xfrm>
            <a:off x="20088000" y="9252000"/>
            <a:ext cx="8748000" cy="79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2000"/>
              </a:lnSpc>
              <a:buNone/>
              <a:defRPr lang="ko-KR" altLang="en-US" sz="4800" spc="-96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2000"/>
              </a:lnSpc>
              <a:buNone/>
            </a:pPr>
            <a:r>
              <a:rPr lang="ko-KR" altLang="en-US" sz="4800" spc="-96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분석과 한계</a:t>
            </a:r>
            <a:endParaRPr lang="ko-KR" sz="4800" dirty="0"/>
          </a:p>
        </p:txBody>
      </p:sp>
      <p:sp>
        <p:nvSpPr>
          <p:cNvPr id="51" name="Text 19"/>
          <p:cNvSpPr/>
          <p:nvPr>
            <p:ph idx="149" type="body" hasCustomPrompt="1"/>
          </p:nvPr>
        </p:nvSpPr>
        <p:spPr>
          <a:xfrm>
            <a:off x="20088000" y="10224000"/>
            <a:ext cx="8748000" cy="684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5000"/>
              </a:lnSpc>
              <a:buNone/>
              <a:defRPr lang="ko-KR" altLang="en-US" sz="28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5000"/>
              </a:lnSpc>
              <a:buNone/>
            </a:pPr>
            <a:r>
              <a:rPr lang="ko-KR" altLang="en-US" sz="28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결과가 말하는 것 두 문장. 실패 사례와 한계 두 문장. 다음 단계 한 문장.</a:t>
            </a:r>
            <a:endParaRPr lang="ko-KR" sz="2800" dirty="0"/>
          </a:p>
        </p:txBody>
      </p:sp>
      <p:sp>
        <p:nvSpPr>
          <p:cNvPr id="52" name="Shape 19"/>
          <p:cNvSpPr/>
          <p:nvPr/>
        </p:nvSpPr>
        <p:spPr>
          <a:xfrm>
            <a:off x="20088000" y="17496000"/>
            <a:ext cx="8748000" cy="0"/>
          </a:xfrm>
          <a:prstGeom prst="line">
            <a:avLst/>
          </a:prstGeom>
          <a:noFill/>
          <a:ln w="19050">
            <a:solidFill>
              <a:srgbClr val="111113"/>
            </a:solidFill>
            <a:prstDash val="solid"/>
          </a:ln>
        </p:spPr>
      </p:sp>
      <p:sp>
        <p:nvSpPr>
          <p:cNvPr id="53" name="Text 20"/>
          <p:cNvSpPr/>
          <p:nvPr>
            <p:ph idx="151" type="body" hasCustomPrompt="1"/>
          </p:nvPr>
        </p:nvSpPr>
        <p:spPr>
          <a:xfrm>
            <a:off x="20088000" y="17712000"/>
            <a:ext cx="8748000" cy="36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400" spc="24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CONCLUSION</a:t>
            </a:r>
            <a:endParaRPr lang="ko-KR" sz="2400" dirty="0"/>
          </a:p>
        </p:txBody>
      </p:sp>
      <p:sp>
        <p:nvSpPr>
          <p:cNvPr id="54" name="Text 20"/>
          <p:cNvSpPr/>
          <p:nvPr>
            <p:ph idx="152" type="body" hasCustomPrompt="1"/>
          </p:nvPr>
        </p:nvSpPr>
        <p:spPr>
          <a:xfrm>
            <a:off x="20088000" y="18108000"/>
            <a:ext cx="8748000" cy="79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2000"/>
              </a:lnSpc>
              <a:buNone/>
              <a:defRPr lang="ko-KR" altLang="en-US" sz="4800" spc="-96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2000"/>
              </a:lnSpc>
              <a:buNone/>
            </a:pPr>
            <a:r>
              <a:rPr lang="ko-KR" altLang="en-US" sz="4800" spc="-96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결론</a:t>
            </a:r>
            <a:endParaRPr lang="ko-KR" sz="4800" dirty="0"/>
          </a:p>
        </p:txBody>
      </p:sp>
      <p:sp>
        <p:nvSpPr>
          <p:cNvPr id="55" name="Shape 20"/>
          <p:cNvSpPr/>
          <p:nvPr/>
        </p:nvSpPr>
        <p:spPr>
          <a:xfrm>
            <a:off x="20088000" y="19080000"/>
            <a:ext cx="8748000" cy="0"/>
          </a:xfrm>
          <a:prstGeom prst="line">
            <a:avLst/>
          </a:prstGeom>
          <a:noFill/>
          <a:ln w="19050">
            <a:solidFill>
              <a:srgbClr val="D9D8D3"/>
            </a:solidFill>
            <a:prstDash val="solid"/>
          </a:ln>
        </p:spPr>
      </p:sp>
      <p:sp>
        <p:nvSpPr>
          <p:cNvPr id="56" name="Text 21"/>
          <p:cNvSpPr txBox="1"/>
          <p:nvPr/>
        </p:nvSpPr>
        <p:spPr>
          <a:xfrm>
            <a:off x="20088000" y="19368000"/>
            <a:ext cx="720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2400" dirty="0"/>
          </a:p>
        </p:txBody>
      </p:sp>
      <p:sp>
        <p:nvSpPr>
          <p:cNvPr id="57" name="Text 22"/>
          <p:cNvSpPr/>
          <p:nvPr>
            <p:ph idx="155" type="body" hasCustomPrompt="1"/>
          </p:nvPr>
        </p:nvSpPr>
        <p:spPr>
          <a:xfrm>
            <a:off x="20952000" y="19332000"/>
            <a:ext cx="7884000" cy="151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ko-KR" altLang="en-US" sz="28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ko-KR" altLang="en-US" sz="28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기여 한 줄 — 핵심 결과 하나.</a:t>
            </a:r>
            <a:endParaRPr lang="ko-KR" sz="2800" dirty="0"/>
          </a:p>
        </p:txBody>
      </p:sp>
      <p:sp>
        <p:nvSpPr>
          <p:cNvPr id="58" name="Shape 22"/>
          <p:cNvSpPr/>
          <p:nvPr/>
        </p:nvSpPr>
        <p:spPr>
          <a:xfrm>
            <a:off x="20088000" y="20952000"/>
            <a:ext cx="8748000" cy="0"/>
          </a:xfrm>
          <a:prstGeom prst="line">
            <a:avLst/>
          </a:prstGeom>
          <a:noFill/>
          <a:ln w="19050">
            <a:solidFill>
              <a:srgbClr val="D9D8D3"/>
            </a:solidFill>
            <a:prstDash val="solid"/>
          </a:ln>
        </p:spPr>
      </p:sp>
      <p:sp>
        <p:nvSpPr>
          <p:cNvPr id="59" name="Text 23"/>
          <p:cNvSpPr txBox="1"/>
          <p:nvPr/>
        </p:nvSpPr>
        <p:spPr>
          <a:xfrm>
            <a:off x="20088000" y="21240000"/>
            <a:ext cx="720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2400" dirty="0"/>
          </a:p>
        </p:txBody>
      </p:sp>
      <p:sp>
        <p:nvSpPr>
          <p:cNvPr id="60" name="Text 24"/>
          <p:cNvSpPr/>
          <p:nvPr>
            <p:ph idx="158" type="body" hasCustomPrompt="1"/>
          </p:nvPr>
        </p:nvSpPr>
        <p:spPr>
          <a:xfrm>
            <a:off x="20952000" y="21204000"/>
            <a:ext cx="7884000" cy="151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ko-KR" altLang="en-US" sz="28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ko-KR" altLang="en-US" sz="28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기여 한 줄 — 방법의 일반성.</a:t>
            </a:r>
            <a:endParaRPr lang="ko-KR" sz="2800" dirty="0"/>
          </a:p>
        </p:txBody>
      </p:sp>
      <p:sp>
        <p:nvSpPr>
          <p:cNvPr id="61" name="Shape 24"/>
          <p:cNvSpPr/>
          <p:nvPr/>
        </p:nvSpPr>
        <p:spPr>
          <a:xfrm>
            <a:off x="20088000" y="22824000"/>
            <a:ext cx="8748000" cy="0"/>
          </a:xfrm>
          <a:prstGeom prst="line">
            <a:avLst/>
          </a:prstGeom>
          <a:noFill/>
          <a:ln w="19050">
            <a:solidFill>
              <a:srgbClr val="D9D8D3"/>
            </a:solidFill>
            <a:prstDash val="solid"/>
          </a:ln>
        </p:spPr>
      </p:sp>
      <p:sp>
        <p:nvSpPr>
          <p:cNvPr id="62" name="Text 25"/>
          <p:cNvSpPr txBox="1"/>
          <p:nvPr/>
        </p:nvSpPr>
        <p:spPr>
          <a:xfrm>
            <a:off x="20088000" y="23112000"/>
            <a:ext cx="720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2400" dirty="0"/>
          </a:p>
        </p:txBody>
      </p:sp>
      <p:sp>
        <p:nvSpPr>
          <p:cNvPr id="63" name="Text 26"/>
          <p:cNvSpPr/>
          <p:nvPr>
            <p:ph idx="161" type="body" hasCustomPrompt="1"/>
          </p:nvPr>
        </p:nvSpPr>
        <p:spPr>
          <a:xfrm>
            <a:off x="20952000" y="23076000"/>
            <a:ext cx="7884000" cy="151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ko-KR" altLang="en-US" sz="28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ko-KR" altLang="en-US" sz="28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기여 한 줄 — 공개 코드·데이터.</a:t>
            </a:r>
            <a:endParaRPr lang="ko-KR" sz="2800" dirty="0"/>
          </a:p>
        </p:txBody>
      </p:sp>
      <p:sp>
        <p:nvSpPr>
          <p:cNvPr id="64" name="Shape 26"/>
          <p:cNvSpPr/>
          <p:nvPr/>
        </p:nvSpPr>
        <p:spPr>
          <a:xfrm>
            <a:off x="20088000" y="24696000"/>
            <a:ext cx="8748000" cy="0"/>
          </a:xfrm>
          <a:prstGeom prst="line">
            <a:avLst/>
          </a:prstGeom>
          <a:noFill/>
          <a:ln w="19050">
            <a:solidFill>
              <a:srgbClr val="D9D8D3"/>
            </a:solidFill>
            <a:prstDash val="solid"/>
          </a:ln>
        </p:spPr>
      </p:sp>
      <p:sp>
        <p:nvSpPr>
          <p:cNvPr id="65" name="Text 27"/>
          <p:cNvSpPr/>
          <p:nvPr>
            <p:ph idx="163" type="body" hasCustomPrompt="1"/>
          </p:nvPr>
        </p:nvSpPr>
        <p:spPr>
          <a:xfrm>
            <a:off x="20088000" y="25560000"/>
            <a:ext cx="8748000" cy="36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400" spc="24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REFERENCES</a:t>
            </a:r>
            <a:endParaRPr lang="ko-KR" sz="2400" dirty="0"/>
          </a:p>
        </p:txBody>
      </p:sp>
      <p:sp>
        <p:nvSpPr>
          <p:cNvPr id="66" name="Text 27"/>
          <p:cNvSpPr/>
          <p:nvPr>
            <p:ph idx="164" type="body" hasCustomPrompt="1"/>
          </p:nvPr>
        </p:nvSpPr>
        <p:spPr>
          <a:xfrm>
            <a:off x="20088000" y="26064000"/>
            <a:ext cx="8748000" cy="403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buNone/>
              <a:defRPr lang="ko-KR" altLang="en-US" sz="2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r>
              <a:rPr lang="ko-KR" altLang="en-US" sz="2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[1] 저자, 제목, 학회, 연도.</a:t>
            </a:r>
            <a:endParaRPr lang="ko-KR" sz="2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ko-KR" altLang="en-US" sz="2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[2] 저자, 제목, 학회, 연도.</a:t>
            </a:r>
            <a:endParaRPr lang="ko-KR" sz="2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ko-KR" altLang="en-US" sz="2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[3] 저자, 제목, 학회, 연도.</a:t>
            </a:r>
            <a:endParaRPr lang="ko-KR" sz="2000" dirty="0"/>
          </a:p>
        </p:txBody>
      </p:sp>
      <p:sp>
        <p:nvSpPr>
          <p:cNvPr id="67" name="Text 27"/>
          <p:cNvSpPr/>
          <p:nvPr>
            <p:ph idx="165" type="body" hasCustomPrompt="1"/>
          </p:nvPr>
        </p:nvSpPr>
        <p:spPr>
          <a:xfrm>
            <a:off x="20088000" y="30600000"/>
            <a:ext cx="8748000" cy="36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2400" spc="24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ACKNOWLEDGEMENTS</a:t>
            </a:r>
            <a:endParaRPr lang="ko-KR" sz="2400" dirty="0"/>
          </a:p>
        </p:txBody>
      </p:sp>
      <p:sp>
        <p:nvSpPr>
          <p:cNvPr id="68" name="Text 27"/>
          <p:cNvSpPr/>
          <p:nvPr>
            <p:ph idx="166" type="body" hasCustomPrompt="1"/>
          </p:nvPr>
        </p:nvSpPr>
        <p:spPr>
          <a:xfrm>
            <a:off x="20088000" y="31104000"/>
            <a:ext cx="8748000" cy="216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buNone/>
              <a:defRPr lang="ko-KR" altLang="en-US" sz="2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r>
              <a:rPr lang="ko-KR" altLang="en-US" sz="2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기관·과제 번호 자리. 데이터 제공자 감사 한 줄.</a:t>
            </a:r>
            <a:endParaRPr lang="ko-KR" sz="2000" dirty="0"/>
          </a:p>
        </p:txBody>
      </p:sp>
      <p:sp>
        <p:nvSpPr>
          <p:cNvPr id="69" name="Shape 27"/>
          <p:cNvSpPr/>
          <p:nvPr/>
        </p:nvSpPr>
        <p:spPr>
          <a:xfrm>
            <a:off x="20088000" y="36828000"/>
            <a:ext cx="8748000" cy="0"/>
          </a:xfrm>
          <a:prstGeom prst="line">
            <a:avLst/>
          </a:prstGeom>
          <a:noFill/>
          <a:ln w="19050">
            <a:solidFill>
              <a:srgbClr val="111113"/>
            </a:solidFill>
            <a:prstDash val="solid"/>
          </a:ln>
        </p:spPr>
      </p:sp>
      <p:pic>
        <p:nvPicPr>
          <p:cNvPr id="70" name="Image 2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8000" y="37260000"/>
            <a:ext cx="792000" cy="792000"/>
          </a:xfrm>
          <a:prstGeom prst="rect">
            <a:avLst/>
          </a:prstGeom>
        </p:spPr>
      </p:pic>
      <p:sp>
        <p:nvSpPr>
          <p:cNvPr id="71" name="Text 28"/>
          <p:cNvSpPr txBox="1"/>
          <p:nvPr/>
        </p:nvSpPr>
        <p:spPr>
          <a:xfrm>
            <a:off x="21168000" y="37260000"/>
            <a:ext cx="5508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60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Smart Generation Lab</a:t>
            </a:r>
            <a:endParaRPr lang="ko-KR" sz="2600" dirty="0"/>
          </a:p>
        </p:txBody>
      </p:sp>
      <p:sp>
        <p:nvSpPr>
          <p:cNvPr id="72" name="Text 29"/>
          <p:cNvSpPr/>
          <p:nvPr>
            <p:ph idx="170" type="body" hasCustomPrompt="1"/>
          </p:nvPr>
        </p:nvSpPr>
        <p:spPr>
          <a:xfrm>
            <a:off x="21168000" y="37764000"/>
            <a:ext cx="5292000" cy="216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buNone/>
              <a:defRPr lang="ko-KR" altLang="en-US" sz="2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r>
              <a:rPr lang="ko-KR" altLang="en-US" sz="2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 주소 자리</a:t>
            </a:r>
            <a:endParaRPr lang="ko-KR" sz="2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ko-KR" altLang="en-US" sz="2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전화번호 자리</a:t>
            </a:r>
            <a:endParaRPr lang="ko-KR" sz="2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ko-KR" altLang="en-US" sz="2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홈페이지 주소 자리</a:t>
            </a:r>
            <a:endParaRPr lang="ko-KR" sz="2200" dirty="0"/>
          </a:p>
        </p:txBody>
      </p:sp>
      <p:sp>
        <p:nvSpPr>
          <p:cNvPr id="73" name="Shape 29"/>
          <p:cNvSpPr/>
          <p:nvPr/>
        </p:nvSpPr>
        <p:spPr>
          <a:xfrm>
            <a:off x="26820000" y="37260000"/>
            <a:ext cx="2016000" cy="2016000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74" name="Text 30"/>
          <p:cNvSpPr txBox="1"/>
          <p:nvPr/>
        </p:nvSpPr>
        <p:spPr>
          <a:xfrm>
            <a:off x="26820000" y="38052000"/>
            <a:ext cx="2016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2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</a:t>
            </a:r>
            <a:endParaRPr lang="ko-KR" sz="2200" dirty="0"/>
          </a:p>
        </p:txBody>
      </p:sp>
      <p:sp>
        <p:nvSpPr>
          <p:cNvPr id="75" name="Text 31"/>
          <p:cNvSpPr/>
          <p:nvPr>
            <p:ph idx="173" hasCustomPrompt="1"/>
          </p:nvPr>
        </p:nvSpPr>
        <p:spPr>
          <a:xfrm>
            <a:off x="26820000" y="37260000"/>
            <a:ext cx="2016000" cy="201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76" name="Shape 31"/>
          <p:cNvSpPr/>
          <p:nvPr/>
        </p:nvSpPr>
        <p:spPr>
          <a:xfrm>
            <a:off x="1440000" y="40860000"/>
            <a:ext cx="27396000" cy="0"/>
          </a:xfrm>
          <a:prstGeom prst="line">
            <a:avLst/>
          </a:prstGeom>
          <a:noFill/>
          <a:ln w="19050">
            <a:solidFill>
              <a:srgbClr val="D9D8D3"/>
            </a:solidFill>
            <a:prstDash val="solid"/>
          </a:ln>
        </p:spPr>
      </p:sp>
      <p:sp>
        <p:nvSpPr>
          <p:cNvPr id="77" name="Text 32"/>
          <p:cNvSpPr txBox="1"/>
          <p:nvPr/>
        </p:nvSpPr>
        <p:spPr>
          <a:xfrm>
            <a:off x="1440000" y="41040000"/>
            <a:ext cx="180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컴퓨터공학부(소프트웨어전공) · 부산광역시 사상구 주례로 47</a:t>
            </a:r>
            <a:endParaRPr lang="ko-KR" sz="2200" dirty="0"/>
          </a:p>
        </p:txBody>
      </p:sp>
      <p:pic>
        <p:nvPicPr>
          <p:cNvPr id="78" name="Image 3" descr="/home/runner/work/sglab-brand/sglab-brand/dist/png/dot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48000" y="41166000"/>
            <a:ext cx="108000" cy="108000"/>
          </a:xfrm>
          <a:prstGeom prst="rect">
            <a:avLst/>
          </a:prstGeom>
        </p:spPr>
      </p:pic>
      <p:sp>
        <p:nvSpPr>
          <p:cNvPr id="79" name="Text 33"/>
          <p:cNvSpPr txBox="1"/>
          <p:nvPr/>
        </p:nvSpPr>
        <p:spPr>
          <a:xfrm>
            <a:off x="25236000" y="41040000"/>
            <a:ext cx="36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2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20088000" y="1620000"/>
            <a:ext cx="8748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2400" spc="24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CONFERENCE 2026 · POSTER 00</a:t>
            </a:r>
            <a:endParaRPr lang="ko-KR" sz="2400" dirty="0"/>
          </a:p>
        </p:txBody>
      </p:sp>
      <p:sp>
        <p:nvSpPr>
          <p:cNvPr id="3" name="Text 2"/>
          <p:cNvSpPr/>
          <p:nvPr>
            <p:ph idx="105" type="title" hasCustomPrompt="1"/>
          </p:nvPr>
        </p:nvSpPr>
        <p:spPr>
          <a:xfrm>
            <a:off x="1440000" y="3456000"/>
            <a:ext cx="18072000" cy="237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8800" spc="-264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포스터 제목 자리: 확산 모델의</a:t>
            </a:r>
            <a:endParaRPr lang="ko-KR" sz="88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ko-KR" altLang="en-US" sz="8800" spc="-264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시간 일관성을 위한 방법</a:t>
            </a:r>
            <a:endParaRPr lang="ko-KR" sz="8800" dirty="0"/>
          </a:p>
        </p:txBody>
      </p:sp>
      <p:sp>
        <p:nvSpPr>
          <p:cNvPr id="4" name="Text 2"/>
          <p:cNvSpPr/>
          <p:nvPr>
            <p:ph idx="106" type="body" hasCustomPrompt="1"/>
          </p:nvPr>
        </p:nvSpPr>
        <p:spPr>
          <a:xfrm>
            <a:off x="1440000" y="6408000"/>
            <a:ext cx="180720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3600" dirty="0">
                <a:solidFill>
                  <a:srgbClr val="11111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저자 이름¹, 저자 이름¹, 이상걸¹*</a:t>
            </a:r>
            <a:endParaRPr lang="ko-KR" sz="3600" dirty="0"/>
          </a:p>
        </p:txBody>
      </p:sp>
      <p:sp>
        <p:nvSpPr>
          <p:cNvPr id="5" name="Text 2"/>
          <p:cNvSpPr/>
          <p:nvPr>
            <p:ph idx="107" type="body" hasCustomPrompt="1"/>
          </p:nvPr>
        </p:nvSpPr>
        <p:spPr>
          <a:xfrm>
            <a:off x="1440000" y="7200000"/>
            <a:ext cx="18072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2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¹ 동서대학교 컴퓨터공학부(소프트웨어전공)   * 교신저자: 이메일 주소 자리</a:t>
            </a:r>
            <a:endParaRPr lang="ko-KR" sz="2600" dirty="0"/>
          </a:p>
        </p:txBody>
      </p:sp>
      <p:sp>
        <p:nvSpPr>
          <p:cNvPr id="6" name="Text 4"/>
          <p:cNvSpPr/>
          <p:nvPr>
            <p:ph idx="110" type="body" hasCustomPrompt="1"/>
          </p:nvPr>
        </p:nvSpPr>
        <p:spPr>
          <a:xfrm>
            <a:off x="1440000" y="8856000"/>
            <a:ext cx="8748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pPr algn="l" indent="0" marL="0">
              <a:buNone/>
            </a:pPr>
            <a:r>
              <a:rPr lang="ko-KR" altLang="en-US" sz="2400" spc="24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INTRODUCTION</a:t>
            </a:r>
            <a:endParaRPr lang="ko-KR" sz="2400" dirty="0"/>
          </a:p>
        </p:txBody>
      </p:sp>
      <p:sp>
        <p:nvSpPr>
          <p:cNvPr id="7" name="Text 4"/>
          <p:cNvSpPr/>
          <p:nvPr>
            <p:ph idx="111" type="body" hasCustomPrompt="1"/>
          </p:nvPr>
        </p:nvSpPr>
        <p:spPr>
          <a:xfrm>
            <a:off x="1440000" y="9252000"/>
            <a:ext cx="8748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4800" spc="-96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배경과 문제</a:t>
            </a:r>
            <a:endParaRPr lang="ko-KR" sz="4800" dirty="0"/>
          </a:p>
        </p:txBody>
      </p:sp>
      <p:sp>
        <p:nvSpPr>
          <p:cNvPr id="8" name="Text 4"/>
          <p:cNvSpPr/>
          <p:nvPr>
            <p:ph idx="112" type="body" hasCustomPrompt="1"/>
          </p:nvPr>
        </p:nvSpPr>
        <p:spPr>
          <a:xfrm>
            <a:off x="1440000" y="10224000"/>
            <a:ext cx="8748000" cy="61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ko-KR" altLang="en-US" sz="28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 — 무엇이 어렵고 왜 중요한지 세 문장. 텍스트→영상 확산 모델은 프레임 간 깜빡임과 구조 붕괴가 잦고, 스텝 수를 늘려도 해결되지 않습니다. 기존 방법은 후처리로 보정해 비용이 큽니다. 이 연구는 샘플링 과정 안에서 시간 일관성을 직접 제약합니다.</a:t>
            </a:r>
            <a:endParaRPr lang="ko-KR" sz="2800" dirty="0"/>
          </a:p>
        </p:txBody>
      </p:sp>
      <p:sp>
        <p:nvSpPr>
          <p:cNvPr id="9" name="Text 6"/>
          <p:cNvSpPr/>
          <p:nvPr>
            <p:ph idx="116" type="body" hasCustomPrompt="1"/>
          </p:nvPr>
        </p:nvSpPr>
        <p:spPr>
          <a:xfrm>
            <a:off x="1440000" y="22464000"/>
            <a:ext cx="8748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2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1. 기준 모델의 프레임 간 깜빡임 예시.</a:t>
            </a:r>
            <a:endParaRPr lang="ko-KR" sz="2200" dirty="0"/>
          </a:p>
        </p:txBody>
      </p:sp>
      <p:sp>
        <p:nvSpPr>
          <p:cNvPr id="10" name="Text 7"/>
          <p:cNvSpPr/>
          <p:nvPr>
            <p:ph idx="118" type="body" hasCustomPrompt="1"/>
          </p:nvPr>
        </p:nvSpPr>
        <p:spPr>
          <a:xfrm>
            <a:off x="1440000" y="23832000"/>
            <a:ext cx="8748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pPr algn="l" indent="0" marL="0">
              <a:buNone/>
            </a:pPr>
            <a:r>
              <a:rPr lang="ko-KR" altLang="en-US" sz="2400" spc="24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METHOD</a:t>
            </a:r>
            <a:endParaRPr lang="ko-KR" sz="2400" dirty="0"/>
          </a:p>
        </p:txBody>
      </p:sp>
      <p:sp>
        <p:nvSpPr>
          <p:cNvPr id="11" name="Text 7"/>
          <p:cNvSpPr/>
          <p:nvPr>
            <p:ph idx="119" type="body" hasCustomPrompt="1"/>
          </p:nvPr>
        </p:nvSpPr>
        <p:spPr>
          <a:xfrm>
            <a:off x="1440000" y="24228000"/>
            <a:ext cx="8748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4800" spc="-96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방법</a:t>
            </a:r>
            <a:endParaRPr lang="ko-KR" sz="4800" dirty="0"/>
          </a:p>
        </p:txBody>
      </p:sp>
      <p:sp>
        <p:nvSpPr>
          <p:cNvPr id="12" name="Text 7"/>
          <p:cNvSpPr/>
          <p:nvPr>
            <p:ph idx="120" type="body" hasCustomPrompt="1"/>
          </p:nvPr>
        </p:nvSpPr>
        <p:spPr>
          <a:xfrm>
            <a:off x="1440000" y="25200000"/>
            <a:ext cx="8748000" cy="5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ko-KR" altLang="en-US" sz="28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구조와 학습 설정을 세 문장으로. 잠재 공간에서 인접 프레임의 노이즈 예측을 공유하는 제약 항을 두고, 스텝마다 가중치를 스케줄링합니다. 추가 학습 없이 기존 모델에 적용됩니다.</a:t>
            </a:r>
            <a:endParaRPr lang="ko-KR" sz="2800" dirty="0"/>
          </a:p>
        </p:txBody>
      </p:sp>
      <p:sp>
        <p:nvSpPr>
          <p:cNvPr id="13" name="Text 9"/>
          <p:cNvSpPr/>
          <p:nvPr>
            <p:ph idx="124" type="body" hasCustomPrompt="1"/>
          </p:nvPr>
        </p:nvSpPr>
        <p:spPr>
          <a:xfrm>
            <a:off x="1440000" y="36720000"/>
            <a:ext cx="8748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2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2. 제안 방법의 샘플링 루프.</a:t>
            </a:r>
            <a:endParaRPr lang="ko-KR" sz="2200" dirty="0"/>
          </a:p>
        </p:txBody>
      </p:sp>
      <p:sp>
        <p:nvSpPr>
          <p:cNvPr id="14" name="Text 10"/>
          <p:cNvSpPr/>
          <p:nvPr>
            <p:ph idx="126" type="body" hasCustomPrompt="1"/>
          </p:nvPr>
        </p:nvSpPr>
        <p:spPr>
          <a:xfrm>
            <a:off x="10764000" y="8856000"/>
            <a:ext cx="8748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pPr algn="l" indent="0" marL="0">
              <a:buNone/>
            </a:pPr>
            <a:r>
              <a:rPr lang="ko-KR" altLang="en-US" sz="2400" spc="24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RESULTS</a:t>
            </a:r>
            <a:endParaRPr lang="ko-KR" sz="2400" dirty="0"/>
          </a:p>
        </p:txBody>
      </p:sp>
      <p:sp>
        <p:nvSpPr>
          <p:cNvPr id="15" name="Text 10"/>
          <p:cNvSpPr/>
          <p:nvPr>
            <p:ph idx="127" type="body" hasCustomPrompt="1"/>
          </p:nvPr>
        </p:nvSpPr>
        <p:spPr>
          <a:xfrm>
            <a:off x="10764000" y="9252000"/>
            <a:ext cx="8748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4800" spc="-96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</a:t>
            </a:r>
            <a:endParaRPr lang="ko-KR" sz="4800" dirty="0"/>
          </a:p>
        </p:txBody>
      </p:sp>
      <p:sp>
        <p:nvSpPr>
          <p:cNvPr id="16" name="Text 12"/>
          <p:cNvSpPr/>
          <p:nvPr>
            <p:ph idx="131" type="body" hasCustomPrompt="1"/>
          </p:nvPr>
        </p:nvSpPr>
        <p:spPr>
          <a:xfrm>
            <a:off x="10764000" y="16992000"/>
            <a:ext cx="8748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2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3. UCF-101, 16프레임, 동일 시드. 왼쪽 기준 모델, 오른쪽 제안 방법.</a:t>
            </a:r>
            <a:endParaRPr lang="ko-KR" sz="2200" dirty="0"/>
          </a:p>
        </p:txBody>
      </p:sp>
      <p:sp>
        <p:nvSpPr>
          <p:cNvPr id="17" name="Text 13"/>
          <p:cNvSpPr/>
          <p:nvPr>
            <p:ph idx="133" type="body" hasCustomPrompt="1"/>
          </p:nvPr>
        </p:nvSpPr>
        <p:spPr>
          <a:xfrm>
            <a:off x="10764000" y="18576000"/>
            <a:ext cx="2628000" cy="10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6600" spc="-264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0.92</a:t>
            </a:r>
            <a:endParaRPr lang="ko-KR" sz="6600" dirty="0"/>
          </a:p>
        </p:txBody>
      </p:sp>
      <p:sp>
        <p:nvSpPr>
          <p:cNvPr id="18" name="Text 14"/>
          <p:cNvSpPr/>
          <p:nvPr>
            <p:ph idx="136" type="body" hasCustomPrompt="1"/>
          </p:nvPr>
        </p:nvSpPr>
        <p:spPr>
          <a:xfrm>
            <a:off x="13824000" y="18576000"/>
            <a:ext cx="2628000" cy="10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6600" spc="-264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−38%</a:t>
            </a:r>
            <a:endParaRPr lang="ko-KR" sz="6600" dirty="0"/>
          </a:p>
        </p:txBody>
      </p:sp>
      <p:sp>
        <p:nvSpPr>
          <p:cNvPr id="19" name="Text 15"/>
          <p:cNvSpPr/>
          <p:nvPr>
            <p:ph idx="139" type="body" hasCustomPrompt="1"/>
          </p:nvPr>
        </p:nvSpPr>
        <p:spPr>
          <a:xfrm>
            <a:off x="16884000" y="18576000"/>
            <a:ext cx="2628000" cy="10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6600" spc="-264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4×</a:t>
            </a:r>
            <a:endParaRPr lang="ko-KR" sz="6600" dirty="0"/>
          </a:p>
        </p:txBody>
      </p:sp>
      <p:sp>
        <p:nvSpPr>
          <p:cNvPr id="20" name="Text 13"/>
          <p:cNvSpPr/>
          <p:nvPr>
            <p:ph idx="134" type="body" hasCustomPrompt="1"/>
          </p:nvPr>
        </p:nvSpPr>
        <p:spPr>
          <a:xfrm>
            <a:off x="10764000" y="19656000"/>
            <a:ext cx="2628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spc="2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FVD ↓</a:t>
            </a:r>
            <a:endParaRPr lang="ko-KR" sz="2000" dirty="0"/>
          </a:p>
        </p:txBody>
      </p:sp>
      <p:sp>
        <p:nvSpPr>
          <p:cNvPr id="21" name="Text 14"/>
          <p:cNvSpPr/>
          <p:nvPr>
            <p:ph idx="137" type="body" hasCustomPrompt="1"/>
          </p:nvPr>
        </p:nvSpPr>
        <p:spPr>
          <a:xfrm>
            <a:off x="13824000" y="19656000"/>
            <a:ext cx="2628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spc="2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INFERENCE</a:t>
            </a:r>
            <a:endParaRPr lang="ko-KR" sz="2000" dirty="0"/>
          </a:p>
        </p:txBody>
      </p:sp>
      <p:sp>
        <p:nvSpPr>
          <p:cNvPr id="22" name="Text 15"/>
          <p:cNvSpPr/>
          <p:nvPr>
            <p:ph idx="140" type="body" hasCustomPrompt="1"/>
          </p:nvPr>
        </p:nvSpPr>
        <p:spPr>
          <a:xfrm>
            <a:off x="16884000" y="19656000"/>
            <a:ext cx="2628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000" spc="2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THROUGHPUT</a:t>
            </a:r>
            <a:endParaRPr lang="ko-KR" sz="2000" dirty="0"/>
          </a:p>
        </p:txBody>
      </p:sp>
      <p:sp>
        <p:nvSpPr>
          <p:cNvPr id="23" name="Text 18"/>
          <p:cNvSpPr/>
          <p:nvPr>
            <p:ph idx="145" type="body" hasCustomPrompt="1"/>
          </p:nvPr>
        </p:nvSpPr>
        <p:spPr>
          <a:xfrm>
            <a:off x="10764000" y="31572000"/>
            <a:ext cx="8748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2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그림 4. 프롬프트 4종 정성 비교.</a:t>
            </a:r>
            <a:endParaRPr lang="ko-KR" sz="2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764000" y="21024000"/>
          <a:ext cx="8748000" cy="914400"/>
        </p:xfrm>
        <a:graphic>
          <a:graphicData uri="http://schemas.openxmlformats.org/drawingml/2006/table">
            <a:tbl>
              <a:tblPr/>
              <a:tblGrid>
                <a:gridCol w="3499200"/>
                <a:gridCol w="1749600"/>
                <a:gridCol w="1749600"/>
                <a:gridCol w="1749600"/>
              </a:tblGrid>
              <a:tr h="61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2000" spc="200" kern="0" dirty="0">
                          <a:solidFill>
                            <a:srgbClr val="6B6B7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MODEL</a:t>
                      </a:r>
                      <a:endParaRPr lang="ko-KR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2000" spc="200" kern="0" dirty="0">
                          <a:solidFill>
                            <a:srgbClr val="6B6B7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FVD ↓</a:t>
                      </a:r>
                      <a:endParaRPr lang="ko-KR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2000" spc="200" kern="0" dirty="0">
                          <a:solidFill>
                            <a:srgbClr val="6B6B7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CLIP-T ↑</a:t>
                      </a:r>
                      <a:endParaRPr lang="ko-KR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2000" spc="200" kern="0" dirty="0">
                          <a:solidFill>
                            <a:srgbClr val="6B6B7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TIME</a:t>
                      </a:r>
                      <a:endParaRPr lang="ko-KR" sz="2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24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 모델 A</a:t>
                      </a:r>
                      <a:endParaRPr lang="ko-KR" sz="2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24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1.31</a:t>
                      </a:r>
                      <a:endParaRPr lang="ko-KR" sz="2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24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0.281</a:t>
                      </a:r>
                      <a:endParaRPr lang="ko-KR" sz="2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24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12.4s</a:t>
                      </a:r>
                      <a:endParaRPr lang="ko-KR" sz="2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24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 모델 B</a:t>
                      </a:r>
                      <a:endParaRPr lang="ko-KR" sz="2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24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1.12</a:t>
                      </a:r>
                      <a:endParaRPr lang="ko-KR" sz="2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24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0.290</a:t>
                      </a:r>
                      <a:endParaRPr lang="ko-KR" sz="2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24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9.8s</a:t>
                      </a:r>
                      <a:endParaRPr lang="ko-KR" sz="2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2400" dirty="0">
                          <a:solidFill>
                            <a:srgbClr val="11111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제안 방법</a:t>
                      </a:r>
                      <a:endParaRPr lang="ko-KR" sz="24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2400" dirty="0">
                          <a:solidFill>
                            <a:srgbClr val="11111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0.92</a:t>
                      </a:r>
                      <a:endParaRPr lang="ko-KR" sz="24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2400" dirty="0">
                          <a:solidFill>
                            <a:srgbClr val="11111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0.304</a:t>
                      </a:r>
                      <a:endParaRPr lang="ko-KR" sz="24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2400" dirty="0">
                          <a:solidFill>
                            <a:srgbClr val="11111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7.7s</a:t>
                      </a:r>
                      <a:endParaRPr lang="ko-KR" sz="24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108000" marB="108000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</a:tr>
            </a:tbl>
          </a:graphicData>
        </a:graphic>
      </p:graphicFrame>
      <p:sp>
        <p:nvSpPr>
          <p:cNvPr id="25" name="Text 19"/>
          <p:cNvSpPr/>
          <p:nvPr>
            <p:ph idx="147" type="body" hasCustomPrompt="1"/>
          </p:nvPr>
        </p:nvSpPr>
        <p:spPr>
          <a:xfrm>
            <a:off x="20088000" y="8856000"/>
            <a:ext cx="8748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pPr algn="l" indent="0" marL="0">
              <a:buNone/>
            </a:pPr>
            <a:r>
              <a:rPr lang="ko-KR" altLang="en-US" sz="2400" spc="24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DISCUSSION</a:t>
            </a:r>
            <a:endParaRPr lang="ko-KR" sz="2400" dirty="0"/>
          </a:p>
        </p:txBody>
      </p:sp>
      <p:sp>
        <p:nvSpPr>
          <p:cNvPr id="26" name="Text 19"/>
          <p:cNvSpPr/>
          <p:nvPr>
            <p:ph idx="148" type="body" hasCustomPrompt="1"/>
          </p:nvPr>
        </p:nvSpPr>
        <p:spPr>
          <a:xfrm>
            <a:off x="20088000" y="9252000"/>
            <a:ext cx="8748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4800" spc="-96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분석과 한계</a:t>
            </a:r>
            <a:endParaRPr lang="ko-KR" sz="4800" dirty="0"/>
          </a:p>
        </p:txBody>
      </p:sp>
      <p:sp>
        <p:nvSpPr>
          <p:cNvPr id="27" name="Text 19"/>
          <p:cNvSpPr/>
          <p:nvPr>
            <p:ph idx="149" type="body" hasCustomPrompt="1"/>
          </p:nvPr>
        </p:nvSpPr>
        <p:spPr>
          <a:xfrm>
            <a:off x="20088000" y="10224000"/>
            <a:ext cx="8748000" cy="68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ko-KR" altLang="en-US" sz="28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결과가 말하는 것 두 문장. 제약 항은 배경보다 움직이는 객체에서 효과가 크고, 스텝 수가 적을수록 이득이 큽니다. 실패 사례: 카메라가 급격히 회전하는 장면에서는 구조가 무너집니다. 다음 단계로 카메라 파라미터를 조건으로 넣습니다.</a:t>
            </a:r>
            <a:endParaRPr lang="ko-KR" sz="2800" dirty="0"/>
          </a:p>
        </p:txBody>
      </p:sp>
      <p:sp>
        <p:nvSpPr>
          <p:cNvPr id="28" name="Text 20"/>
          <p:cNvSpPr/>
          <p:nvPr>
            <p:ph idx="151" type="body" hasCustomPrompt="1"/>
          </p:nvPr>
        </p:nvSpPr>
        <p:spPr>
          <a:xfrm>
            <a:off x="20088000" y="17712000"/>
            <a:ext cx="8748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pPr algn="l" indent="0" marL="0">
              <a:buNone/>
            </a:pPr>
            <a:r>
              <a:rPr lang="ko-KR" altLang="en-US" sz="2400" spc="24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CONCLUSION</a:t>
            </a:r>
            <a:endParaRPr lang="ko-KR" sz="2400" dirty="0"/>
          </a:p>
        </p:txBody>
      </p:sp>
      <p:sp>
        <p:nvSpPr>
          <p:cNvPr id="29" name="Text 20"/>
          <p:cNvSpPr/>
          <p:nvPr>
            <p:ph idx="152" type="body" hasCustomPrompt="1"/>
          </p:nvPr>
        </p:nvSpPr>
        <p:spPr>
          <a:xfrm>
            <a:off x="20088000" y="18108000"/>
            <a:ext cx="8748000" cy="79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4800" spc="-96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결론</a:t>
            </a:r>
            <a:endParaRPr lang="ko-KR" sz="4800" dirty="0"/>
          </a:p>
        </p:txBody>
      </p:sp>
      <p:sp>
        <p:nvSpPr>
          <p:cNvPr id="30" name="Text 22"/>
          <p:cNvSpPr/>
          <p:nvPr>
            <p:ph idx="155" type="body" hasCustomPrompt="1"/>
          </p:nvPr>
        </p:nvSpPr>
        <p:spPr>
          <a:xfrm>
            <a:off x="20952000" y="19332000"/>
            <a:ext cx="7884000" cy="15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ko-KR" altLang="en-US" sz="28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학습 없이 FVD 30% 개선.</a:t>
            </a:r>
            <a:endParaRPr lang="ko-KR" sz="2800" dirty="0"/>
          </a:p>
        </p:txBody>
      </p:sp>
      <p:sp>
        <p:nvSpPr>
          <p:cNvPr id="31" name="Text 24"/>
          <p:cNvSpPr/>
          <p:nvPr>
            <p:ph idx="158" type="body" hasCustomPrompt="1"/>
          </p:nvPr>
        </p:nvSpPr>
        <p:spPr>
          <a:xfrm>
            <a:off x="20952000" y="21204000"/>
            <a:ext cx="7884000" cy="15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ko-KR" altLang="en-US" sz="28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잠재 확산 모델에도 적용 가능.</a:t>
            </a:r>
            <a:endParaRPr lang="ko-KR" sz="2800" dirty="0"/>
          </a:p>
        </p:txBody>
      </p:sp>
      <p:sp>
        <p:nvSpPr>
          <p:cNvPr id="32" name="Text 26"/>
          <p:cNvSpPr/>
          <p:nvPr>
            <p:ph idx="161" type="body" hasCustomPrompt="1"/>
          </p:nvPr>
        </p:nvSpPr>
        <p:spPr>
          <a:xfrm>
            <a:off x="20952000" y="23076000"/>
            <a:ext cx="7884000" cy="151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ko-KR" altLang="en-US" sz="28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코드와 평가 스크립트 공개.</a:t>
            </a:r>
            <a:endParaRPr lang="ko-KR" sz="2800" dirty="0"/>
          </a:p>
        </p:txBody>
      </p:sp>
      <p:sp>
        <p:nvSpPr>
          <p:cNvPr id="33" name="Text 27"/>
          <p:cNvSpPr/>
          <p:nvPr>
            <p:ph idx="163" type="body" hasCustomPrompt="1"/>
          </p:nvPr>
        </p:nvSpPr>
        <p:spPr>
          <a:xfrm>
            <a:off x="20088000" y="25560000"/>
            <a:ext cx="8748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REFERENCES</a:t>
            </a:r>
            <a:endParaRPr lang="ko-KR" sz="2400" dirty="0"/>
          </a:p>
        </p:txBody>
      </p:sp>
      <p:sp>
        <p:nvSpPr>
          <p:cNvPr id="34" name="Text 27"/>
          <p:cNvSpPr/>
          <p:nvPr>
            <p:ph idx="164" type="body" hasCustomPrompt="1"/>
          </p:nvPr>
        </p:nvSpPr>
        <p:spPr>
          <a:xfrm>
            <a:off x="20088000" y="26064000"/>
            <a:ext cx="8748000" cy="4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2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[1] 저자, 제목, 학회, 연도.</a:t>
            </a:r>
            <a:endParaRPr lang="ko-KR" sz="2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ko-KR" altLang="en-US" sz="2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[2] 저자, 제목, 학회, 연도.</a:t>
            </a:r>
            <a:endParaRPr lang="ko-KR" sz="2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ko-KR" altLang="en-US" sz="2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[3] 저자, 제목, 학회, 연도.</a:t>
            </a:r>
            <a:endParaRPr lang="ko-KR" sz="2000" dirty="0"/>
          </a:p>
        </p:txBody>
      </p:sp>
      <p:sp>
        <p:nvSpPr>
          <p:cNvPr id="35" name="Text 27"/>
          <p:cNvSpPr/>
          <p:nvPr>
            <p:ph idx="165" type="body" hasCustomPrompt="1"/>
          </p:nvPr>
        </p:nvSpPr>
        <p:spPr>
          <a:xfrm>
            <a:off x="20088000" y="30600000"/>
            <a:ext cx="8748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400" spc="24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ACKNOWLEDGEMENTS</a:t>
            </a:r>
            <a:endParaRPr lang="ko-KR" sz="2400" dirty="0"/>
          </a:p>
        </p:txBody>
      </p:sp>
      <p:sp>
        <p:nvSpPr>
          <p:cNvPr id="36" name="Text 27"/>
          <p:cNvSpPr/>
          <p:nvPr>
            <p:ph idx="166" type="body" hasCustomPrompt="1"/>
          </p:nvPr>
        </p:nvSpPr>
        <p:spPr>
          <a:xfrm>
            <a:off x="20088000" y="31104000"/>
            <a:ext cx="8748000" cy="2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2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기관·과제 번호 자리. 데이터 제공자 감사 한 줄.</a:t>
            </a:r>
            <a:endParaRPr lang="ko-KR" sz="2000" dirty="0"/>
          </a:p>
        </p:txBody>
      </p:sp>
      <p:sp>
        <p:nvSpPr>
          <p:cNvPr id="37" name="Text 29"/>
          <p:cNvSpPr/>
          <p:nvPr>
            <p:ph idx="170" type="body" hasCustomPrompt="1"/>
          </p:nvPr>
        </p:nvSpPr>
        <p:spPr>
          <a:xfrm>
            <a:off x="21168000" y="37764000"/>
            <a:ext cx="5292000" cy="2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2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 주소 자리</a:t>
            </a:r>
            <a:endParaRPr lang="ko-KR" sz="2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ko-KR" altLang="en-US" sz="2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전화번호 자리</a:t>
            </a:r>
            <a:endParaRPr lang="ko-KR" sz="2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ko-KR" altLang="en-US" sz="2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홈페이지 주소 자리</a:t>
            </a:r>
            <a:endParaRPr lang="ko-KR" sz="2200" dirty="0"/>
          </a:p>
        </p:txBody>
      </p:sp>
      <p:sp>
        <p:nvSpPr>
          <p:cNvPr id="38" name="Text 6"/>
          <p:cNvSpPr/>
          <p:nvPr>
            <p:ph idx="115" hasCustomPrompt="1"/>
          </p:nvPr>
        </p:nvSpPr>
        <p:spPr>
          <a:xfrm>
            <a:off x="1440000" y="16776000"/>
            <a:ext cx="8748000" cy="5472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9"/>
          <p:cNvSpPr/>
          <p:nvPr>
            <p:ph idx="123" hasCustomPrompt="1"/>
          </p:nvPr>
        </p:nvSpPr>
        <p:spPr>
          <a:xfrm>
            <a:off x="1440000" y="31032000"/>
            <a:ext cx="8748000" cy="5472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12"/>
          <p:cNvSpPr/>
          <p:nvPr>
            <p:ph idx="130" hasCustomPrompt="1"/>
          </p:nvPr>
        </p:nvSpPr>
        <p:spPr>
          <a:xfrm>
            <a:off x="10764000" y="10224000"/>
            <a:ext cx="8748000" cy="6552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18"/>
          <p:cNvSpPr/>
          <p:nvPr>
            <p:ph idx="144" hasCustomPrompt="1"/>
          </p:nvPr>
        </p:nvSpPr>
        <p:spPr>
          <a:xfrm>
            <a:off x="10764000" y="24876000"/>
            <a:ext cx="8748000" cy="6480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1"/>
          <p:cNvSpPr/>
          <p:nvPr>
            <p:ph idx="173" hasCustomPrompt="1"/>
          </p:nvPr>
        </p:nvSpPr>
        <p:spPr>
          <a:xfrm>
            <a:off x="26820000" y="37260000"/>
            <a:ext cx="2016000" cy="2016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Generation Lab — 학회 포스터 A0 (라이트)</dc:title>
  <dc:subject>PptxGenJS Presentation</dc:subject>
  <dc:creator>Smart Generation Lab</dc:creator>
  <cp:lastModifiedBy>Smart Generation Lab</cp:lastModifiedBy>
  <cp:revision>1</cp:revision>
  <dcterms:created xsi:type="dcterms:W3CDTF">2026-09-21T15:31:09Z</dcterms:created>
  <dcterms:modified xsi:type="dcterms:W3CDTF">2026-09-21T15:31:09Z</dcterms:modified>
</cp:coreProperties>
</file>