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6000" cy="42804000"/>
  <p:notesSz cx="42804000" cy="30276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mage-1002-1.png"/><Relationship Id="rId4" Type="http://schemas.openxmlformats.org/officeDocument/2006/relationships/image" Target="../media/image-1002-4.png"/><Relationship Id="rId5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ER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0000" y="1440000"/>
            <a:ext cx="864000" cy="86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592000" y="1620000"/>
            <a:ext cx="1440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 · 동서대학교 컴퓨터공학부</a:t>
            </a:r>
            <a:endParaRPr lang="ko-KR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5" name="Shape 1"/>
          <p:cNvSpPr/>
          <p:nvPr/>
        </p:nvSpPr>
        <p:spPr>
          <a:xfrm>
            <a:off x="1440000" y="2880000"/>
            <a:ext cx="27396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pic>
        <p:nvPicPr>
          <p:cNvPr id="6" name="Image 1" descr="/home/runner/work/sglab-brand/sglab-brand/dist/png/poster-field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9379" y="2213379"/>
            <a:ext cx="6445241" cy="6445241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0000"/>
              </a:lnSpc>
              <a:buNone/>
              <a:defRPr lang="ko-KR" altLang="en-US" sz="3600" dirty="0">
                <a:solidFill>
                  <a:srgbClr val="11111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11111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10" name="Shape 2"/>
          <p:cNvSpPr/>
          <p:nvPr/>
        </p:nvSpPr>
        <p:spPr>
          <a:xfrm>
            <a:off x="1440000" y="8208000"/>
            <a:ext cx="27396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11" name="Shape 3"/>
          <p:cNvSpPr/>
          <p:nvPr/>
        </p:nvSpPr>
        <p:spPr>
          <a:xfrm>
            <a:off x="1440000" y="8640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INTRODUCTION</a:t>
            </a:r>
            <a:endParaRPr lang="ko-KR" sz="24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기존 방법의 한계 한 문장. 이 연구의 기여 한 줄.</a:t>
            </a:r>
            <a:endParaRPr lang="ko-KR" sz="2800" dirty="0"/>
          </a:p>
        </p:txBody>
      </p:sp>
      <p:sp>
        <p:nvSpPr>
          <p:cNvPr id="15" name="Shape 4"/>
          <p:cNvSpPr/>
          <p:nvPr/>
        </p:nvSpPr>
        <p:spPr>
          <a:xfrm>
            <a:off x="1440000" y="16776000"/>
            <a:ext cx="8748000" cy="5472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6" name="Text 5"/>
          <p:cNvSpPr txBox="1"/>
          <p:nvPr/>
        </p:nvSpPr>
        <p:spPr>
          <a:xfrm>
            <a:off x="1656000" y="21744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 · 문제 상황 (16:10)</a:t>
            </a:r>
            <a:endParaRPr lang="ko-KR" sz="2200" dirty="0"/>
          </a:p>
        </p:txBody>
      </p:sp>
      <p:sp>
        <p:nvSpPr>
          <p:cNvPr id="17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8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캡션 한 줄 — 무엇을 보여주는지.</a:t>
            </a:r>
            <a:endParaRPr lang="ko-KR" sz="2200" dirty="0"/>
          </a:p>
        </p:txBody>
      </p:sp>
      <p:sp>
        <p:nvSpPr>
          <p:cNvPr id="19" name="Shape 6"/>
          <p:cNvSpPr/>
          <p:nvPr/>
        </p:nvSpPr>
        <p:spPr>
          <a:xfrm>
            <a:off x="1440000" y="23616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2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METHOD</a:t>
            </a:r>
            <a:endParaRPr lang="ko-KR" sz="2400" dirty="0"/>
          </a:p>
        </p:txBody>
      </p:sp>
      <p:sp>
        <p:nvSpPr>
          <p:cNvPr id="2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2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핵심 아이디어 하나를 굵게.</a:t>
            </a:r>
            <a:endParaRPr lang="ko-KR" sz="2800" dirty="0"/>
          </a:p>
        </p:txBody>
      </p:sp>
      <p:sp>
        <p:nvSpPr>
          <p:cNvPr id="23" name="Shape 7"/>
          <p:cNvSpPr/>
          <p:nvPr/>
        </p:nvSpPr>
        <p:spPr>
          <a:xfrm>
            <a:off x="1440000" y="31032000"/>
            <a:ext cx="8748000" cy="5472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4" name="Text 8"/>
          <p:cNvSpPr txBox="1"/>
          <p:nvPr/>
        </p:nvSpPr>
        <p:spPr>
          <a:xfrm>
            <a:off x="1656000" y="36000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 · 모델 구조 (16:10)</a:t>
            </a:r>
            <a:endParaRPr lang="ko-KR" sz="2200" dirty="0"/>
          </a:p>
        </p:txBody>
      </p:sp>
      <p:sp>
        <p:nvSpPr>
          <p:cNvPr id="25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캡션 한 줄.</a:t>
            </a:r>
            <a:endParaRPr lang="ko-KR" sz="2200" dirty="0"/>
          </a:p>
        </p:txBody>
      </p:sp>
      <p:sp>
        <p:nvSpPr>
          <p:cNvPr id="27" name="Shape 9"/>
          <p:cNvSpPr/>
          <p:nvPr/>
        </p:nvSpPr>
        <p:spPr>
          <a:xfrm>
            <a:off x="10764000" y="8640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28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2400" dirty="0"/>
          </a:p>
        </p:txBody>
      </p:sp>
      <p:sp>
        <p:nvSpPr>
          <p:cNvPr id="29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30" name="Shape 10"/>
          <p:cNvSpPr/>
          <p:nvPr/>
        </p:nvSpPr>
        <p:spPr>
          <a:xfrm>
            <a:off x="10764000" y="10224000"/>
            <a:ext cx="8748000" cy="6552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1" name="Text 11"/>
          <p:cNvSpPr txBox="1"/>
          <p:nvPr/>
        </p:nvSpPr>
        <p:spPr>
          <a:xfrm>
            <a:off x="10980000" y="1627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 · 주요 결과 (4:3)</a:t>
            </a:r>
            <a:endParaRPr lang="ko-KR" sz="2200" dirty="0"/>
          </a:p>
        </p:txBody>
      </p:sp>
      <p:sp>
        <p:nvSpPr>
          <p:cNvPr id="32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3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캡션 한 줄 — 비교 기준, 데이터셋.</a:t>
            </a:r>
            <a:endParaRPr lang="ko-KR" sz="2200" dirty="0"/>
          </a:p>
        </p:txBody>
      </p:sp>
      <p:sp>
        <p:nvSpPr>
          <p:cNvPr id="34" name="Shape 12"/>
          <p:cNvSpPr/>
          <p:nvPr/>
        </p:nvSpPr>
        <p:spPr>
          <a:xfrm>
            <a:off x="10764000" y="18288000"/>
            <a:ext cx="262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35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36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37" name="Shape 13"/>
          <p:cNvSpPr/>
          <p:nvPr/>
        </p:nvSpPr>
        <p:spPr>
          <a:xfrm>
            <a:off x="13824000" y="18288000"/>
            <a:ext cx="262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3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39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40" name="Shape 14"/>
          <p:cNvSpPr/>
          <p:nvPr/>
        </p:nvSpPr>
        <p:spPr>
          <a:xfrm>
            <a:off x="16884000" y="18288000"/>
            <a:ext cx="262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41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4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43" name="Text 15"/>
          <p:cNvSpPr txBox="1"/>
          <p:nvPr/>
        </p:nvSpPr>
        <p:spPr>
          <a:xfrm>
            <a:off x="10764000" y="2052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1. 정량 비교 (굵게 = 최고 성능)</a:t>
            </a:r>
            <a:endParaRPr lang="ko-KR" sz="2200" dirty="0"/>
          </a:p>
        </p:txBody>
      </p:sp>
      <p:sp>
        <p:nvSpPr>
          <p:cNvPr id="44" name="Shape 16"/>
          <p:cNvSpPr/>
          <p:nvPr/>
        </p:nvSpPr>
        <p:spPr>
          <a:xfrm>
            <a:off x="10764000" y="24876000"/>
            <a:ext cx="8748000" cy="6480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45" name="Text 17"/>
          <p:cNvSpPr txBox="1"/>
          <p:nvPr/>
        </p:nvSpPr>
        <p:spPr>
          <a:xfrm>
            <a:off x="10980000" y="3085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 · 정성 비교 (4:3)</a:t>
            </a:r>
            <a:endParaRPr lang="ko-KR" sz="2200" dirty="0"/>
          </a:p>
        </p:txBody>
      </p:sp>
      <p:sp>
        <p:nvSpPr>
          <p:cNvPr id="46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47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캡션 한 줄.</a:t>
            </a:r>
            <a:endParaRPr lang="ko-KR" sz="2200" dirty="0"/>
          </a:p>
        </p:txBody>
      </p:sp>
      <p:sp>
        <p:nvSpPr>
          <p:cNvPr id="48" name="Shape 18"/>
          <p:cNvSpPr/>
          <p:nvPr/>
        </p:nvSpPr>
        <p:spPr>
          <a:xfrm>
            <a:off x="20088000" y="8640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49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DISCUSSION</a:t>
            </a:r>
            <a:endParaRPr lang="ko-KR" sz="2400" dirty="0"/>
          </a:p>
        </p:txBody>
      </p:sp>
      <p:sp>
        <p:nvSpPr>
          <p:cNvPr id="50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51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실패 사례와 한계 두 문장. 다음 단계 한 문장.</a:t>
            </a:r>
            <a:endParaRPr lang="ko-KR" sz="2800" dirty="0"/>
          </a:p>
        </p:txBody>
      </p:sp>
      <p:sp>
        <p:nvSpPr>
          <p:cNvPr id="52" name="Shape 19"/>
          <p:cNvSpPr/>
          <p:nvPr/>
        </p:nvSpPr>
        <p:spPr>
          <a:xfrm>
            <a:off x="20088000" y="17496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53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CONCLUSION</a:t>
            </a:r>
            <a:endParaRPr lang="ko-KR" sz="2400" dirty="0"/>
          </a:p>
        </p:txBody>
      </p:sp>
      <p:sp>
        <p:nvSpPr>
          <p:cNvPr id="54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55" name="Shape 20"/>
          <p:cNvSpPr/>
          <p:nvPr/>
        </p:nvSpPr>
        <p:spPr>
          <a:xfrm>
            <a:off x="20088000" y="19080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56" name="Text 21"/>
          <p:cNvSpPr txBox="1"/>
          <p:nvPr/>
        </p:nvSpPr>
        <p:spPr>
          <a:xfrm>
            <a:off x="20088000" y="19368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2400" dirty="0"/>
          </a:p>
        </p:txBody>
      </p:sp>
      <p:sp>
        <p:nvSpPr>
          <p:cNvPr id="57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핵심 결과 하나.</a:t>
            </a:r>
            <a:endParaRPr lang="ko-KR" sz="2800" dirty="0"/>
          </a:p>
        </p:txBody>
      </p:sp>
      <p:sp>
        <p:nvSpPr>
          <p:cNvPr id="58" name="Shape 22"/>
          <p:cNvSpPr/>
          <p:nvPr/>
        </p:nvSpPr>
        <p:spPr>
          <a:xfrm>
            <a:off x="20088000" y="20952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59" name="Text 23"/>
          <p:cNvSpPr txBox="1"/>
          <p:nvPr/>
        </p:nvSpPr>
        <p:spPr>
          <a:xfrm>
            <a:off x="20088000" y="21240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2400" dirty="0"/>
          </a:p>
        </p:txBody>
      </p:sp>
      <p:sp>
        <p:nvSpPr>
          <p:cNvPr id="60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방법의 일반성.</a:t>
            </a:r>
            <a:endParaRPr lang="ko-KR" sz="2800" dirty="0"/>
          </a:p>
        </p:txBody>
      </p:sp>
      <p:sp>
        <p:nvSpPr>
          <p:cNvPr id="61" name="Shape 24"/>
          <p:cNvSpPr/>
          <p:nvPr/>
        </p:nvSpPr>
        <p:spPr>
          <a:xfrm>
            <a:off x="20088000" y="22824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62" name="Text 25"/>
          <p:cNvSpPr txBox="1"/>
          <p:nvPr/>
        </p:nvSpPr>
        <p:spPr>
          <a:xfrm>
            <a:off x="20088000" y="23112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2400" dirty="0"/>
          </a:p>
        </p:txBody>
      </p:sp>
      <p:sp>
        <p:nvSpPr>
          <p:cNvPr id="63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공개 코드·데이터.</a:t>
            </a:r>
            <a:endParaRPr lang="ko-KR" sz="2800" dirty="0"/>
          </a:p>
        </p:txBody>
      </p:sp>
      <p:sp>
        <p:nvSpPr>
          <p:cNvPr id="64" name="Shape 26"/>
          <p:cNvSpPr/>
          <p:nvPr/>
        </p:nvSpPr>
        <p:spPr>
          <a:xfrm>
            <a:off x="20088000" y="24696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65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66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67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68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69" name="Shape 27"/>
          <p:cNvSpPr/>
          <p:nvPr/>
        </p:nvSpPr>
        <p:spPr>
          <a:xfrm>
            <a:off x="20088000" y="36828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pic>
        <p:nvPicPr>
          <p:cNvPr id="70" name="Image 2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88000" y="37260000"/>
            <a:ext cx="792000" cy="792000"/>
          </a:xfrm>
          <a:prstGeom prst="rect">
            <a:avLst/>
          </a:prstGeom>
        </p:spPr>
      </p:pic>
      <p:sp>
        <p:nvSpPr>
          <p:cNvPr id="71" name="Text 28"/>
          <p:cNvSpPr txBox="1"/>
          <p:nvPr/>
        </p:nvSpPr>
        <p:spPr>
          <a:xfrm>
            <a:off x="21168000" y="37260000"/>
            <a:ext cx="550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Smart Generation Lab</a:t>
            </a:r>
            <a:endParaRPr lang="ko-KR" sz="2600" dirty="0"/>
          </a:p>
        </p:txBody>
      </p:sp>
      <p:sp>
        <p:nvSpPr>
          <p:cNvPr id="72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· 데이터 링크 자리</a:t>
            </a:r>
            <a:endParaRPr lang="ko-KR" sz="2200" dirty="0"/>
          </a:p>
        </p:txBody>
      </p:sp>
      <p:sp>
        <p:nvSpPr>
          <p:cNvPr id="73" name="Shape 29"/>
          <p:cNvSpPr/>
          <p:nvPr/>
        </p:nvSpPr>
        <p:spPr>
          <a:xfrm>
            <a:off x="26820000" y="37260000"/>
            <a:ext cx="2016000" cy="2016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74" name="Text 30"/>
          <p:cNvSpPr txBox="1"/>
          <p:nvPr/>
        </p:nvSpPr>
        <p:spPr>
          <a:xfrm>
            <a:off x="26820000" y="38052000"/>
            <a:ext cx="2016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</a:t>
            </a:r>
            <a:endParaRPr lang="ko-KR" sz="2200" dirty="0"/>
          </a:p>
        </p:txBody>
      </p:sp>
      <p:sp>
        <p:nvSpPr>
          <p:cNvPr id="75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76" name="Shape 31"/>
          <p:cNvSpPr/>
          <p:nvPr/>
        </p:nvSpPr>
        <p:spPr>
          <a:xfrm>
            <a:off x="1440000" y="40860000"/>
            <a:ext cx="27396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77" name="Text 32"/>
          <p:cNvSpPr txBox="1"/>
          <p:nvPr/>
        </p:nvSpPr>
        <p:spPr>
          <a:xfrm>
            <a:off x="1440000" y="41040000"/>
            <a:ext cx="180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컴퓨터공학부(소프트웨어전공) · 부산광역시 사상구 주례로 47</a:t>
            </a:r>
            <a:endParaRPr lang="ko-KR" sz="2200" dirty="0"/>
          </a:p>
        </p:txBody>
      </p:sp>
      <p:pic>
        <p:nvPicPr>
          <p:cNvPr id="78" name="Image 3" descr="/home/runner/work/sglab-brand/sglab-brand/dist/png/dot-ligh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48000" y="41166000"/>
            <a:ext cx="108000" cy="108000"/>
          </a:xfrm>
          <a:prstGeom prst="rect">
            <a:avLst/>
          </a:prstGeom>
        </p:spPr>
      </p:pic>
      <p:sp>
        <p:nvSpPr>
          <p:cNvPr id="79" name="Text 33"/>
          <p:cNvSpPr txBox="1"/>
          <p:nvPr/>
        </p:nvSpPr>
        <p:spPr>
          <a:xfrm>
            <a:off x="25236000" y="41040000"/>
            <a:ext cx="36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2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11111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6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INTRODUCTION</a:t>
            </a:r>
            <a:endParaRPr lang="ko-KR" sz="2400" dirty="0"/>
          </a:p>
        </p:txBody>
      </p:sp>
      <p:sp>
        <p:nvSpPr>
          <p:cNvPr id="7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8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텍스트→영상 확산 모델은 프레임 간 깜빡임과 구조 붕괴가 잦고, 스텝 수를 늘려도 해결되지 않습니다. 기존 방법은 후처리로 보정해 비용이 큽니다. 이 연구는 샘플링 과정 안에서 시간 일관성을 직접 제약합니다.</a:t>
            </a:r>
            <a:endParaRPr lang="ko-KR" sz="2800" dirty="0"/>
          </a:p>
        </p:txBody>
      </p:sp>
      <p:sp>
        <p:nvSpPr>
          <p:cNvPr id="9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기준 모델의 프레임 간 깜빡임 예시.</a:t>
            </a:r>
            <a:endParaRPr lang="ko-KR" sz="2200" dirty="0"/>
          </a:p>
        </p:txBody>
      </p:sp>
      <p:sp>
        <p:nvSpPr>
          <p:cNvPr id="1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METHOD</a:t>
            </a:r>
            <a:endParaRPr lang="ko-KR" sz="2400" dirty="0"/>
          </a:p>
        </p:txBody>
      </p:sp>
      <p:sp>
        <p:nvSpPr>
          <p:cNvPr id="1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1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잠재 공간에서 인접 프레임의 노이즈 예측을 공유하는 제약 항을 두고, 스텝마다 가중치를 스케줄링합니다. 추가 학습 없이 기존 모델에 적용됩니다.</a:t>
            </a:r>
            <a:endParaRPr lang="ko-KR" sz="2800" dirty="0"/>
          </a:p>
        </p:txBody>
      </p:sp>
      <p:sp>
        <p:nvSpPr>
          <p:cNvPr id="13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제안 방법의 샘플링 루프.</a:t>
            </a:r>
            <a:endParaRPr lang="ko-KR" sz="2200" dirty="0"/>
          </a:p>
        </p:txBody>
      </p:sp>
      <p:sp>
        <p:nvSpPr>
          <p:cNvPr id="14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2400" dirty="0"/>
          </a:p>
        </p:txBody>
      </p:sp>
      <p:sp>
        <p:nvSpPr>
          <p:cNvPr id="15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16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UCF-101, 16프레임, 동일 시드. 왼쪽 기준 모델, 오른쪽 제안 방법.</a:t>
            </a:r>
            <a:endParaRPr lang="ko-KR" sz="2200" dirty="0"/>
          </a:p>
        </p:txBody>
      </p:sp>
      <p:sp>
        <p:nvSpPr>
          <p:cNvPr id="17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1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19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20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21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2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23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프롬프트 4종 정성 비교.</a:t>
            </a:r>
            <a:endParaRPr lang="ko-KR" sz="2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764000" y="21024000"/>
          <a:ext cx="8748000" cy="914400"/>
        </p:xfrm>
        <a:graphic>
          <a:graphicData uri="http://schemas.openxmlformats.org/drawingml/2006/table">
            <a:tbl>
              <a:tblPr/>
              <a:tblGrid>
                <a:gridCol w="3499200"/>
                <a:gridCol w="1749600"/>
                <a:gridCol w="1749600"/>
                <a:gridCol w="1749600"/>
              </a:tblGrid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7.7s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</a:tbl>
          </a:graphicData>
        </a:graphic>
      </p:graphicFrame>
      <p:sp>
        <p:nvSpPr>
          <p:cNvPr id="25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DISCUSSION</a:t>
            </a:r>
            <a:endParaRPr lang="ko-KR" sz="2400" dirty="0"/>
          </a:p>
        </p:txBody>
      </p:sp>
      <p:sp>
        <p:nvSpPr>
          <p:cNvPr id="26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27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제약 항은 배경보다 움직이는 객체에서 효과가 크고, 스텝 수가 적을수록 이득이 큽니다. 실패 사례: 카메라가 급격히 회전하는 장면에서는 구조가 무너집니다. 다음 단계로 카메라 파라미터를 조건으로 넣습니다.</a:t>
            </a:r>
            <a:endParaRPr lang="ko-KR" sz="2800" dirty="0"/>
          </a:p>
        </p:txBody>
      </p:sp>
      <p:sp>
        <p:nvSpPr>
          <p:cNvPr id="28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CONCLUSION</a:t>
            </a:r>
            <a:endParaRPr lang="ko-KR" sz="2400" dirty="0"/>
          </a:p>
        </p:txBody>
      </p:sp>
      <p:sp>
        <p:nvSpPr>
          <p:cNvPr id="29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30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학습 없이 FVD 30% 개선.</a:t>
            </a:r>
            <a:endParaRPr lang="ko-KR" sz="2800" dirty="0"/>
          </a:p>
        </p:txBody>
      </p:sp>
      <p:sp>
        <p:nvSpPr>
          <p:cNvPr id="31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잠재 확산 모델에도 적용 가능.</a:t>
            </a:r>
            <a:endParaRPr lang="ko-KR" sz="2800" dirty="0"/>
          </a:p>
        </p:txBody>
      </p:sp>
      <p:sp>
        <p:nvSpPr>
          <p:cNvPr id="32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코드와 평가 스크립트 공개.</a:t>
            </a:r>
            <a:endParaRPr lang="ko-KR" sz="2800" dirty="0"/>
          </a:p>
        </p:txBody>
      </p:sp>
      <p:sp>
        <p:nvSpPr>
          <p:cNvPr id="33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34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35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36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37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· 데이터 링크 자리</a:t>
            </a:r>
            <a:endParaRPr lang="ko-KR" sz="2200" dirty="0"/>
          </a:p>
        </p:txBody>
      </p:sp>
      <p:sp>
        <p:nvSpPr>
          <p:cNvPr id="38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학회 포스터 A0 (라이트)</dc:title>
  <dc:subject>PptxGenJS Presentation</dc:subject>
  <dc:creator>Smart Generation Lab</dc:creator>
  <cp:lastModifiedBy>Smart Generation Lab</cp:lastModifiedBy>
  <cp:revision>1</cp:revision>
  <dcterms:created xsi:type="dcterms:W3CDTF">2026-09-14T00:16:25Z</dcterms:created>
  <dcterms:modified xsi:type="dcterms:W3CDTF">2026-09-14T00:16:25Z</dcterms:modified>
</cp:coreProperties>
</file>